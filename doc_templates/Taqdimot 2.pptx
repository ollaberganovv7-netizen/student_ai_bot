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24"/>
  </p:notesMasterIdLst>
  <p:sldIdLst>
    <p:sldId id="256" r:id="rId3"/>
    <p:sldId id="291" r:id="rId4"/>
    <p:sldId id="292" r:id="rId5"/>
    <p:sldId id="258" r:id="rId6"/>
    <p:sldId id="259" r:id="rId7"/>
    <p:sldId id="298" r:id="rId8"/>
    <p:sldId id="299" r:id="rId9"/>
    <p:sldId id="300" r:id="rId10"/>
    <p:sldId id="295" r:id="rId11"/>
    <p:sldId id="306" r:id="rId12"/>
    <p:sldId id="303" r:id="rId13"/>
    <p:sldId id="304" r:id="rId14"/>
    <p:sldId id="307" r:id="rId15"/>
    <p:sldId id="309" r:id="rId16"/>
    <p:sldId id="311" r:id="rId17"/>
    <p:sldId id="312" r:id="rId18"/>
    <p:sldId id="316" r:id="rId19"/>
    <p:sldId id="317" r:id="rId20"/>
    <p:sldId id="318" r:id="rId21"/>
    <p:sldId id="273" r:id="rId22"/>
    <p:sldId id="290" r:id="rId23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Fira Sans Condensed" panose="020F0502020204030204" pitchFamily="34" charset="0"/>
      <p:regular r:id="rId29"/>
      <p:bold r:id="rId30"/>
      <p:italic r:id="rId31"/>
      <p:boldItalic r:id="rId32"/>
    </p:embeddedFont>
    <p:embeddedFont>
      <p:font typeface="Fira Sans Condensed Light" panose="020F0502020204030204" pitchFamily="34" charset="0"/>
      <p:regular r:id="rId33"/>
      <p:bold r:id="rId34"/>
      <p:italic r:id="rId35"/>
      <p:boldItalic r:id="rId36"/>
    </p:embeddedFont>
    <p:embeddedFont>
      <p:font typeface="Proxima Nova" panose="020B0604020202020204" charset="0"/>
      <p:regular r:id="rId37"/>
      <p:bold r:id="rId38"/>
      <p:italic r:id="rId39"/>
      <p:boldItalic r:id="rId40"/>
    </p:embeddedFont>
    <p:embeddedFont>
      <p:font typeface="Proxima Nova Semibold" panose="020B0604020202020204" charset="0"/>
      <p:regular r:id="rId41"/>
      <p:bold r:id="rId42"/>
      <p:boldItalic r:id="rId43"/>
    </p:embeddedFont>
    <p:embeddedFont>
      <p:font typeface="Rajdhani" panose="020B0604020202020204" charset="0"/>
      <p:regular r:id="rId44"/>
      <p:bold r:id="rId45"/>
    </p:embeddedFont>
    <p:embeddedFont>
      <p:font typeface="Roboto" panose="020F0502020204030204" pitchFamily="2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2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C44ECA-441A-4364-A036-EB0F8CA63D1D}">
  <a:tblStyle styleId="{C4C44ECA-441A-4364-A036-EB0F8CA63D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41" y="77"/>
      </p:cViewPr>
      <p:guideLst>
        <p:guide orient="horz" pos="62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font" Target="fonts/font23.fntdata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font" Target="fonts/font2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5.fntdata"/><Relationship Id="rId41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font" Target="fonts/font2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font" Target="fonts/font24.fntdata"/><Relationship Id="rId8" Type="http://schemas.openxmlformats.org/officeDocument/2006/relationships/slide" Target="slides/slide6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530765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8a87eb8680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8a87eb8680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8a87eb868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8a87eb868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8a87eb868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8a87eb868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8a87eb868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8a87eb868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8a87eb868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8a87eb868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8a87eb868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8a87eb868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8a87eb868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8a87eb868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8a87eb868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8a87eb868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16bcecd75ae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16bcecd75ae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18a87eb8680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7" name="Google Shape;1477;g18a87eb8680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39149" y="928938"/>
            <a:ext cx="4291500" cy="29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39125" y="3848863"/>
            <a:ext cx="42915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634135" y="1434600"/>
            <a:ext cx="3532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 flipH="1">
            <a:off x="5584135" y="2904500"/>
            <a:ext cx="1701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 flipH="1">
            <a:off x="5079300" y="3229525"/>
            <a:ext cx="27111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 flipH="1">
            <a:off x="1858635" y="2904500"/>
            <a:ext cx="1701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 flipH="1">
            <a:off x="1353800" y="3229525"/>
            <a:ext cx="27111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2422250" y="1418700"/>
            <a:ext cx="4299600" cy="23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720100" y="1706850"/>
            <a:ext cx="2759700" cy="17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2062500"/>
            <a:ext cx="8520600" cy="11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255700"/>
            <a:ext cx="8520600" cy="5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2880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903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A6pAXQK5ryc9d0pv-5k-ynpyZFdcJVfCYAOlMHWYd14/cop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A6pAXQK5ryc9d0pv-5k-ynpyZFdcJVfCYAOlMHWYd14/cop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A6pAXQK5ryc9d0pv-5k-ynpyZFdcJVfCYAOlMHWYd14/cop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ctrTitle"/>
          </p:nvPr>
        </p:nvSpPr>
        <p:spPr>
          <a:xfrm>
            <a:off x="139148" y="99392"/>
            <a:ext cx="8895521" cy="9243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sv-SE" sz="28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800" dirty="0">
              <a:solidFill>
                <a:srgbClr val="FFFF00"/>
              </a:solidFill>
            </a:endParaRPr>
          </a:p>
        </p:txBody>
      </p:sp>
      <p:pic>
        <p:nvPicPr>
          <p:cNvPr id="59" name="Google Shape;59;p15"/>
          <p:cNvPicPr preferRelativeResize="0"/>
          <p:nvPr/>
        </p:nvPicPr>
        <p:blipFill rotWithShape="1">
          <a:blip r:embed="rId4">
            <a:alphaModFix/>
          </a:blip>
          <a:srcRect l="25302" r="25297"/>
          <a:stretch/>
        </p:blipFill>
        <p:spPr>
          <a:xfrm>
            <a:off x="0" y="1385904"/>
            <a:ext cx="3049450" cy="34723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8;p15"/>
          <p:cNvSpPr txBox="1">
            <a:spLocks/>
          </p:cNvSpPr>
          <p:nvPr/>
        </p:nvSpPr>
        <p:spPr>
          <a:xfrm>
            <a:off x="2335696" y="1808923"/>
            <a:ext cx="6629400" cy="180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14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 algn="ctr"/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MAVZU: [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Mavzu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62CF4-BDA9-6E2A-7C31-87678A3D2596}"/>
              </a:ext>
            </a:extLst>
          </p:cNvPr>
          <p:cNvSpPr txBox="1"/>
          <p:nvPr/>
        </p:nvSpPr>
        <p:spPr>
          <a:xfrm>
            <a:off x="3661144" y="977984"/>
            <a:ext cx="1513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[Universitet </a:t>
            </a:r>
            <a:r>
              <a:rPr lang="en-US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nomi</a:t>
            </a:r>
            <a:r>
              <a:rPr lang="en-US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FFE5C9-4208-EE42-4C87-03579BE30587}"/>
              </a:ext>
            </a:extLst>
          </p:cNvPr>
          <p:cNvSpPr txBox="1"/>
          <p:nvPr/>
        </p:nvSpPr>
        <p:spPr>
          <a:xfrm>
            <a:off x="3049480" y="4028573"/>
            <a:ext cx="609452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buNone/>
            </a:pPr>
            <a:r>
              <a:rPr lang="en-US" sz="1800" b="1" kern="100" dirty="0">
                <a:ln>
                  <a:noFill/>
                </a:ln>
                <a:solidFill>
                  <a:srgbClr val="FFFF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Rajdhani" panose="020B0604020202020204" charset="0"/>
                <a:ea typeface="Calibri" panose="020F0502020204030204" pitchFamily="34" charset="0"/>
                <a:cs typeface="Rajdhani" panose="020B0604020202020204" charset="0"/>
              </a:rPr>
              <a:t>Bajardi: [Bajardi]</a:t>
            </a:r>
            <a:endParaRPr lang="ru-RU" sz="1800" kern="1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Rajdhani" panose="020B0604020202020204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en-US" sz="1800" b="1" kern="100" dirty="0">
                <a:ln>
                  <a:noFill/>
                </a:ln>
                <a:solidFill>
                  <a:srgbClr val="FFFF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Rajdhani" panose="020B0604020202020204" charset="0"/>
                <a:ea typeface="Calibri" panose="020F0502020204030204" pitchFamily="34" charset="0"/>
                <a:cs typeface="Rajdhani" panose="020B0604020202020204" charset="0"/>
              </a:rPr>
              <a:t>Qabul </a:t>
            </a:r>
            <a:r>
              <a:rPr lang="en-US" sz="1800" b="1" kern="10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Rajdhani" panose="020B0604020202020204" charset="0"/>
                <a:ea typeface="Calibri" panose="020F0502020204030204" pitchFamily="34" charset="0"/>
                <a:cs typeface="Rajdhani" panose="020B0604020202020204" charset="0"/>
              </a:rPr>
              <a:t>qildi</a:t>
            </a:r>
            <a:r>
              <a:rPr lang="en-US" sz="1800" b="1" kern="100" dirty="0">
                <a:ln>
                  <a:noFill/>
                </a:ln>
                <a:solidFill>
                  <a:srgbClr val="FFFF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Rajdhani" panose="020B0604020202020204" charset="0"/>
                <a:ea typeface="Calibri" panose="020F0502020204030204" pitchFamily="34" charset="0"/>
                <a:cs typeface="Rajdhani" panose="020B0604020202020204" charset="0"/>
              </a:rPr>
              <a:t>: [Qabul </a:t>
            </a:r>
            <a:r>
              <a:rPr lang="en-US" sz="1800" b="1" kern="10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Rajdhani" panose="020B0604020202020204" charset="0"/>
                <a:ea typeface="Calibri" panose="020F0502020204030204" pitchFamily="34" charset="0"/>
                <a:cs typeface="Rajdhani" panose="020B0604020202020204" charset="0"/>
              </a:rPr>
              <a:t>qildi</a:t>
            </a:r>
            <a:r>
              <a:rPr lang="en-US" sz="1800" b="1" kern="100" dirty="0">
                <a:ln>
                  <a:noFill/>
                </a:ln>
                <a:solidFill>
                  <a:srgbClr val="FFFF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Rajdhani" panose="020B0604020202020204" charset="0"/>
                <a:ea typeface="Calibri" panose="020F0502020204030204" pitchFamily="34" charset="0"/>
                <a:cs typeface="Rajdhani" panose="020B0604020202020204" charset="0"/>
              </a:rPr>
              <a:t>]</a:t>
            </a:r>
            <a:endParaRPr lang="ru-RU" sz="1800" kern="1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Rajdhani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7;p15"/>
          <p:cNvSpPr txBox="1">
            <a:spLocks noGrp="1"/>
          </p:cNvSpPr>
          <p:nvPr>
            <p:ph type="ctrTitle"/>
          </p:nvPr>
        </p:nvSpPr>
        <p:spPr>
          <a:xfrm>
            <a:off x="139148" y="99393"/>
            <a:ext cx="8895521" cy="5356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</a:endParaRPr>
          </a:p>
        </p:txBody>
      </p:sp>
      <p:sp>
        <p:nvSpPr>
          <p:cNvPr id="10" name="Google Shape;57;p15"/>
          <p:cNvSpPr txBox="1">
            <a:spLocks/>
          </p:cNvSpPr>
          <p:nvPr/>
        </p:nvSpPr>
        <p:spPr>
          <a:xfrm>
            <a:off x="113748" y="7470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7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algn="ctr"/>
            <a:r>
              <a:rPr lang="en-US" sz="2800" dirty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O‘QUV VA TARBIYAVIY MAQSADLAR: </a:t>
            </a:r>
          </a:p>
        </p:txBody>
      </p:sp>
      <p:sp>
        <p:nvSpPr>
          <p:cNvPr id="12" name="Google Shape;83;p17"/>
          <p:cNvSpPr/>
          <p:nvPr/>
        </p:nvSpPr>
        <p:spPr>
          <a:xfrm>
            <a:off x="427577" y="1385636"/>
            <a:ext cx="877800" cy="877800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1</a:t>
            </a:r>
            <a:endParaRPr sz="4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3" name="Google Shape;84;p17"/>
          <p:cNvSpPr/>
          <p:nvPr/>
        </p:nvSpPr>
        <p:spPr>
          <a:xfrm>
            <a:off x="4639700" y="1385636"/>
            <a:ext cx="877800" cy="877800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2</a:t>
            </a:r>
            <a:endParaRPr sz="4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8" name="Google Shape;82;p17"/>
          <p:cNvSpPr txBox="1"/>
          <p:nvPr/>
        </p:nvSpPr>
        <p:spPr>
          <a:xfrm>
            <a:off x="1437456" y="1385636"/>
            <a:ext cx="3363144" cy="3338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400" b="1" dirty="0" err="1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Kursantlar</a:t>
            </a:r>
            <a:r>
              <a:rPr lang="en-US" sz="2400" b="1" dirty="0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shaxsiy</a:t>
            </a:r>
            <a:r>
              <a:rPr lang="en-US" sz="2400" b="1" dirty="0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tarkibiga</a:t>
            </a:r>
            <a:r>
              <a:rPr lang="en-US" sz="2400" b="1" dirty="0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tog‘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hududlaridagi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ko‘rish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cheklangan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sharoitlarda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nishonlrga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otish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qoidalari</a:t>
            </a:r>
            <a:r>
              <a:rPr lang="en-US" sz="2400" b="1" dirty="0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haqida</a:t>
            </a:r>
            <a:r>
              <a:rPr lang="en-US" sz="2400" b="1" dirty="0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tushunchalar</a:t>
            </a:r>
            <a:r>
              <a:rPr lang="en-US" sz="2400" b="1" dirty="0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berish</a:t>
            </a:r>
            <a:r>
              <a:rPr lang="en-US" sz="2400" b="1" dirty="0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va</a:t>
            </a:r>
            <a:r>
              <a:rPr lang="en-US" sz="2400" b="1" dirty="0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o‘rgatish</a:t>
            </a:r>
            <a:r>
              <a:rPr lang="en-US" sz="2400" b="1" dirty="0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.</a:t>
            </a:r>
            <a:endParaRPr sz="2400" b="1" dirty="0">
              <a:solidFill>
                <a:schemeClr val="lt2"/>
              </a:solidFill>
              <a:latin typeface="Rajdhani" panose="020B0604020202020204" charset="0"/>
              <a:ea typeface="Fira Sans Condensed"/>
              <a:cs typeface="Rajdhani" panose="020B0604020202020204" charset="0"/>
              <a:sym typeface="Fira Sans Condensed"/>
            </a:endParaRPr>
          </a:p>
        </p:txBody>
      </p:sp>
      <p:sp>
        <p:nvSpPr>
          <p:cNvPr id="19" name="Google Shape;82;p17"/>
          <p:cNvSpPr txBox="1"/>
          <p:nvPr/>
        </p:nvSpPr>
        <p:spPr>
          <a:xfrm>
            <a:off x="5646125" y="1385636"/>
            <a:ext cx="3363144" cy="3338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400" b="1" dirty="0" err="1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Kursantlar</a:t>
            </a:r>
            <a:r>
              <a:rPr lang="en-US" sz="2400" b="1" dirty="0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shaxsiy</a:t>
            </a:r>
            <a:r>
              <a:rPr lang="en-US" sz="2400" b="1" dirty="0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tarkibiga</a:t>
            </a:r>
            <a:r>
              <a:rPr lang="en-US" sz="2400" b="1" dirty="0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tog‘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hududlaridagi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ko‘rish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cheklangan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sharoitlarda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nishonlrga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otish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qoidalari</a:t>
            </a:r>
            <a:r>
              <a:rPr lang="en-US" sz="2400" b="1" dirty="0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bo‘yicha</a:t>
            </a:r>
            <a:r>
              <a:rPr lang="en-US" sz="2400" b="1" dirty="0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bilimlarini</a:t>
            </a:r>
            <a:r>
              <a:rPr lang="en-US" sz="2400" b="1" dirty="0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</a:t>
            </a:r>
            <a:r>
              <a:rPr lang="en-US" sz="2400" b="1" dirty="0" err="1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oshirish</a:t>
            </a:r>
            <a:r>
              <a:rPr lang="en-US" sz="2400" b="1" dirty="0">
                <a:solidFill>
                  <a:schemeClr val="lt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.</a:t>
            </a:r>
            <a:endParaRPr sz="2400" b="1" dirty="0">
              <a:solidFill>
                <a:schemeClr val="lt2"/>
              </a:solidFill>
              <a:latin typeface="Rajdhani" panose="020B0604020202020204" charset="0"/>
              <a:ea typeface="Fira Sans Condensed"/>
              <a:cs typeface="Rajdhani" panose="020B0604020202020204" charset="0"/>
              <a:sym typeface="Fira San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91019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7;p15"/>
          <p:cNvSpPr txBox="1">
            <a:spLocks noGrp="1"/>
          </p:cNvSpPr>
          <p:nvPr>
            <p:ph type="ctrTitle"/>
          </p:nvPr>
        </p:nvSpPr>
        <p:spPr>
          <a:xfrm>
            <a:off x="139148" y="99393"/>
            <a:ext cx="8895521" cy="5356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</a:endParaRPr>
          </a:p>
        </p:txBody>
      </p:sp>
      <p:sp>
        <p:nvSpPr>
          <p:cNvPr id="10" name="Google Shape;57;p15"/>
          <p:cNvSpPr txBox="1">
            <a:spLocks/>
          </p:cNvSpPr>
          <p:nvPr/>
        </p:nvSpPr>
        <p:spPr>
          <a:xfrm>
            <a:off x="113748" y="7470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7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algn="ctr"/>
            <a:r>
              <a:rPr lang="en-US" sz="2800" dirty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O‘QUV </a:t>
            </a:r>
            <a:r>
              <a:rPr lang="uz-Latn-UZ" sz="2800" dirty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SAVOLLAR</a:t>
            </a:r>
            <a:r>
              <a:rPr lang="en-US" sz="2800" dirty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: </a:t>
            </a:r>
          </a:p>
        </p:txBody>
      </p:sp>
      <p:grpSp>
        <p:nvGrpSpPr>
          <p:cNvPr id="9" name="Google Shape;401;p24"/>
          <p:cNvGrpSpPr/>
          <p:nvPr/>
        </p:nvGrpSpPr>
        <p:grpSpPr>
          <a:xfrm>
            <a:off x="2021681" y="1526163"/>
            <a:ext cx="1470600" cy="3497529"/>
            <a:chOff x="1078464" y="2283881"/>
            <a:chExt cx="1470600" cy="3497529"/>
          </a:xfrm>
        </p:grpSpPr>
        <p:sp>
          <p:nvSpPr>
            <p:cNvPr id="11" name="Google Shape;402;p24"/>
            <p:cNvSpPr txBox="1"/>
            <p:nvPr/>
          </p:nvSpPr>
          <p:spPr>
            <a:xfrm>
              <a:off x="1434263" y="2283881"/>
              <a:ext cx="759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01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15" name="Google Shape;404;p24"/>
            <p:cNvSpPr txBox="1"/>
            <p:nvPr/>
          </p:nvSpPr>
          <p:spPr>
            <a:xfrm>
              <a:off x="1078464" y="3302394"/>
              <a:ext cx="1470600" cy="24790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Tog‘li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hududlardagi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ko‘rinish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cheklangan</a:t>
              </a:r>
              <a:b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</a:b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(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tun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,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tuman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,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qor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,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yomg‘ir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)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sharoitlarda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nishonlarga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o‘t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ochish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.</a:t>
              </a:r>
            </a:p>
          </p:txBody>
        </p:sp>
      </p:grpSp>
      <p:grpSp>
        <p:nvGrpSpPr>
          <p:cNvPr id="17" name="Google Shape;406;p24"/>
          <p:cNvGrpSpPr/>
          <p:nvPr/>
        </p:nvGrpSpPr>
        <p:grpSpPr>
          <a:xfrm>
            <a:off x="3860502" y="1526163"/>
            <a:ext cx="1470600" cy="3497529"/>
            <a:chOff x="2917285" y="2283881"/>
            <a:chExt cx="1470600" cy="3497529"/>
          </a:xfrm>
        </p:grpSpPr>
        <p:sp>
          <p:nvSpPr>
            <p:cNvPr id="20" name="Google Shape;407;p24"/>
            <p:cNvSpPr txBox="1"/>
            <p:nvPr/>
          </p:nvSpPr>
          <p:spPr>
            <a:xfrm>
              <a:off x="3273085" y="2283881"/>
              <a:ext cx="759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02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22" name="Google Shape;409;p24"/>
            <p:cNvSpPr txBox="1"/>
            <p:nvPr/>
          </p:nvSpPr>
          <p:spPr>
            <a:xfrm>
              <a:off x="2917285" y="3302394"/>
              <a:ext cx="1470600" cy="24790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 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Esda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qolishni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osonlashtiradigan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dala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otish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qoidalari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. </a:t>
              </a:r>
              <a:b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</a:b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O‘t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ochish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vazifalarni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yechish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.</a:t>
              </a:r>
            </a:p>
          </p:txBody>
        </p:sp>
      </p:grpSp>
      <p:grpSp>
        <p:nvGrpSpPr>
          <p:cNvPr id="24" name="Google Shape;411;p24"/>
          <p:cNvGrpSpPr/>
          <p:nvPr/>
        </p:nvGrpSpPr>
        <p:grpSpPr>
          <a:xfrm>
            <a:off x="5716883" y="1526163"/>
            <a:ext cx="1470600" cy="3381863"/>
            <a:chOff x="4773666" y="2283881"/>
            <a:chExt cx="1470600" cy="3381863"/>
          </a:xfrm>
        </p:grpSpPr>
        <p:sp>
          <p:nvSpPr>
            <p:cNvPr id="25" name="Google Shape;412;p24"/>
            <p:cNvSpPr txBox="1"/>
            <p:nvPr/>
          </p:nvSpPr>
          <p:spPr>
            <a:xfrm>
              <a:off x="5110407" y="2283881"/>
              <a:ext cx="762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03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27" name="Google Shape;414;p24"/>
            <p:cNvSpPr txBox="1"/>
            <p:nvPr/>
          </p:nvSpPr>
          <p:spPr>
            <a:xfrm>
              <a:off x="4773666" y="3302394"/>
              <a:ext cx="1470600" cy="2363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Burchak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o‘lchov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birliklarining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qo‘llanilishi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.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Nishonlarga</a:t>
              </a:r>
              <a:b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</a:b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cha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bo‘lgan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masofani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aniqlash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18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usullari</a:t>
              </a:r>
              <a:r>
                <a:rPr lang="en-US" sz="18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.</a:t>
              </a:r>
            </a:p>
          </p:txBody>
        </p:sp>
      </p:grpSp>
      <p:grpSp>
        <p:nvGrpSpPr>
          <p:cNvPr id="29" name="Google Shape;416;p24"/>
          <p:cNvGrpSpPr/>
          <p:nvPr/>
        </p:nvGrpSpPr>
        <p:grpSpPr>
          <a:xfrm>
            <a:off x="6248031" y="2171768"/>
            <a:ext cx="373185" cy="302466"/>
            <a:chOff x="5220616" y="2791061"/>
            <a:chExt cx="373185" cy="302466"/>
          </a:xfrm>
        </p:grpSpPr>
        <p:sp>
          <p:nvSpPr>
            <p:cNvPr id="30" name="Google Shape;417;p24"/>
            <p:cNvSpPr/>
            <p:nvPr/>
          </p:nvSpPr>
          <p:spPr>
            <a:xfrm>
              <a:off x="5220616" y="2791061"/>
              <a:ext cx="373185" cy="302466"/>
            </a:xfrm>
            <a:custGeom>
              <a:avLst/>
              <a:gdLst/>
              <a:ahLst/>
              <a:cxnLst/>
              <a:rect l="l" t="t" r="r" b="b"/>
              <a:pathLst>
                <a:path w="11752" h="9525" extrusionOk="0">
                  <a:moveTo>
                    <a:pt x="1834" y="345"/>
                  </a:moveTo>
                  <a:cubicBezTo>
                    <a:pt x="1834" y="345"/>
                    <a:pt x="1846" y="345"/>
                    <a:pt x="1846" y="357"/>
                  </a:cubicBezTo>
                  <a:lnTo>
                    <a:pt x="1846" y="1083"/>
                  </a:lnTo>
                  <a:cubicBezTo>
                    <a:pt x="1846" y="1083"/>
                    <a:pt x="1846" y="1107"/>
                    <a:pt x="1834" y="1107"/>
                  </a:cubicBezTo>
                  <a:lnTo>
                    <a:pt x="1465" y="1107"/>
                  </a:lnTo>
                  <a:cubicBezTo>
                    <a:pt x="1465" y="1107"/>
                    <a:pt x="1453" y="1107"/>
                    <a:pt x="1453" y="1083"/>
                  </a:cubicBezTo>
                  <a:lnTo>
                    <a:pt x="1453" y="357"/>
                  </a:lnTo>
                  <a:lnTo>
                    <a:pt x="1465" y="357"/>
                  </a:lnTo>
                  <a:cubicBezTo>
                    <a:pt x="1465" y="351"/>
                    <a:pt x="1468" y="348"/>
                    <a:pt x="1469" y="348"/>
                  </a:cubicBezTo>
                  <a:lnTo>
                    <a:pt x="1469" y="348"/>
                  </a:lnTo>
                  <a:cubicBezTo>
                    <a:pt x="1471" y="348"/>
                    <a:pt x="1471" y="351"/>
                    <a:pt x="1465" y="357"/>
                  </a:cubicBezTo>
                  <a:lnTo>
                    <a:pt x="1834" y="345"/>
                  </a:lnTo>
                  <a:close/>
                  <a:moveTo>
                    <a:pt x="10276" y="345"/>
                  </a:moveTo>
                  <a:cubicBezTo>
                    <a:pt x="10276" y="345"/>
                    <a:pt x="10288" y="345"/>
                    <a:pt x="10288" y="357"/>
                  </a:cubicBezTo>
                  <a:lnTo>
                    <a:pt x="10288" y="1083"/>
                  </a:lnTo>
                  <a:cubicBezTo>
                    <a:pt x="10288" y="1083"/>
                    <a:pt x="10288" y="1107"/>
                    <a:pt x="10276" y="1107"/>
                  </a:cubicBezTo>
                  <a:lnTo>
                    <a:pt x="9907" y="1107"/>
                  </a:lnTo>
                  <a:cubicBezTo>
                    <a:pt x="9907" y="1107"/>
                    <a:pt x="9895" y="1107"/>
                    <a:pt x="9895" y="1083"/>
                  </a:cubicBezTo>
                  <a:lnTo>
                    <a:pt x="9895" y="357"/>
                  </a:lnTo>
                  <a:lnTo>
                    <a:pt x="9907" y="357"/>
                  </a:lnTo>
                  <a:cubicBezTo>
                    <a:pt x="9907" y="351"/>
                    <a:pt x="9910" y="348"/>
                    <a:pt x="9911" y="348"/>
                  </a:cubicBezTo>
                  <a:lnTo>
                    <a:pt x="9911" y="348"/>
                  </a:lnTo>
                  <a:cubicBezTo>
                    <a:pt x="9912" y="348"/>
                    <a:pt x="9912" y="351"/>
                    <a:pt x="9907" y="357"/>
                  </a:cubicBezTo>
                  <a:lnTo>
                    <a:pt x="10276" y="345"/>
                  </a:lnTo>
                  <a:close/>
                  <a:moveTo>
                    <a:pt x="11038" y="1107"/>
                  </a:moveTo>
                  <a:cubicBezTo>
                    <a:pt x="11240" y="1107"/>
                    <a:pt x="11407" y="1262"/>
                    <a:pt x="11407" y="1476"/>
                  </a:cubicBezTo>
                  <a:lnTo>
                    <a:pt x="11407" y="8811"/>
                  </a:lnTo>
                  <a:cubicBezTo>
                    <a:pt x="11407" y="9001"/>
                    <a:pt x="11228" y="9180"/>
                    <a:pt x="11026" y="9180"/>
                  </a:cubicBezTo>
                  <a:lnTo>
                    <a:pt x="751" y="9180"/>
                  </a:lnTo>
                  <a:cubicBezTo>
                    <a:pt x="536" y="9180"/>
                    <a:pt x="382" y="9025"/>
                    <a:pt x="382" y="8811"/>
                  </a:cubicBezTo>
                  <a:lnTo>
                    <a:pt x="382" y="1476"/>
                  </a:lnTo>
                  <a:cubicBezTo>
                    <a:pt x="382" y="1262"/>
                    <a:pt x="536" y="1107"/>
                    <a:pt x="751" y="1107"/>
                  </a:cubicBezTo>
                  <a:lnTo>
                    <a:pt x="1120" y="1107"/>
                  </a:lnTo>
                  <a:lnTo>
                    <a:pt x="1120" y="1119"/>
                  </a:lnTo>
                  <a:cubicBezTo>
                    <a:pt x="1120" y="1310"/>
                    <a:pt x="1286" y="1476"/>
                    <a:pt x="1477" y="1476"/>
                  </a:cubicBezTo>
                  <a:lnTo>
                    <a:pt x="1858" y="1476"/>
                  </a:lnTo>
                  <a:cubicBezTo>
                    <a:pt x="2048" y="1476"/>
                    <a:pt x="2215" y="1310"/>
                    <a:pt x="2215" y="1119"/>
                  </a:cubicBezTo>
                  <a:lnTo>
                    <a:pt x="2215" y="1107"/>
                  </a:lnTo>
                  <a:lnTo>
                    <a:pt x="9573" y="1107"/>
                  </a:lnTo>
                  <a:lnTo>
                    <a:pt x="9573" y="1119"/>
                  </a:lnTo>
                  <a:cubicBezTo>
                    <a:pt x="9573" y="1310"/>
                    <a:pt x="9740" y="1476"/>
                    <a:pt x="9930" y="1476"/>
                  </a:cubicBezTo>
                  <a:lnTo>
                    <a:pt x="10311" y="1476"/>
                  </a:lnTo>
                  <a:cubicBezTo>
                    <a:pt x="10502" y="1476"/>
                    <a:pt x="10669" y="1310"/>
                    <a:pt x="10669" y="1119"/>
                  </a:cubicBezTo>
                  <a:lnTo>
                    <a:pt x="10669" y="1107"/>
                  </a:lnTo>
                  <a:close/>
                  <a:moveTo>
                    <a:pt x="1465" y="0"/>
                  </a:moveTo>
                  <a:cubicBezTo>
                    <a:pt x="1275" y="0"/>
                    <a:pt x="1108" y="167"/>
                    <a:pt x="1108" y="357"/>
                  </a:cubicBezTo>
                  <a:lnTo>
                    <a:pt x="1108" y="726"/>
                  </a:lnTo>
                  <a:lnTo>
                    <a:pt x="739" y="726"/>
                  </a:lnTo>
                  <a:cubicBezTo>
                    <a:pt x="334" y="726"/>
                    <a:pt x="1" y="1060"/>
                    <a:pt x="1" y="1464"/>
                  </a:cubicBezTo>
                  <a:lnTo>
                    <a:pt x="1" y="8799"/>
                  </a:lnTo>
                  <a:cubicBezTo>
                    <a:pt x="1" y="9204"/>
                    <a:pt x="334" y="9525"/>
                    <a:pt x="739" y="9525"/>
                  </a:cubicBezTo>
                  <a:lnTo>
                    <a:pt x="11014" y="9525"/>
                  </a:lnTo>
                  <a:cubicBezTo>
                    <a:pt x="11419" y="9525"/>
                    <a:pt x="11752" y="9204"/>
                    <a:pt x="11752" y="8799"/>
                  </a:cubicBezTo>
                  <a:lnTo>
                    <a:pt x="11752" y="1464"/>
                  </a:lnTo>
                  <a:cubicBezTo>
                    <a:pt x="11752" y="1060"/>
                    <a:pt x="11419" y="726"/>
                    <a:pt x="11026" y="726"/>
                  </a:cubicBezTo>
                  <a:lnTo>
                    <a:pt x="10645" y="726"/>
                  </a:lnTo>
                  <a:lnTo>
                    <a:pt x="10645" y="357"/>
                  </a:lnTo>
                  <a:cubicBezTo>
                    <a:pt x="10645" y="167"/>
                    <a:pt x="10490" y="0"/>
                    <a:pt x="10288" y="0"/>
                  </a:cubicBezTo>
                  <a:lnTo>
                    <a:pt x="9918" y="0"/>
                  </a:lnTo>
                  <a:cubicBezTo>
                    <a:pt x="9728" y="0"/>
                    <a:pt x="9561" y="167"/>
                    <a:pt x="9561" y="357"/>
                  </a:cubicBezTo>
                  <a:lnTo>
                    <a:pt x="9561" y="726"/>
                  </a:lnTo>
                  <a:lnTo>
                    <a:pt x="2191" y="726"/>
                  </a:lnTo>
                  <a:lnTo>
                    <a:pt x="2191" y="357"/>
                  </a:lnTo>
                  <a:cubicBezTo>
                    <a:pt x="2191" y="167"/>
                    <a:pt x="2025" y="0"/>
                    <a:pt x="18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18;p24"/>
            <p:cNvSpPr/>
            <p:nvPr/>
          </p:nvSpPr>
          <p:spPr>
            <a:xfrm>
              <a:off x="5244432" y="2849268"/>
              <a:ext cx="326314" cy="11368"/>
            </a:xfrm>
            <a:custGeom>
              <a:avLst/>
              <a:gdLst/>
              <a:ahLst/>
              <a:cxnLst/>
              <a:rect l="l" t="t" r="r" b="b"/>
              <a:pathLst>
                <a:path w="10276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10097" y="358"/>
                  </a:lnTo>
                  <a:cubicBezTo>
                    <a:pt x="10180" y="358"/>
                    <a:pt x="10276" y="274"/>
                    <a:pt x="10276" y="179"/>
                  </a:cubicBezTo>
                  <a:cubicBezTo>
                    <a:pt x="10276" y="72"/>
                    <a:pt x="10180" y="1"/>
                    <a:pt x="10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19;p24"/>
            <p:cNvSpPr/>
            <p:nvPr/>
          </p:nvSpPr>
          <p:spPr>
            <a:xfrm>
              <a:off x="5261834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75"/>
                    <a:pt x="1465" y="180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20;p24"/>
            <p:cNvSpPr/>
            <p:nvPr/>
          </p:nvSpPr>
          <p:spPr>
            <a:xfrm>
              <a:off x="5343507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75"/>
                    <a:pt x="1465" y="180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21;p24"/>
            <p:cNvSpPr/>
            <p:nvPr/>
          </p:nvSpPr>
          <p:spPr>
            <a:xfrm>
              <a:off x="5506823" y="289613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75"/>
                    <a:pt x="1453" y="180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22;p24"/>
            <p:cNvSpPr/>
            <p:nvPr/>
          </p:nvSpPr>
          <p:spPr>
            <a:xfrm>
              <a:off x="5261834" y="2942660"/>
              <a:ext cx="46521" cy="11368"/>
            </a:xfrm>
            <a:custGeom>
              <a:avLst/>
              <a:gdLst/>
              <a:ahLst/>
              <a:cxnLst/>
              <a:rect l="l" t="t" r="r" b="b"/>
              <a:pathLst>
                <a:path w="1465" h="358" extrusionOk="0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70" y="0"/>
                    <a:pt x="12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23;p24"/>
            <p:cNvSpPr/>
            <p:nvPr/>
          </p:nvSpPr>
          <p:spPr>
            <a:xfrm>
              <a:off x="5424768" y="2942660"/>
              <a:ext cx="46553" cy="11368"/>
            </a:xfrm>
            <a:custGeom>
              <a:avLst/>
              <a:gdLst/>
              <a:ahLst/>
              <a:cxnLst/>
              <a:rect l="l" t="t" r="r" b="b"/>
              <a:pathLst>
                <a:path w="1466" h="358" extrusionOk="0">
                  <a:moveTo>
                    <a:pt x="180" y="0"/>
                  </a:moveTo>
                  <a:cubicBezTo>
                    <a:pt x="96" y="0"/>
                    <a:pt x="1" y="84"/>
                    <a:pt x="1" y="179"/>
                  </a:cubicBezTo>
                  <a:cubicBezTo>
                    <a:pt x="1" y="286"/>
                    <a:pt x="84" y="358"/>
                    <a:pt x="180" y="358"/>
                  </a:cubicBezTo>
                  <a:lnTo>
                    <a:pt x="1287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94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24;p24"/>
            <p:cNvSpPr/>
            <p:nvPr/>
          </p:nvSpPr>
          <p:spPr>
            <a:xfrm>
              <a:off x="5261834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7"/>
                    <a:pt x="1465" y="179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25;p24"/>
            <p:cNvSpPr/>
            <p:nvPr/>
          </p:nvSpPr>
          <p:spPr>
            <a:xfrm>
              <a:off x="5343507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87"/>
                    <a:pt x="1465" y="179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26;p24"/>
            <p:cNvSpPr/>
            <p:nvPr/>
          </p:nvSpPr>
          <p:spPr>
            <a:xfrm>
              <a:off x="5506823" y="298914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87"/>
                    <a:pt x="1453" y="179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27;p24"/>
            <p:cNvSpPr/>
            <p:nvPr/>
          </p:nvSpPr>
          <p:spPr>
            <a:xfrm>
              <a:off x="5343507" y="3036051"/>
              <a:ext cx="46521" cy="10987"/>
            </a:xfrm>
            <a:custGeom>
              <a:avLst/>
              <a:gdLst/>
              <a:ahLst/>
              <a:cxnLst/>
              <a:rect l="l" t="t" r="r" b="b"/>
              <a:pathLst>
                <a:path w="1465" h="346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83" y="346"/>
                    <a:pt x="179" y="346"/>
                  </a:cubicBezTo>
                  <a:lnTo>
                    <a:pt x="1286" y="346"/>
                  </a:lnTo>
                  <a:cubicBezTo>
                    <a:pt x="1369" y="346"/>
                    <a:pt x="1465" y="274"/>
                    <a:pt x="1465" y="179"/>
                  </a:cubicBezTo>
                  <a:cubicBezTo>
                    <a:pt x="1465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28;p24"/>
            <p:cNvSpPr/>
            <p:nvPr/>
          </p:nvSpPr>
          <p:spPr>
            <a:xfrm>
              <a:off x="5424768" y="3036051"/>
              <a:ext cx="46553" cy="10987"/>
            </a:xfrm>
            <a:custGeom>
              <a:avLst/>
              <a:gdLst/>
              <a:ahLst/>
              <a:cxnLst/>
              <a:rect l="l" t="t" r="r" b="b"/>
              <a:pathLst>
                <a:path w="1466" h="346" extrusionOk="0">
                  <a:moveTo>
                    <a:pt x="180" y="0"/>
                  </a:moveTo>
                  <a:cubicBezTo>
                    <a:pt x="96" y="0"/>
                    <a:pt x="1" y="72"/>
                    <a:pt x="1" y="179"/>
                  </a:cubicBezTo>
                  <a:cubicBezTo>
                    <a:pt x="1" y="274"/>
                    <a:pt x="84" y="346"/>
                    <a:pt x="180" y="346"/>
                  </a:cubicBezTo>
                  <a:lnTo>
                    <a:pt x="1287" y="346"/>
                  </a:lnTo>
                  <a:cubicBezTo>
                    <a:pt x="1370" y="346"/>
                    <a:pt x="1465" y="274"/>
                    <a:pt x="1465" y="179"/>
                  </a:cubicBezTo>
                  <a:cubicBezTo>
                    <a:pt x="1465" y="72"/>
                    <a:pt x="1394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9;p24"/>
            <p:cNvSpPr/>
            <p:nvPr/>
          </p:nvSpPr>
          <p:spPr>
            <a:xfrm>
              <a:off x="5506823" y="3036051"/>
              <a:ext cx="46172" cy="10987"/>
            </a:xfrm>
            <a:custGeom>
              <a:avLst/>
              <a:gdLst/>
              <a:ahLst/>
              <a:cxnLst/>
              <a:rect l="l" t="t" r="r" b="b"/>
              <a:pathLst>
                <a:path w="1454" h="346" extrusionOk="0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74"/>
                    <a:pt x="72" y="346"/>
                    <a:pt x="179" y="346"/>
                  </a:cubicBezTo>
                  <a:lnTo>
                    <a:pt x="1275" y="346"/>
                  </a:lnTo>
                  <a:cubicBezTo>
                    <a:pt x="1370" y="346"/>
                    <a:pt x="1453" y="274"/>
                    <a:pt x="1453" y="179"/>
                  </a:cubicBezTo>
                  <a:cubicBezTo>
                    <a:pt x="1453" y="72"/>
                    <a:pt x="1370" y="0"/>
                    <a:pt x="12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0;p24"/>
            <p:cNvSpPr/>
            <p:nvPr/>
          </p:nvSpPr>
          <p:spPr>
            <a:xfrm>
              <a:off x="5343126" y="2930752"/>
              <a:ext cx="46902" cy="33851"/>
            </a:xfrm>
            <a:custGeom>
              <a:avLst/>
              <a:gdLst/>
              <a:ahLst/>
              <a:cxnLst/>
              <a:rect l="l" t="t" r="r" b="b"/>
              <a:pathLst>
                <a:path w="1477" h="1066" extrusionOk="0">
                  <a:moveTo>
                    <a:pt x="1293" y="0"/>
                  </a:moveTo>
                  <a:cubicBezTo>
                    <a:pt x="1250" y="0"/>
                    <a:pt x="1209" y="18"/>
                    <a:pt x="1179" y="54"/>
                  </a:cubicBezTo>
                  <a:lnTo>
                    <a:pt x="572" y="661"/>
                  </a:lnTo>
                  <a:lnTo>
                    <a:pt x="322" y="411"/>
                  </a:lnTo>
                  <a:cubicBezTo>
                    <a:pt x="280" y="375"/>
                    <a:pt x="235" y="358"/>
                    <a:pt x="194" y="358"/>
                  </a:cubicBezTo>
                  <a:cubicBezTo>
                    <a:pt x="152" y="358"/>
                    <a:pt x="113" y="375"/>
                    <a:pt x="84" y="411"/>
                  </a:cubicBezTo>
                  <a:cubicBezTo>
                    <a:pt x="0" y="483"/>
                    <a:pt x="0" y="590"/>
                    <a:pt x="84" y="649"/>
                  </a:cubicBezTo>
                  <a:lnTo>
                    <a:pt x="453" y="1018"/>
                  </a:lnTo>
                  <a:cubicBezTo>
                    <a:pt x="476" y="1054"/>
                    <a:pt x="524" y="1066"/>
                    <a:pt x="572" y="1066"/>
                  </a:cubicBezTo>
                  <a:cubicBezTo>
                    <a:pt x="619" y="1066"/>
                    <a:pt x="655" y="1054"/>
                    <a:pt x="691" y="1018"/>
                  </a:cubicBezTo>
                  <a:lnTo>
                    <a:pt x="1417" y="292"/>
                  </a:lnTo>
                  <a:cubicBezTo>
                    <a:pt x="1477" y="233"/>
                    <a:pt x="1477" y="125"/>
                    <a:pt x="1417" y="54"/>
                  </a:cubicBezTo>
                  <a:cubicBezTo>
                    <a:pt x="1381" y="18"/>
                    <a:pt x="1337" y="0"/>
                    <a:pt x="12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31;p24"/>
            <p:cNvSpPr/>
            <p:nvPr/>
          </p:nvSpPr>
          <p:spPr>
            <a:xfrm>
              <a:off x="5506442" y="2930752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2" y="0"/>
                  </a:moveTo>
                  <a:cubicBezTo>
                    <a:pt x="1239" y="0"/>
                    <a:pt x="1197" y="18"/>
                    <a:pt x="1167" y="54"/>
                  </a:cubicBezTo>
                  <a:lnTo>
                    <a:pt x="560" y="661"/>
                  </a:lnTo>
                  <a:lnTo>
                    <a:pt x="310" y="411"/>
                  </a:lnTo>
                  <a:cubicBezTo>
                    <a:pt x="275" y="375"/>
                    <a:pt x="230" y="358"/>
                    <a:pt x="187" y="358"/>
                  </a:cubicBezTo>
                  <a:cubicBezTo>
                    <a:pt x="144" y="358"/>
                    <a:pt x="102" y="375"/>
                    <a:pt x="72" y="411"/>
                  </a:cubicBezTo>
                  <a:cubicBezTo>
                    <a:pt x="1" y="483"/>
                    <a:pt x="1" y="590"/>
                    <a:pt x="72" y="649"/>
                  </a:cubicBezTo>
                  <a:lnTo>
                    <a:pt x="441" y="1018"/>
                  </a:lnTo>
                  <a:cubicBezTo>
                    <a:pt x="477" y="1054"/>
                    <a:pt x="513" y="1066"/>
                    <a:pt x="560" y="1066"/>
                  </a:cubicBezTo>
                  <a:cubicBezTo>
                    <a:pt x="608" y="1066"/>
                    <a:pt x="656" y="1054"/>
                    <a:pt x="679" y="1018"/>
                  </a:cubicBezTo>
                  <a:lnTo>
                    <a:pt x="1406" y="292"/>
                  </a:lnTo>
                  <a:cubicBezTo>
                    <a:pt x="1489" y="233"/>
                    <a:pt x="1489" y="125"/>
                    <a:pt x="1406" y="54"/>
                  </a:cubicBezTo>
                  <a:cubicBezTo>
                    <a:pt x="1370" y="18"/>
                    <a:pt x="1325" y="0"/>
                    <a:pt x="12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32;p24"/>
            <p:cNvSpPr/>
            <p:nvPr/>
          </p:nvSpPr>
          <p:spPr>
            <a:xfrm>
              <a:off x="5424419" y="2977336"/>
              <a:ext cx="47283" cy="34168"/>
            </a:xfrm>
            <a:custGeom>
              <a:avLst/>
              <a:gdLst/>
              <a:ahLst/>
              <a:cxnLst/>
              <a:rect l="l" t="t" r="r" b="b"/>
              <a:pathLst>
                <a:path w="1489" h="1076" extrusionOk="0">
                  <a:moveTo>
                    <a:pt x="1293" y="1"/>
                  </a:moveTo>
                  <a:cubicBezTo>
                    <a:pt x="1250" y="1"/>
                    <a:pt x="1208" y="22"/>
                    <a:pt x="1179" y="63"/>
                  </a:cubicBezTo>
                  <a:lnTo>
                    <a:pt x="572" y="671"/>
                  </a:lnTo>
                  <a:lnTo>
                    <a:pt x="321" y="421"/>
                  </a:lnTo>
                  <a:cubicBezTo>
                    <a:pt x="280" y="379"/>
                    <a:pt x="235" y="358"/>
                    <a:pt x="193" y="358"/>
                  </a:cubicBezTo>
                  <a:cubicBezTo>
                    <a:pt x="152" y="358"/>
                    <a:pt x="113" y="379"/>
                    <a:pt x="83" y="421"/>
                  </a:cubicBezTo>
                  <a:cubicBezTo>
                    <a:pt x="0" y="492"/>
                    <a:pt x="0" y="599"/>
                    <a:pt x="83" y="659"/>
                  </a:cubicBezTo>
                  <a:lnTo>
                    <a:pt x="452" y="1028"/>
                  </a:lnTo>
                  <a:cubicBezTo>
                    <a:pt x="476" y="1052"/>
                    <a:pt x="524" y="1075"/>
                    <a:pt x="572" y="1075"/>
                  </a:cubicBezTo>
                  <a:cubicBezTo>
                    <a:pt x="619" y="1075"/>
                    <a:pt x="655" y="1052"/>
                    <a:pt x="691" y="1028"/>
                  </a:cubicBezTo>
                  <a:lnTo>
                    <a:pt x="1417" y="301"/>
                  </a:lnTo>
                  <a:cubicBezTo>
                    <a:pt x="1488" y="242"/>
                    <a:pt x="1488" y="123"/>
                    <a:pt x="1417" y="63"/>
                  </a:cubicBezTo>
                  <a:cubicBezTo>
                    <a:pt x="1381" y="22"/>
                    <a:pt x="1336" y="1"/>
                    <a:pt x="12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33;p24"/>
            <p:cNvSpPr/>
            <p:nvPr/>
          </p:nvSpPr>
          <p:spPr>
            <a:xfrm>
              <a:off x="5261453" y="3024143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9" y="0"/>
                  </a:moveTo>
                  <a:cubicBezTo>
                    <a:pt x="1248" y="0"/>
                    <a:pt x="1209" y="18"/>
                    <a:pt x="1179" y="54"/>
                  </a:cubicBezTo>
                  <a:lnTo>
                    <a:pt x="572" y="673"/>
                  </a:lnTo>
                  <a:lnTo>
                    <a:pt x="310" y="411"/>
                  </a:lnTo>
                  <a:cubicBezTo>
                    <a:pt x="274" y="375"/>
                    <a:pt x="230" y="357"/>
                    <a:pt x="186" y="357"/>
                  </a:cubicBezTo>
                  <a:cubicBezTo>
                    <a:pt x="143" y="357"/>
                    <a:pt x="102" y="375"/>
                    <a:pt x="72" y="411"/>
                  </a:cubicBezTo>
                  <a:cubicBezTo>
                    <a:pt x="0" y="494"/>
                    <a:pt x="0" y="590"/>
                    <a:pt x="72" y="649"/>
                  </a:cubicBezTo>
                  <a:lnTo>
                    <a:pt x="453" y="1030"/>
                  </a:lnTo>
                  <a:cubicBezTo>
                    <a:pt x="477" y="1054"/>
                    <a:pt x="524" y="1066"/>
                    <a:pt x="572" y="1066"/>
                  </a:cubicBezTo>
                  <a:cubicBezTo>
                    <a:pt x="608" y="1066"/>
                    <a:pt x="655" y="1054"/>
                    <a:pt x="691" y="1030"/>
                  </a:cubicBezTo>
                  <a:lnTo>
                    <a:pt x="1417" y="292"/>
                  </a:lnTo>
                  <a:cubicBezTo>
                    <a:pt x="1489" y="220"/>
                    <a:pt x="1489" y="113"/>
                    <a:pt x="1417" y="54"/>
                  </a:cubicBezTo>
                  <a:cubicBezTo>
                    <a:pt x="1376" y="18"/>
                    <a:pt x="1331" y="0"/>
                    <a:pt x="12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34;p24"/>
            <p:cNvSpPr/>
            <p:nvPr/>
          </p:nvSpPr>
          <p:spPr>
            <a:xfrm>
              <a:off x="5424419" y="2884231"/>
              <a:ext cx="47283" cy="33883"/>
            </a:xfrm>
            <a:custGeom>
              <a:avLst/>
              <a:gdLst/>
              <a:ahLst/>
              <a:cxnLst/>
              <a:rect l="l" t="t" r="r" b="b"/>
              <a:pathLst>
                <a:path w="1489" h="1067" extrusionOk="0">
                  <a:moveTo>
                    <a:pt x="1293" y="1"/>
                  </a:moveTo>
                  <a:cubicBezTo>
                    <a:pt x="1250" y="1"/>
                    <a:pt x="1208" y="19"/>
                    <a:pt x="1179" y="54"/>
                  </a:cubicBezTo>
                  <a:lnTo>
                    <a:pt x="572" y="674"/>
                  </a:lnTo>
                  <a:lnTo>
                    <a:pt x="321" y="412"/>
                  </a:lnTo>
                  <a:cubicBezTo>
                    <a:pt x="280" y="376"/>
                    <a:pt x="235" y="358"/>
                    <a:pt x="193" y="358"/>
                  </a:cubicBezTo>
                  <a:cubicBezTo>
                    <a:pt x="152" y="358"/>
                    <a:pt x="113" y="376"/>
                    <a:pt x="83" y="412"/>
                  </a:cubicBezTo>
                  <a:cubicBezTo>
                    <a:pt x="0" y="495"/>
                    <a:pt x="0" y="590"/>
                    <a:pt x="83" y="650"/>
                  </a:cubicBezTo>
                  <a:lnTo>
                    <a:pt x="452" y="1031"/>
                  </a:lnTo>
                  <a:cubicBezTo>
                    <a:pt x="476" y="1055"/>
                    <a:pt x="524" y="1067"/>
                    <a:pt x="572" y="1067"/>
                  </a:cubicBezTo>
                  <a:cubicBezTo>
                    <a:pt x="619" y="1067"/>
                    <a:pt x="655" y="1055"/>
                    <a:pt x="691" y="1031"/>
                  </a:cubicBezTo>
                  <a:lnTo>
                    <a:pt x="1417" y="293"/>
                  </a:lnTo>
                  <a:cubicBezTo>
                    <a:pt x="1488" y="221"/>
                    <a:pt x="1488" y="114"/>
                    <a:pt x="1417" y="54"/>
                  </a:cubicBezTo>
                  <a:cubicBezTo>
                    <a:pt x="1381" y="19"/>
                    <a:pt x="1336" y="1"/>
                    <a:pt x="12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35;p24"/>
          <p:cNvSpPr/>
          <p:nvPr/>
        </p:nvSpPr>
        <p:spPr>
          <a:xfrm>
            <a:off x="4424134" y="2151345"/>
            <a:ext cx="343335" cy="343303"/>
          </a:xfrm>
          <a:custGeom>
            <a:avLst/>
            <a:gdLst/>
            <a:ahLst/>
            <a:cxnLst/>
            <a:rect l="l" t="t" r="r" b="b"/>
            <a:pathLst>
              <a:path w="10812" h="10811" extrusionOk="0">
                <a:moveTo>
                  <a:pt x="2769" y="2858"/>
                </a:moveTo>
                <a:cubicBezTo>
                  <a:pt x="2830" y="2858"/>
                  <a:pt x="2892" y="2866"/>
                  <a:pt x="2954" y="2881"/>
                </a:cubicBezTo>
                <a:cubicBezTo>
                  <a:pt x="3251" y="2941"/>
                  <a:pt x="3489" y="3191"/>
                  <a:pt x="3549" y="3489"/>
                </a:cubicBezTo>
                <a:cubicBezTo>
                  <a:pt x="3608" y="3774"/>
                  <a:pt x="3501" y="4036"/>
                  <a:pt x="3275" y="4227"/>
                </a:cubicBezTo>
                <a:cubicBezTo>
                  <a:pt x="3132" y="4346"/>
                  <a:pt x="3037" y="4548"/>
                  <a:pt x="3037" y="4739"/>
                </a:cubicBezTo>
                <a:lnTo>
                  <a:pt x="3037" y="5084"/>
                </a:lnTo>
                <a:cubicBezTo>
                  <a:pt x="3037" y="5346"/>
                  <a:pt x="3263" y="5572"/>
                  <a:pt x="3525" y="5572"/>
                </a:cubicBezTo>
                <a:lnTo>
                  <a:pt x="5228" y="5572"/>
                </a:lnTo>
                <a:lnTo>
                  <a:pt x="5228" y="7263"/>
                </a:lnTo>
                <a:cubicBezTo>
                  <a:pt x="5228" y="7370"/>
                  <a:pt x="5156" y="7441"/>
                  <a:pt x="5049" y="7441"/>
                </a:cubicBezTo>
                <a:lnTo>
                  <a:pt x="4704" y="7441"/>
                </a:lnTo>
                <a:cubicBezTo>
                  <a:pt x="4597" y="7441"/>
                  <a:pt x="4513" y="7406"/>
                  <a:pt x="4442" y="7322"/>
                </a:cubicBezTo>
                <a:cubicBezTo>
                  <a:pt x="4225" y="7076"/>
                  <a:pt x="3925" y="6935"/>
                  <a:pt x="3599" y="6935"/>
                </a:cubicBezTo>
                <a:cubicBezTo>
                  <a:pt x="3532" y="6935"/>
                  <a:pt x="3463" y="6941"/>
                  <a:pt x="3394" y="6953"/>
                </a:cubicBezTo>
                <a:cubicBezTo>
                  <a:pt x="2965" y="7025"/>
                  <a:pt x="2620" y="7370"/>
                  <a:pt x="2537" y="7787"/>
                </a:cubicBezTo>
                <a:cubicBezTo>
                  <a:pt x="2453" y="8120"/>
                  <a:pt x="2549" y="8454"/>
                  <a:pt x="2751" y="8715"/>
                </a:cubicBezTo>
                <a:cubicBezTo>
                  <a:pt x="2965" y="8965"/>
                  <a:pt x="3275" y="9108"/>
                  <a:pt x="3608" y="9108"/>
                </a:cubicBezTo>
                <a:cubicBezTo>
                  <a:pt x="3930" y="9108"/>
                  <a:pt x="4227" y="8965"/>
                  <a:pt x="4442" y="8715"/>
                </a:cubicBezTo>
                <a:cubicBezTo>
                  <a:pt x="4501" y="8632"/>
                  <a:pt x="4585" y="8608"/>
                  <a:pt x="4692" y="8608"/>
                </a:cubicBezTo>
                <a:lnTo>
                  <a:pt x="5037" y="8608"/>
                </a:lnTo>
                <a:cubicBezTo>
                  <a:pt x="5132" y="8608"/>
                  <a:pt x="5216" y="8680"/>
                  <a:pt x="5216" y="8787"/>
                </a:cubicBezTo>
                <a:lnTo>
                  <a:pt x="5216" y="10501"/>
                </a:lnTo>
                <a:lnTo>
                  <a:pt x="846" y="10501"/>
                </a:lnTo>
                <a:cubicBezTo>
                  <a:pt x="572" y="10501"/>
                  <a:pt x="334" y="10263"/>
                  <a:pt x="334" y="9977"/>
                </a:cubicBezTo>
                <a:lnTo>
                  <a:pt x="334" y="5572"/>
                </a:lnTo>
                <a:lnTo>
                  <a:pt x="2025" y="5572"/>
                </a:lnTo>
                <a:cubicBezTo>
                  <a:pt x="2299" y="5572"/>
                  <a:pt x="2513" y="5346"/>
                  <a:pt x="2513" y="5084"/>
                </a:cubicBezTo>
                <a:lnTo>
                  <a:pt x="2513" y="4727"/>
                </a:lnTo>
                <a:cubicBezTo>
                  <a:pt x="2513" y="4513"/>
                  <a:pt x="2430" y="4334"/>
                  <a:pt x="2299" y="4215"/>
                </a:cubicBezTo>
                <a:cubicBezTo>
                  <a:pt x="2120" y="4072"/>
                  <a:pt x="2013" y="3858"/>
                  <a:pt x="2013" y="3620"/>
                </a:cubicBezTo>
                <a:cubicBezTo>
                  <a:pt x="2013" y="3381"/>
                  <a:pt x="2120" y="3179"/>
                  <a:pt x="2299" y="3024"/>
                </a:cubicBezTo>
                <a:cubicBezTo>
                  <a:pt x="2431" y="2919"/>
                  <a:pt x="2596" y="2858"/>
                  <a:pt x="2769" y="2858"/>
                </a:cubicBezTo>
                <a:close/>
                <a:moveTo>
                  <a:pt x="10014" y="298"/>
                </a:moveTo>
                <a:cubicBezTo>
                  <a:pt x="10300" y="298"/>
                  <a:pt x="10538" y="536"/>
                  <a:pt x="10538" y="822"/>
                </a:cubicBezTo>
                <a:lnTo>
                  <a:pt x="10538" y="5239"/>
                </a:lnTo>
                <a:lnTo>
                  <a:pt x="10312" y="5239"/>
                </a:lnTo>
                <a:cubicBezTo>
                  <a:pt x="10228" y="5239"/>
                  <a:pt x="10157" y="5322"/>
                  <a:pt x="10157" y="5406"/>
                </a:cubicBezTo>
                <a:cubicBezTo>
                  <a:pt x="10157" y="5501"/>
                  <a:pt x="10228" y="5572"/>
                  <a:pt x="10312" y="5572"/>
                </a:cubicBezTo>
                <a:lnTo>
                  <a:pt x="10490" y="5572"/>
                </a:lnTo>
                <a:lnTo>
                  <a:pt x="10490" y="9977"/>
                </a:lnTo>
                <a:cubicBezTo>
                  <a:pt x="10490" y="10263"/>
                  <a:pt x="10252" y="10501"/>
                  <a:pt x="9978" y="10501"/>
                </a:cubicBezTo>
                <a:lnTo>
                  <a:pt x="5573" y="10501"/>
                </a:lnTo>
                <a:lnTo>
                  <a:pt x="5573" y="8799"/>
                </a:lnTo>
                <a:cubicBezTo>
                  <a:pt x="5573" y="8537"/>
                  <a:pt x="5347" y="8311"/>
                  <a:pt x="5073" y="8311"/>
                </a:cubicBezTo>
                <a:lnTo>
                  <a:pt x="4739" y="8311"/>
                </a:lnTo>
                <a:cubicBezTo>
                  <a:pt x="4525" y="8311"/>
                  <a:pt x="4347" y="8394"/>
                  <a:pt x="4227" y="8537"/>
                </a:cubicBezTo>
                <a:cubicBezTo>
                  <a:pt x="4085" y="8715"/>
                  <a:pt x="3870" y="8811"/>
                  <a:pt x="3632" y="8811"/>
                </a:cubicBezTo>
                <a:cubicBezTo>
                  <a:pt x="3394" y="8811"/>
                  <a:pt x="3192" y="8715"/>
                  <a:pt x="3037" y="8537"/>
                </a:cubicBezTo>
                <a:cubicBezTo>
                  <a:pt x="2894" y="8358"/>
                  <a:pt x="2834" y="8120"/>
                  <a:pt x="2894" y="7882"/>
                </a:cubicBezTo>
                <a:cubicBezTo>
                  <a:pt x="2954" y="7584"/>
                  <a:pt x="3204" y="7346"/>
                  <a:pt x="3501" y="7287"/>
                </a:cubicBezTo>
                <a:cubicBezTo>
                  <a:pt x="3557" y="7275"/>
                  <a:pt x="3612" y="7269"/>
                  <a:pt x="3665" y="7269"/>
                </a:cubicBezTo>
                <a:cubicBezTo>
                  <a:pt x="3887" y="7269"/>
                  <a:pt x="4086" y="7367"/>
                  <a:pt x="4239" y="7549"/>
                </a:cubicBezTo>
                <a:cubicBezTo>
                  <a:pt x="4358" y="7703"/>
                  <a:pt x="4561" y="7787"/>
                  <a:pt x="4751" y="7787"/>
                </a:cubicBezTo>
                <a:lnTo>
                  <a:pt x="5097" y="7787"/>
                </a:lnTo>
                <a:cubicBezTo>
                  <a:pt x="5359" y="7787"/>
                  <a:pt x="5585" y="7561"/>
                  <a:pt x="5585" y="7299"/>
                </a:cubicBezTo>
                <a:lnTo>
                  <a:pt x="5585" y="5596"/>
                </a:lnTo>
                <a:lnTo>
                  <a:pt x="7275" y="5596"/>
                </a:lnTo>
                <a:cubicBezTo>
                  <a:pt x="7383" y="5596"/>
                  <a:pt x="7454" y="5679"/>
                  <a:pt x="7454" y="5775"/>
                </a:cubicBezTo>
                <a:lnTo>
                  <a:pt x="7454" y="6120"/>
                </a:lnTo>
                <a:cubicBezTo>
                  <a:pt x="7454" y="6227"/>
                  <a:pt x="7418" y="6310"/>
                  <a:pt x="7335" y="6394"/>
                </a:cubicBezTo>
                <a:cubicBezTo>
                  <a:pt x="7037" y="6644"/>
                  <a:pt x="6894" y="7025"/>
                  <a:pt x="6966" y="7430"/>
                </a:cubicBezTo>
                <a:cubicBezTo>
                  <a:pt x="7037" y="7858"/>
                  <a:pt x="7383" y="8203"/>
                  <a:pt x="7799" y="8299"/>
                </a:cubicBezTo>
                <a:cubicBezTo>
                  <a:pt x="7871" y="8311"/>
                  <a:pt x="7954" y="8323"/>
                  <a:pt x="8037" y="8323"/>
                </a:cubicBezTo>
                <a:cubicBezTo>
                  <a:pt x="8288" y="8323"/>
                  <a:pt x="8526" y="8239"/>
                  <a:pt x="8728" y="8084"/>
                </a:cubicBezTo>
                <a:cubicBezTo>
                  <a:pt x="8978" y="7882"/>
                  <a:pt x="9121" y="7561"/>
                  <a:pt x="9121" y="7239"/>
                </a:cubicBezTo>
                <a:cubicBezTo>
                  <a:pt x="9121" y="6906"/>
                  <a:pt x="8978" y="6608"/>
                  <a:pt x="8728" y="6406"/>
                </a:cubicBezTo>
                <a:cubicBezTo>
                  <a:pt x="8645" y="6346"/>
                  <a:pt x="8621" y="6251"/>
                  <a:pt x="8621" y="6132"/>
                </a:cubicBezTo>
                <a:lnTo>
                  <a:pt x="8621" y="5798"/>
                </a:lnTo>
                <a:cubicBezTo>
                  <a:pt x="8621" y="5691"/>
                  <a:pt x="8692" y="5620"/>
                  <a:pt x="8799" y="5620"/>
                </a:cubicBezTo>
                <a:lnTo>
                  <a:pt x="9645" y="5620"/>
                </a:lnTo>
                <a:cubicBezTo>
                  <a:pt x="9740" y="5620"/>
                  <a:pt x="9812" y="5536"/>
                  <a:pt x="9812" y="5453"/>
                </a:cubicBezTo>
                <a:cubicBezTo>
                  <a:pt x="9812" y="5358"/>
                  <a:pt x="9740" y="5286"/>
                  <a:pt x="9645" y="5286"/>
                </a:cubicBezTo>
                <a:lnTo>
                  <a:pt x="8799" y="5286"/>
                </a:lnTo>
                <a:cubicBezTo>
                  <a:pt x="8526" y="5286"/>
                  <a:pt x="8311" y="5513"/>
                  <a:pt x="8311" y="5775"/>
                </a:cubicBezTo>
                <a:lnTo>
                  <a:pt x="8311" y="6120"/>
                </a:lnTo>
                <a:cubicBezTo>
                  <a:pt x="8311" y="6334"/>
                  <a:pt x="8395" y="6513"/>
                  <a:pt x="8526" y="6632"/>
                </a:cubicBezTo>
                <a:cubicBezTo>
                  <a:pt x="8704" y="6775"/>
                  <a:pt x="8811" y="6989"/>
                  <a:pt x="8811" y="7227"/>
                </a:cubicBezTo>
                <a:cubicBezTo>
                  <a:pt x="8811" y="7465"/>
                  <a:pt x="8704" y="7668"/>
                  <a:pt x="8526" y="7822"/>
                </a:cubicBezTo>
                <a:cubicBezTo>
                  <a:pt x="8394" y="7928"/>
                  <a:pt x="8229" y="7988"/>
                  <a:pt x="8056" y="7988"/>
                </a:cubicBezTo>
                <a:cubicBezTo>
                  <a:pt x="7995" y="7988"/>
                  <a:pt x="7933" y="7981"/>
                  <a:pt x="7871" y="7965"/>
                </a:cubicBezTo>
                <a:cubicBezTo>
                  <a:pt x="7573" y="7906"/>
                  <a:pt x="7335" y="7656"/>
                  <a:pt x="7275" y="7358"/>
                </a:cubicBezTo>
                <a:cubicBezTo>
                  <a:pt x="7216" y="7072"/>
                  <a:pt x="7323" y="6810"/>
                  <a:pt x="7549" y="6608"/>
                </a:cubicBezTo>
                <a:cubicBezTo>
                  <a:pt x="7692" y="6489"/>
                  <a:pt x="7787" y="6298"/>
                  <a:pt x="7787" y="6108"/>
                </a:cubicBezTo>
                <a:lnTo>
                  <a:pt x="7787" y="5763"/>
                </a:lnTo>
                <a:cubicBezTo>
                  <a:pt x="7787" y="5501"/>
                  <a:pt x="7561" y="5275"/>
                  <a:pt x="7287" y="5275"/>
                </a:cubicBezTo>
                <a:lnTo>
                  <a:pt x="5597" y="5275"/>
                </a:lnTo>
                <a:lnTo>
                  <a:pt x="5597" y="3572"/>
                </a:lnTo>
                <a:cubicBezTo>
                  <a:pt x="5597" y="3477"/>
                  <a:pt x="5668" y="3393"/>
                  <a:pt x="5775" y="3393"/>
                </a:cubicBezTo>
                <a:lnTo>
                  <a:pt x="6121" y="3393"/>
                </a:lnTo>
                <a:cubicBezTo>
                  <a:pt x="6216" y="3393"/>
                  <a:pt x="6311" y="3441"/>
                  <a:pt x="6383" y="3512"/>
                </a:cubicBezTo>
                <a:cubicBezTo>
                  <a:pt x="6592" y="3762"/>
                  <a:pt x="6901" y="3911"/>
                  <a:pt x="7234" y="3911"/>
                </a:cubicBezTo>
                <a:cubicBezTo>
                  <a:pt x="7299" y="3911"/>
                  <a:pt x="7364" y="3905"/>
                  <a:pt x="7430" y="3893"/>
                </a:cubicBezTo>
                <a:cubicBezTo>
                  <a:pt x="7859" y="3810"/>
                  <a:pt x="8204" y="3477"/>
                  <a:pt x="8288" y="3060"/>
                </a:cubicBezTo>
                <a:cubicBezTo>
                  <a:pt x="8359" y="2727"/>
                  <a:pt x="8276" y="2381"/>
                  <a:pt x="8061" y="2131"/>
                </a:cubicBezTo>
                <a:cubicBezTo>
                  <a:pt x="7859" y="1881"/>
                  <a:pt x="7549" y="1726"/>
                  <a:pt x="7216" y="1726"/>
                </a:cubicBezTo>
                <a:cubicBezTo>
                  <a:pt x="6894" y="1726"/>
                  <a:pt x="6597" y="1881"/>
                  <a:pt x="6383" y="2131"/>
                </a:cubicBezTo>
                <a:cubicBezTo>
                  <a:pt x="6323" y="2203"/>
                  <a:pt x="6240" y="2238"/>
                  <a:pt x="6132" y="2238"/>
                </a:cubicBezTo>
                <a:lnTo>
                  <a:pt x="5787" y="2238"/>
                </a:lnTo>
                <a:cubicBezTo>
                  <a:pt x="5680" y="2238"/>
                  <a:pt x="5609" y="2167"/>
                  <a:pt x="5609" y="2060"/>
                </a:cubicBezTo>
                <a:lnTo>
                  <a:pt x="5609" y="1215"/>
                </a:lnTo>
                <a:cubicBezTo>
                  <a:pt x="5609" y="1119"/>
                  <a:pt x="5537" y="1048"/>
                  <a:pt x="5442" y="1048"/>
                </a:cubicBezTo>
                <a:cubicBezTo>
                  <a:pt x="5359" y="1048"/>
                  <a:pt x="5287" y="1119"/>
                  <a:pt x="5287" y="1215"/>
                </a:cubicBezTo>
                <a:lnTo>
                  <a:pt x="5287" y="2060"/>
                </a:lnTo>
                <a:cubicBezTo>
                  <a:pt x="5287" y="2322"/>
                  <a:pt x="5501" y="2548"/>
                  <a:pt x="5775" y="2548"/>
                </a:cubicBezTo>
                <a:lnTo>
                  <a:pt x="6121" y="2548"/>
                </a:lnTo>
                <a:cubicBezTo>
                  <a:pt x="6323" y="2548"/>
                  <a:pt x="6502" y="2465"/>
                  <a:pt x="6621" y="2322"/>
                </a:cubicBezTo>
                <a:cubicBezTo>
                  <a:pt x="6775" y="2143"/>
                  <a:pt x="6978" y="2048"/>
                  <a:pt x="7216" y="2048"/>
                </a:cubicBezTo>
                <a:cubicBezTo>
                  <a:pt x="7454" y="2048"/>
                  <a:pt x="7668" y="2143"/>
                  <a:pt x="7811" y="2322"/>
                </a:cubicBezTo>
                <a:cubicBezTo>
                  <a:pt x="7966" y="2500"/>
                  <a:pt x="8026" y="2739"/>
                  <a:pt x="7966" y="2977"/>
                </a:cubicBezTo>
                <a:cubicBezTo>
                  <a:pt x="7907" y="3274"/>
                  <a:pt x="7656" y="3512"/>
                  <a:pt x="7359" y="3572"/>
                </a:cubicBezTo>
                <a:cubicBezTo>
                  <a:pt x="7303" y="3584"/>
                  <a:pt x="7248" y="3589"/>
                  <a:pt x="7193" y="3589"/>
                </a:cubicBezTo>
                <a:cubicBezTo>
                  <a:pt x="6969" y="3589"/>
                  <a:pt x="6762" y="3492"/>
                  <a:pt x="6609" y="3310"/>
                </a:cubicBezTo>
                <a:cubicBezTo>
                  <a:pt x="6490" y="3155"/>
                  <a:pt x="6299" y="3072"/>
                  <a:pt x="6097" y="3072"/>
                </a:cubicBezTo>
                <a:lnTo>
                  <a:pt x="5763" y="3072"/>
                </a:lnTo>
                <a:cubicBezTo>
                  <a:pt x="5490" y="3072"/>
                  <a:pt x="5275" y="3298"/>
                  <a:pt x="5275" y="3560"/>
                </a:cubicBezTo>
                <a:lnTo>
                  <a:pt x="5275" y="5263"/>
                </a:lnTo>
                <a:lnTo>
                  <a:pt x="3573" y="5263"/>
                </a:lnTo>
                <a:cubicBezTo>
                  <a:pt x="3465" y="5263"/>
                  <a:pt x="3394" y="5179"/>
                  <a:pt x="3394" y="5084"/>
                </a:cubicBezTo>
                <a:lnTo>
                  <a:pt x="3394" y="4727"/>
                </a:lnTo>
                <a:cubicBezTo>
                  <a:pt x="3394" y="4620"/>
                  <a:pt x="3442" y="4524"/>
                  <a:pt x="3513" y="4453"/>
                </a:cubicBezTo>
                <a:cubicBezTo>
                  <a:pt x="3811" y="4203"/>
                  <a:pt x="3954" y="3810"/>
                  <a:pt x="3882" y="3417"/>
                </a:cubicBezTo>
                <a:cubicBezTo>
                  <a:pt x="3811" y="2977"/>
                  <a:pt x="3465" y="2643"/>
                  <a:pt x="3049" y="2548"/>
                </a:cubicBezTo>
                <a:cubicBezTo>
                  <a:pt x="2973" y="2531"/>
                  <a:pt x="2896" y="2523"/>
                  <a:pt x="2820" y="2523"/>
                </a:cubicBezTo>
                <a:cubicBezTo>
                  <a:pt x="2570" y="2523"/>
                  <a:pt x="2323" y="2610"/>
                  <a:pt x="2132" y="2774"/>
                </a:cubicBezTo>
                <a:cubicBezTo>
                  <a:pt x="1870" y="2977"/>
                  <a:pt x="1727" y="3298"/>
                  <a:pt x="1727" y="3620"/>
                </a:cubicBezTo>
                <a:cubicBezTo>
                  <a:pt x="1727" y="3941"/>
                  <a:pt x="1870" y="4239"/>
                  <a:pt x="2132" y="4453"/>
                </a:cubicBezTo>
                <a:cubicBezTo>
                  <a:pt x="2203" y="4513"/>
                  <a:pt x="2227" y="4608"/>
                  <a:pt x="2227" y="4703"/>
                </a:cubicBezTo>
                <a:lnTo>
                  <a:pt x="2227" y="5048"/>
                </a:lnTo>
                <a:cubicBezTo>
                  <a:pt x="2227" y="5155"/>
                  <a:pt x="2156" y="5227"/>
                  <a:pt x="2049" y="5227"/>
                </a:cubicBezTo>
                <a:lnTo>
                  <a:pt x="358" y="5227"/>
                </a:lnTo>
                <a:lnTo>
                  <a:pt x="358" y="822"/>
                </a:lnTo>
                <a:cubicBezTo>
                  <a:pt x="358" y="536"/>
                  <a:pt x="596" y="298"/>
                  <a:pt x="882" y="298"/>
                </a:cubicBezTo>
                <a:lnTo>
                  <a:pt x="5287" y="298"/>
                </a:lnTo>
                <a:lnTo>
                  <a:pt x="5287" y="476"/>
                </a:lnTo>
                <a:cubicBezTo>
                  <a:pt x="5287" y="572"/>
                  <a:pt x="5359" y="643"/>
                  <a:pt x="5442" y="643"/>
                </a:cubicBezTo>
                <a:cubicBezTo>
                  <a:pt x="5537" y="643"/>
                  <a:pt x="5609" y="572"/>
                  <a:pt x="5609" y="476"/>
                </a:cubicBezTo>
                <a:lnTo>
                  <a:pt x="5609" y="298"/>
                </a:lnTo>
                <a:close/>
                <a:moveTo>
                  <a:pt x="834" y="0"/>
                </a:moveTo>
                <a:cubicBezTo>
                  <a:pt x="370" y="0"/>
                  <a:pt x="1" y="381"/>
                  <a:pt x="1" y="834"/>
                </a:cubicBezTo>
                <a:lnTo>
                  <a:pt x="1" y="9977"/>
                </a:lnTo>
                <a:cubicBezTo>
                  <a:pt x="1" y="10442"/>
                  <a:pt x="370" y="10811"/>
                  <a:pt x="834" y="10811"/>
                </a:cubicBezTo>
                <a:lnTo>
                  <a:pt x="9978" y="10811"/>
                </a:lnTo>
                <a:cubicBezTo>
                  <a:pt x="10431" y="10811"/>
                  <a:pt x="10812" y="10442"/>
                  <a:pt x="10812" y="9977"/>
                </a:cubicBezTo>
                <a:lnTo>
                  <a:pt x="10812" y="834"/>
                </a:lnTo>
                <a:cubicBezTo>
                  <a:pt x="10812" y="381"/>
                  <a:pt x="10431" y="0"/>
                  <a:pt x="997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454;p24"/>
          <p:cNvSpPr/>
          <p:nvPr/>
        </p:nvSpPr>
        <p:spPr>
          <a:xfrm>
            <a:off x="2584931" y="2106829"/>
            <a:ext cx="344097" cy="340033"/>
          </a:xfrm>
          <a:custGeom>
            <a:avLst/>
            <a:gdLst/>
            <a:ahLst/>
            <a:cxnLst/>
            <a:rect l="l" t="t" r="r" b="b"/>
            <a:pathLst>
              <a:path w="10836" h="10708" extrusionOk="0">
                <a:moveTo>
                  <a:pt x="7677" y="328"/>
                </a:moveTo>
                <a:cubicBezTo>
                  <a:pt x="7821" y="328"/>
                  <a:pt x="7960" y="378"/>
                  <a:pt x="8061" y="480"/>
                </a:cubicBezTo>
                <a:lnTo>
                  <a:pt x="10288" y="2706"/>
                </a:lnTo>
                <a:cubicBezTo>
                  <a:pt x="10502" y="2897"/>
                  <a:pt x="10490" y="3278"/>
                  <a:pt x="10252" y="3516"/>
                </a:cubicBezTo>
                <a:cubicBezTo>
                  <a:pt x="10125" y="3643"/>
                  <a:pt x="9961" y="3709"/>
                  <a:pt x="9802" y="3709"/>
                </a:cubicBezTo>
                <a:cubicBezTo>
                  <a:pt x="9661" y="3709"/>
                  <a:pt x="9524" y="3657"/>
                  <a:pt x="9418" y="3552"/>
                </a:cubicBezTo>
                <a:lnTo>
                  <a:pt x="8264" y="2385"/>
                </a:lnTo>
                <a:cubicBezTo>
                  <a:pt x="8234" y="2355"/>
                  <a:pt x="8195" y="2340"/>
                  <a:pt x="8156" y="2340"/>
                </a:cubicBezTo>
                <a:cubicBezTo>
                  <a:pt x="8118" y="2340"/>
                  <a:pt x="8079" y="2355"/>
                  <a:pt x="8049" y="2385"/>
                </a:cubicBezTo>
                <a:cubicBezTo>
                  <a:pt x="7990" y="2444"/>
                  <a:pt x="7990" y="2540"/>
                  <a:pt x="8049" y="2599"/>
                </a:cubicBezTo>
                <a:lnTo>
                  <a:pt x="8930" y="3480"/>
                </a:lnTo>
                <a:lnTo>
                  <a:pt x="7811" y="4587"/>
                </a:lnTo>
                <a:cubicBezTo>
                  <a:pt x="7549" y="4861"/>
                  <a:pt x="7382" y="5207"/>
                  <a:pt x="7335" y="5564"/>
                </a:cubicBezTo>
                <a:cubicBezTo>
                  <a:pt x="7287" y="5921"/>
                  <a:pt x="7371" y="6290"/>
                  <a:pt x="7561" y="6588"/>
                </a:cubicBezTo>
                <a:cubicBezTo>
                  <a:pt x="7930" y="7171"/>
                  <a:pt x="7859" y="7838"/>
                  <a:pt x="7728" y="8028"/>
                </a:cubicBezTo>
                <a:cubicBezTo>
                  <a:pt x="7644" y="8016"/>
                  <a:pt x="7406" y="7897"/>
                  <a:pt x="6751" y="7350"/>
                </a:cubicBezTo>
                <a:cubicBezTo>
                  <a:pt x="6335" y="6993"/>
                  <a:pt x="5835" y="6528"/>
                  <a:pt x="5311" y="6004"/>
                </a:cubicBezTo>
                <a:lnTo>
                  <a:pt x="5204" y="5897"/>
                </a:lnTo>
                <a:lnTo>
                  <a:pt x="5180" y="5873"/>
                </a:lnTo>
                <a:cubicBezTo>
                  <a:pt x="5085" y="5778"/>
                  <a:pt x="4977" y="5695"/>
                  <a:pt x="4894" y="5588"/>
                </a:cubicBezTo>
                <a:lnTo>
                  <a:pt x="4846" y="5540"/>
                </a:lnTo>
                <a:lnTo>
                  <a:pt x="4739" y="5445"/>
                </a:lnTo>
                <a:cubicBezTo>
                  <a:pt x="4239" y="4921"/>
                  <a:pt x="3763" y="4409"/>
                  <a:pt x="3406" y="3992"/>
                </a:cubicBezTo>
                <a:cubicBezTo>
                  <a:pt x="2858" y="3337"/>
                  <a:pt x="2751" y="3099"/>
                  <a:pt x="2715" y="3028"/>
                </a:cubicBezTo>
                <a:cubicBezTo>
                  <a:pt x="2805" y="2970"/>
                  <a:pt x="2986" y="2926"/>
                  <a:pt x="3210" y="2926"/>
                </a:cubicBezTo>
                <a:cubicBezTo>
                  <a:pt x="3492" y="2926"/>
                  <a:pt x="3843" y="2995"/>
                  <a:pt x="4168" y="3194"/>
                </a:cubicBezTo>
                <a:cubicBezTo>
                  <a:pt x="4416" y="3353"/>
                  <a:pt x="4715" y="3430"/>
                  <a:pt x="5014" y="3430"/>
                </a:cubicBezTo>
                <a:cubicBezTo>
                  <a:pt x="5073" y="3430"/>
                  <a:pt x="5133" y="3427"/>
                  <a:pt x="5192" y="3421"/>
                </a:cubicBezTo>
                <a:cubicBezTo>
                  <a:pt x="5549" y="3373"/>
                  <a:pt x="5894" y="3194"/>
                  <a:pt x="6156" y="2944"/>
                </a:cubicBezTo>
                <a:lnTo>
                  <a:pt x="7275" y="1825"/>
                </a:lnTo>
                <a:lnTo>
                  <a:pt x="7359" y="1909"/>
                </a:lnTo>
                <a:cubicBezTo>
                  <a:pt x="7394" y="1938"/>
                  <a:pt x="7433" y="1953"/>
                  <a:pt x="7470" y="1953"/>
                </a:cubicBezTo>
                <a:cubicBezTo>
                  <a:pt x="7507" y="1953"/>
                  <a:pt x="7543" y="1938"/>
                  <a:pt x="7573" y="1909"/>
                </a:cubicBezTo>
                <a:cubicBezTo>
                  <a:pt x="7633" y="1849"/>
                  <a:pt x="7633" y="1766"/>
                  <a:pt x="7573" y="1706"/>
                </a:cubicBezTo>
                <a:lnTo>
                  <a:pt x="7204" y="1337"/>
                </a:lnTo>
                <a:lnTo>
                  <a:pt x="7192" y="1313"/>
                </a:lnTo>
                <a:cubicBezTo>
                  <a:pt x="7025" y="1123"/>
                  <a:pt x="7013" y="837"/>
                  <a:pt x="7144" y="635"/>
                </a:cubicBezTo>
                <a:cubicBezTo>
                  <a:pt x="7168" y="587"/>
                  <a:pt x="7204" y="539"/>
                  <a:pt x="7228" y="516"/>
                </a:cubicBezTo>
                <a:cubicBezTo>
                  <a:pt x="7353" y="390"/>
                  <a:pt x="7518" y="328"/>
                  <a:pt x="7677" y="328"/>
                </a:cubicBezTo>
                <a:close/>
                <a:moveTo>
                  <a:pt x="7667" y="0"/>
                </a:moveTo>
                <a:cubicBezTo>
                  <a:pt x="7428" y="0"/>
                  <a:pt x="7186" y="93"/>
                  <a:pt x="7001" y="277"/>
                </a:cubicBezTo>
                <a:cubicBezTo>
                  <a:pt x="6644" y="635"/>
                  <a:pt x="6632" y="1194"/>
                  <a:pt x="6978" y="1539"/>
                </a:cubicBezTo>
                <a:lnTo>
                  <a:pt x="7037" y="1599"/>
                </a:lnTo>
                <a:lnTo>
                  <a:pt x="5918" y="2718"/>
                </a:lnTo>
                <a:cubicBezTo>
                  <a:pt x="5651" y="2985"/>
                  <a:pt x="5292" y="3125"/>
                  <a:pt x="4942" y="3125"/>
                </a:cubicBezTo>
                <a:cubicBezTo>
                  <a:pt x="4715" y="3125"/>
                  <a:pt x="4491" y="3066"/>
                  <a:pt x="4299" y="2944"/>
                </a:cubicBezTo>
                <a:cubicBezTo>
                  <a:pt x="3965" y="2730"/>
                  <a:pt x="3596" y="2623"/>
                  <a:pt x="3215" y="2623"/>
                </a:cubicBezTo>
                <a:cubicBezTo>
                  <a:pt x="2882" y="2623"/>
                  <a:pt x="2584" y="2706"/>
                  <a:pt x="2453" y="2849"/>
                </a:cubicBezTo>
                <a:cubicBezTo>
                  <a:pt x="2322" y="2980"/>
                  <a:pt x="2418" y="3194"/>
                  <a:pt x="2525" y="3385"/>
                </a:cubicBezTo>
                <a:cubicBezTo>
                  <a:pt x="2632" y="3564"/>
                  <a:pt x="2810" y="3802"/>
                  <a:pt x="3049" y="4087"/>
                </a:cubicBezTo>
                <a:cubicBezTo>
                  <a:pt x="3394" y="4504"/>
                  <a:pt x="3846" y="5004"/>
                  <a:pt x="4370" y="5540"/>
                </a:cubicBezTo>
                <a:lnTo>
                  <a:pt x="3180" y="6731"/>
                </a:lnTo>
                <a:cubicBezTo>
                  <a:pt x="2763" y="7147"/>
                  <a:pt x="2346" y="7600"/>
                  <a:pt x="1965" y="8064"/>
                </a:cubicBezTo>
                <a:lnTo>
                  <a:pt x="84" y="10291"/>
                </a:lnTo>
                <a:cubicBezTo>
                  <a:pt x="1" y="10398"/>
                  <a:pt x="1" y="10541"/>
                  <a:pt x="84" y="10636"/>
                </a:cubicBezTo>
                <a:cubicBezTo>
                  <a:pt x="132" y="10683"/>
                  <a:pt x="191" y="10707"/>
                  <a:pt x="251" y="10707"/>
                </a:cubicBezTo>
                <a:cubicBezTo>
                  <a:pt x="310" y="10707"/>
                  <a:pt x="370" y="10683"/>
                  <a:pt x="429" y="10636"/>
                </a:cubicBezTo>
                <a:lnTo>
                  <a:pt x="2572" y="8850"/>
                </a:lnTo>
                <a:cubicBezTo>
                  <a:pt x="2632" y="8790"/>
                  <a:pt x="2644" y="8695"/>
                  <a:pt x="2584" y="8636"/>
                </a:cubicBezTo>
                <a:cubicBezTo>
                  <a:pt x="2552" y="8603"/>
                  <a:pt x="2512" y="8585"/>
                  <a:pt x="2472" y="8585"/>
                </a:cubicBezTo>
                <a:cubicBezTo>
                  <a:pt x="2440" y="8585"/>
                  <a:pt x="2409" y="8597"/>
                  <a:pt x="2382" y="8624"/>
                </a:cubicBezTo>
                <a:lnTo>
                  <a:pt x="739" y="9993"/>
                </a:lnTo>
                <a:lnTo>
                  <a:pt x="2191" y="8266"/>
                </a:lnTo>
                <a:cubicBezTo>
                  <a:pt x="2560" y="7826"/>
                  <a:pt x="2965" y="7374"/>
                  <a:pt x="3382" y="6957"/>
                </a:cubicBezTo>
                <a:lnTo>
                  <a:pt x="4573" y="5766"/>
                </a:lnTo>
                <a:lnTo>
                  <a:pt x="4585" y="5778"/>
                </a:lnTo>
                <a:lnTo>
                  <a:pt x="4763" y="5957"/>
                </a:lnTo>
                <a:lnTo>
                  <a:pt x="4942" y="6135"/>
                </a:lnTo>
                <a:lnTo>
                  <a:pt x="4954" y="6159"/>
                </a:lnTo>
                <a:lnTo>
                  <a:pt x="3763" y="7350"/>
                </a:lnTo>
                <a:cubicBezTo>
                  <a:pt x="3537" y="7564"/>
                  <a:pt x="3299" y="7790"/>
                  <a:pt x="3084" y="8005"/>
                </a:cubicBezTo>
                <a:cubicBezTo>
                  <a:pt x="3025" y="8064"/>
                  <a:pt x="3025" y="8147"/>
                  <a:pt x="3061" y="8207"/>
                </a:cubicBezTo>
                <a:cubicBezTo>
                  <a:pt x="3092" y="8238"/>
                  <a:pt x="3133" y="8253"/>
                  <a:pt x="3174" y="8253"/>
                </a:cubicBezTo>
                <a:cubicBezTo>
                  <a:pt x="3211" y="8253"/>
                  <a:pt x="3247" y="8241"/>
                  <a:pt x="3275" y="8219"/>
                </a:cubicBezTo>
                <a:cubicBezTo>
                  <a:pt x="3513" y="8005"/>
                  <a:pt x="3751" y="7778"/>
                  <a:pt x="3977" y="7552"/>
                </a:cubicBezTo>
                <a:lnTo>
                  <a:pt x="5168" y="6361"/>
                </a:lnTo>
                <a:cubicBezTo>
                  <a:pt x="5704" y="6885"/>
                  <a:pt x="6204" y="7350"/>
                  <a:pt x="6620" y="7683"/>
                </a:cubicBezTo>
                <a:cubicBezTo>
                  <a:pt x="6906" y="7921"/>
                  <a:pt x="7144" y="8088"/>
                  <a:pt x="7323" y="8207"/>
                </a:cubicBezTo>
                <a:cubicBezTo>
                  <a:pt x="7442" y="8278"/>
                  <a:pt x="7573" y="8362"/>
                  <a:pt x="7692" y="8362"/>
                </a:cubicBezTo>
                <a:cubicBezTo>
                  <a:pt x="7752" y="8362"/>
                  <a:pt x="7811" y="8338"/>
                  <a:pt x="7859" y="8302"/>
                </a:cubicBezTo>
                <a:cubicBezTo>
                  <a:pt x="7990" y="8159"/>
                  <a:pt x="8073" y="7862"/>
                  <a:pt x="8073" y="7540"/>
                </a:cubicBezTo>
                <a:cubicBezTo>
                  <a:pt x="8073" y="7171"/>
                  <a:pt x="7954" y="6778"/>
                  <a:pt x="7763" y="6457"/>
                </a:cubicBezTo>
                <a:cubicBezTo>
                  <a:pt x="7454" y="5957"/>
                  <a:pt x="7549" y="5278"/>
                  <a:pt x="7990" y="4826"/>
                </a:cubicBezTo>
                <a:lnTo>
                  <a:pt x="9109" y="3718"/>
                </a:lnTo>
                <a:lnTo>
                  <a:pt x="9168" y="3778"/>
                </a:lnTo>
                <a:lnTo>
                  <a:pt x="9192" y="3802"/>
                </a:lnTo>
                <a:lnTo>
                  <a:pt x="9216" y="3814"/>
                </a:lnTo>
                <a:cubicBezTo>
                  <a:pt x="9216" y="3814"/>
                  <a:pt x="9228" y="3837"/>
                  <a:pt x="9240" y="3837"/>
                </a:cubicBezTo>
                <a:cubicBezTo>
                  <a:pt x="9240" y="3837"/>
                  <a:pt x="9252" y="3837"/>
                  <a:pt x="9252" y="3849"/>
                </a:cubicBezTo>
                <a:lnTo>
                  <a:pt x="9264" y="3861"/>
                </a:lnTo>
                <a:cubicBezTo>
                  <a:pt x="9264" y="3861"/>
                  <a:pt x="9287" y="3861"/>
                  <a:pt x="9287" y="3873"/>
                </a:cubicBezTo>
                <a:lnTo>
                  <a:pt x="9299" y="3897"/>
                </a:lnTo>
                <a:cubicBezTo>
                  <a:pt x="9299" y="3897"/>
                  <a:pt x="9311" y="3897"/>
                  <a:pt x="9311" y="3909"/>
                </a:cubicBezTo>
                <a:lnTo>
                  <a:pt x="9323" y="3921"/>
                </a:lnTo>
                <a:cubicBezTo>
                  <a:pt x="9323" y="3921"/>
                  <a:pt x="9347" y="3921"/>
                  <a:pt x="9347" y="3933"/>
                </a:cubicBezTo>
                <a:lnTo>
                  <a:pt x="9359" y="3956"/>
                </a:lnTo>
                <a:cubicBezTo>
                  <a:pt x="9359" y="3956"/>
                  <a:pt x="9371" y="3956"/>
                  <a:pt x="9371" y="3968"/>
                </a:cubicBezTo>
                <a:cubicBezTo>
                  <a:pt x="9371" y="3968"/>
                  <a:pt x="9383" y="3968"/>
                  <a:pt x="9383" y="3980"/>
                </a:cubicBezTo>
                <a:cubicBezTo>
                  <a:pt x="9383" y="3980"/>
                  <a:pt x="9407" y="3980"/>
                  <a:pt x="9407" y="3992"/>
                </a:cubicBezTo>
                <a:cubicBezTo>
                  <a:pt x="9407" y="3992"/>
                  <a:pt x="9418" y="3992"/>
                  <a:pt x="9418" y="4016"/>
                </a:cubicBezTo>
                <a:lnTo>
                  <a:pt x="9430" y="4016"/>
                </a:lnTo>
                <a:cubicBezTo>
                  <a:pt x="9430" y="4016"/>
                  <a:pt x="9442" y="4016"/>
                  <a:pt x="9442" y="4028"/>
                </a:cubicBezTo>
                <a:lnTo>
                  <a:pt x="9942" y="4028"/>
                </a:lnTo>
                <a:cubicBezTo>
                  <a:pt x="9954" y="4028"/>
                  <a:pt x="9954" y="4028"/>
                  <a:pt x="9966" y="4016"/>
                </a:cubicBezTo>
                <a:lnTo>
                  <a:pt x="9978" y="4016"/>
                </a:lnTo>
                <a:cubicBezTo>
                  <a:pt x="10002" y="4016"/>
                  <a:pt x="10002" y="4016"/>
                  <a:pt x="10014" y="3992"/>
                </a:cubicBezTo>
                <a:lnTo>
                  <a:pt x="10026" y="3992"/>
                </a:lnTo>
                <a:cubicBezTo>
                  <a:pt x="10038" y="3992"/>
                  <a:pt x="10038" y="3992"/>
                  <a:pt x="10061" y="3980"/>
                </a:cubicBezTo>
                <a:cubicBezTo>
                  <a:pt x="10061" y="3980"/>
                  <a:pt x="10073" y="3980"/>
                  <a:pt x="10073" y="3968"/>
                </a:cubicBezTo>
                <a:cubicBezTo>
                  <a:pt x="10085" y="3968"/>
                  <a:pt x="10085" y="3956"/>
                  <a:pt x="10097" y="3956"/>
                </a:cubicBezTo>
                <a:cubicBezTo>
                  <a:pt x="10097" y="3956"/>
                  <a:pt x="10121" y="3956"/>
                  <a:pt x="10121" y="3933"/>
                </a:cubicBezTo>
                <a:cubicBezTo>
                  <a:pt x="10133" y="3933"/>
                  <a:pt x="10133" y="3921"/>
                  <a:pt x="10145" y="3921"/>
                </a:cubicBezTo>
                <a:cubicBezTo>
                  <a:pt x="10145" y="3921"/>
                  <a:pt x="10157" y="3921"/>
                  <a:pt x="10157" y="3909"/>
                </a:cubicBezTo>
                <a:cubicBezTo>
                  <a:pt x="10180" y="3909"/>
                  <a:pt x="10180" y="3897"/>
                  <a:pt x="10192" y="3897"/>
                </a:cubicBezTo>
                <a:cubicBezTo>
                  <a:pt x="10192" y="3897"/>
                  <a:pt x="10204" y="3897"/>
                  <a:pt x="10204" y="3873"/>
                </a:cubicBezTo>
                <a:cubicBezTo>
                  <a:pt x="10216" y="3873"/>
                  <a:pt x="10216" y="3861"/>
                  <a:pt x="10240" y="3861"/>
                </a:cubicBezTo>
                <a:cubicBezTo>
                  <a:pt x="10240" y="3861"/>
                  <a:pt x="10252" y="3861"/>
                  <a:pt x="10252" y="3849"/>
                </a:cubicBezTo>
                <a:cubicBezTo>
                  <a:pt x="10264" y="3849"/>
                  <a:pt x="10264" y="3837"/>
                  <a:pt x="10276" y="3837"/>
                </a:cubicBezTo>
                <a:cubicBezTo>
                  <a:pt x="10276" y="3837"/>
                  <a:pt x="10300" y="3837"/>
                  <a:pt x="10300" y="3814"/>
                </a:cubicBezTo>
                <a:cubicBezTo>
                  <a:pt x="10311" y="3814"/>
                  <a:pt x="10311" y="3802"/>
                  <a:pt x="10323" y="3802"/>
                </a:cubicBezTo>
                <a:cubicBezTo>
                  <a:pt x="10323" y="3802"/>
                  <a:pt x="10335" y="3802"/>
                  <a:pt x="10335" y="3790"/>
                </a:cubicBezTo>
                <a:cubicBezTo>
                  <a:pt x="10359" y="3778"/>
                  <a:pt x="10371" y="3778"/>
                  <a:pt x="10371" y="3754"/>
                </a:cubicBezTo>
                <a:cubicBezTo>
                  <a:pt x="10823" y="3373"/>
                  <a:pt x="10835" y="2802"/>
                  <a:pt x="10490" y="2468"/>
                </a:cubicBezTo>
                <a:lnTo>
                  <a:pt x="8275" y="242"/>
                </a:lnTo>
                <a:cubicBezTo>
                  <a:pt x="8109" y="81"/>
                  <a:pt x="7889" y="0"/>
                  <a:pt x="76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8" name="Google Shape;455;p24"/>
          <p:cNvCxnSpPr>
            <a:endCxn id="11" idx="0"/>
          </p:cNvCxnSpPr>
          <p:nvPr/>
        </p:nvCxnSpPr>
        <p:spPr>
          <a:xfrm rot="10800000" flipV="1">
            <a:off x="2756981" y="1201907"/>
            <a:ext cx="3677643" cy="324256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69" name="Google Shape;456;p24"/>
          <p:cNvCxnSpPr>
            <a:endCxn id="25" idx="0"/>
          </p:cNvCxnSpPr>
          <p:nvPr/>
        </p:nvCxnSpPr>
        <p:spPr>
          <a:xfrm rot="16200000" flipH="1">
            <a:off x="6263904" y="1355443"/>
            <a:ext cx="324258" cy="17181"/>
          </a:xfrm>
          <a:prstGeom prst="bentConnector3">
            <a:avLst>
              <a:gd name="adj1" fmla="val -964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8" name="Google Shape;456;p24"/>
          <p:cNvCxnSpPr/>
          <p:nvPr/>
        </p:nvCxnSpPr>
        <p:spPr>
          <a:xfrm rot="16200000" flipH="1">
            <a:off x="4425081" y="1353386"/>
            <a:ext cx="324258" cy="17181"/>
          </a:xfrm>
          <a:prstGeom prst="bentConnector3">
            <a:avLst>
              <a:gd name="adj1" fmla="val -964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1266585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734908" y="6350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361950">
              <a:defRPr/>
            </a:pPr>
            <a:r>
              <a:rPr lang="uz-Latn-UZ" sz="3200" dirty="0">
                <a:solidFill>
                  <a:srgbClr val="0070C0"/>
                </a:solidFill>
                <a:ea typeface="Cambria" pitchFamily="18" charset="0"/>
              </a:rPr>
              <a:t>FOYDALANILGAN ADABIYOTLAR</a:t>
            </a:r>
          </a:p>
        </p:txBody>
      </p:sp>
      <p:sp>
        <p:nvSpPr>
          <p:cNvPr id="19" name="Google Shape;57;p15"/>
          <p:cNvSpPr txBox="1">
            <a:spLocks/>
          </p:cNvSpPr>
          <p:nvPr/>
        </p:nvSpPr>
        <p:spPr>
          <a:xfrm>
            <a:off x="139148" y="993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57;p15"/>
          <p:cNvSpPr txBox="1">
            <a:spLocks/>
          </p:cNvSpPr>
          <p:nvPr/>
        </p:nvSpPr>
        <p:spPr>
          <a:xfrm>
            <a:off x="139148" y="993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</a:endParaRPr>
          </a:p>
        </p:txBody>
      </p:sp>
      <p:grpSp>
        <p:nvGrpSpPr>
          <p:cNvPr id="48" name="Google Shape;155;p20"/>
          <p:cNvGrpSpPr/>
          <p:nvPr/>
        </p:nvGrpSpPr>
        <p:grpSpPr>
          <a:xfrm rot="-5400000">
            <a:off x="8624907" y="3418119"/>
            <a:ext cx="362321" cy="364231"/>
            <a:chOff x="6069423" y="2891892"/>
            <a:chExt cx="362321" cy="364231"/>
          </a:xfrm>
        </p:grpSpPr>
        <p:sp>
          <p:nvSpPr>
            <p:cNvPr id="49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Google Shape;162;p20"/>
          <p:cNvSpPr/>
          <p:nvPr/>
        </p:nvSpPr>
        <p:spPr>
          <a:xfrm rot="-5400000">
            <a:off x="6284015" y="2392846"/>
            <a:ext cx="5044107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1-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o‘quv</a:t>
            </a:r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savoli</a:t>
            </a:r>
            <a:endParaRPr lang="en-US" sz="2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grpSp>
        <p:nvGrpSpPr>
          <p:cNvPr id="57" name="Google Shape;155;p20"/>
          <p:cNvGrpSpPr/>
          <p:nvPr/>
        </p:nvGrpSpPr>
        <p:grpSpPr>
          <a:xfrm rot="-5400000">
            <a:off x="8624907" y="1435083"/>
            <a:ext cx="362321" cy="364231"/>
            <a:chOff x="6069423" y="2891892"/>
            <a:chExt cx="362321" cy="364231"/>
          </a:xfrm>
        </p:grpSpPr>
        <p:sp>
          <p:nvSpPr>
            <p:cNvPr id="58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4" name="Google Shape;345;p23"/>
          <p:cNvCxnSpPr>
            <a:endCxn id="78" idx="2"/>
          </p:cNvCxnSpPr>
          <p:nvPr/>
        </p:nvCxnSpPr>
        <p:spPr>
          <a:xfrm rot="10800000" flipH="1">
            <a:off x="4700420" y="2058812"/>
            <a:ext cx="2027700" cy="213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65" name="Google Shape;348;p23"/>
          <p:cNvCxnSpPr>
            <a:endCxn id="69" idx="2"/>
          </p:cNvCxnSpPr>
          <p:nvPr/>
        </p:nvCxnSpPr>
        <p:spPr>
          <a:xfrm rot="10800000" flipH="1">
            <a:off x="4696893" y="2730487"/>
            <a:ext cx="2031300" cy="138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66" name="Google Shape;351;p23"/>
          <p:cNvCxnSpPr>
            <a:endCxn id="72" idx="2"/>
          </p:cNvCxnSpPr>
          <p:nvPr/>
        </p:nvCxnSpPr>
        <p:spPr>
          <a:xfrm rot="10800000" flipH="1">
            <a:off x="4696893" y="3401863"/>
            <a:ext cx="2031300" cy="66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grpSp>
        <p:nvGrpSpPr>
          <p:cNvPr id="68" name="Google Shape;357;p23"/>
          <p:cNvGrpSpPr/>
          <p:nvPr/>
        </p:nvGrpSpPr>
        <p:grpSpPr>
          <a:xfrm>
            <a:off x="5795314" y="2434164"/>
            <a:ext cx="2056250" cy="592484"/>
            <a:chOff x="5767327" y="2456303"/>
            <a:chExt cx="2056250" cy="592484"/>
          </a:xfrm>
        </p:grpSpPr>
        <p:sp>
          <p:nvSpPr>
            <p:cNvPr id="69" name="Google Shape;350;p23"/>
            <p:cNvSpPr/>
            <p:nvPr/>
          </p:nvSpPr>
          <p:spPr>
            <a:xfrm>
              <a:off x="6700202" y="2657296"/>
              <a:ext cx="190500" cy="1905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58;p23"/>
            <p:cNvSpPr/>
            <p:nvPr/>
          </p:nvSpPr>
          <p:spPr>
            <a:xfrm>
              <a:off x="5767327" y="2456303"/>
              <a:ext cx="2056250" cy="592484"/>
            </a:xfrm>
            <a:custGeom>
              <a:avLst/>
              <a:gdLst/>
              <a:ahLst/>
              <a:cxnLst/>
              <a:rect l="l" t="t" r="r" b="b"/>
              <a:pathLst>
                <a:path w="86991" h="24031" extrusionOk="0">
                  <a:moveTo>
                    <a:pt x="0" y="0"/>
                  </a:moveTo>
                  <a:lnTo>
                    <a:pt x="13945" y="24031"/>
                  </a:lnTo>
                  <a:lnTo>
                    <a:pt x="72847" y="24031"/>
                  </a:lnTo>
                  <a:lnTo>
                    <a:pt x="86991" y="0"/>
                  </a:ln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91919"/>
                </a:buClr>
                <a:buSzPts val="1100"/>
                <a:buFont typeface="Arial"/>
                <a:buNone/>
              </a:pPr>
              <a:endParaRPr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" name="Google Shape;359;p23"/>
          <p:cNvGrpSpPr/>
          <p:nvPr/>
        </p:nvGrpSpPr>
        <p:grpSpPr>
          <a:xfrm>
            <a:off x="6127701" y="3105331"/>
            <a:ext cx="1391475" cy="592977"/>
            <a:chOff x="6099714" y="3127470"/>
            <a:chExt cx="1391475" cy="592977"/>
          </a:xfrm>
        </p:grpSpPr>
        <p:sp>
          <p:nvSpPr>
            <p:cNvPr id="72" name="Google Shape;353;p23"/>
            <p:cNvSpPr/>
            <p:nvPr/>
          </p:nvSpPr>
          <p:spPr>
            <a:xfrm>
              <a:off x="6700202" y="3328708"/>
              <a:ext cx="190500" cy="190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60;p23"/>
            <p:cNvSpPr/>
            <p:nvPr/>
          </p:nvSpPr>
          <p:spPr>
            <a:xfrm>
              <a:off x="6099714" y="3127470"/>
              <a:ext cx="1391475" cy="592977"/>
            </a:xfrm>
            <a:custGeom>
              <a:avLst/>
              <a:gdLst/>
              <a:ahLst/>
              <a:cxnLst/>
              <a:rect l="l" t="t" r="r" b="b"/>
              <a:pathLst>
                <a:path w="62405" h="24051" extrusionOk="0">
                  <a:moveTo>
                    <a:pt x="1" y="1"/>
                  </a:moveTo>
                  <a:lnTo>
                    <a:pt x="13707" y="24051"/>
                  </a:lnTo>
                  <a:lnTo>
                    <a:pt x="48400" y="24051"/>
                  </a:lnTo>
                  <a:lnTo>
                    <a:pt x="62404" y="1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91919"/>
                </a:buClr>
                <a:buSzPts val="1100"/>
                <a:buFont typeface="Arial"/>
                <a:buNone/>
              </a:pPr>
              <a:endParaRPr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7" name="Google Shape;363;p23"/>
          <p:cNvGrpSpPr/>
          <p:nvPr/>
        </p:nvGrpSpPr>
        <p:grpSpPr>
          <a:xfrm>
            <a:off x="5448935" y="1762444"/>
            <a:ext cx="2749008" cy="593002"/>
            <a:chOff x="5420948" y="1784583"/>
            <a:chExt cx="2749008" cy="593002"/>
          </a:xfrm>
        </p:grpSpPr>
        <p:sp>
          <p:nvSpPr>
            <p:cNvPr id="78" name="Google Shape;347;p23"/>
            <p:cNvSpPr/>
            <p:nvPr/>
          </p:nvSpPr>
          <p:spPr>
            <a:xfrm>
              <a:off x="6700202" y="1985834"/>
              <a:ext cx="190500" cy="1905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64;p23"/>
            <p:cNvSpPr/>
            <p:nvPr/>
          </p:nvSpPr>
          <p:spPr>
            <a:xfrm>
              <a:off x="5420948" y="1784583"/>
              <a:ext cx="2749008" cy="593002"/>
            </a:xfrm>
            <a:custGeom>
              <a:avLst/>
              <a:gdLst/>
              <a:ahLst/>
              <a:cxnLst/>
              <a:rect l="l" t="t" r="r" b="b"/>
              <a:pathLst>
                <a:path w="111499" h="24052" extrusionOk="0">
                  <a:moveTo>
                    <a:pt x="0" y="1"/>
                  </a:moveTo>
                  <a:lnTo>
                    <a:pt x="13925" y="24051"/>
                  </a:lnTo>
                  <a:lnTo>
                    <a:pt x="97037" y="24051"/>
                  </a:lnTo>
                  <a:lnTo>
                    <a:pt x="111499" y="1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7" name="Google Shape;370;p23"/>
          <p:cNvSpPr txBox="1"/>
          <p:nvPr/>
        </p:nvSpPr>
        <p:spPr>
          <a:xfrm>
            <a:off x="1441496" y="1837862"/>
            <a:ext cx="3255395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 err="1">
                <a:solidFill>
                  <a:srgbClr val="FFFF00"/>
                </a:solidFill>
                <a:latin typeface="Rajdhani"/>
                <a:ea typeface="Rajdhani"/>
                <a:cs typeface="Rajdhani"/>
                <a:sym typeface="Rajdhani"/>
              </a:rPr>
              <a:t>dastlabki</a:t>
            </a:r>
            <a:r>
              <a:rPr lang="en-US" sz="2000" b="1" dirty="0">
                <a:solidFill>
                  <a:srgbClr val="FFFF00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Rajdhani"/>
                <a:ea typeface="Rajdhani"/>
                <a:cs typeface="Rajdhani"/>
                <a:sym typeface="Rajdhani"/>
              </a:rPr>
              <a:t>o‘rnatma</a:t>
            </a:r>
            <a:r>
              <a:rPr lang="en-US" sz="2000" b="1" dirty="0">
                <a:solidFill>
                  <a:srgbClr val="FFFF00"/>
                </a:solidFill>
                <a:latin typeface="Rajdhani"/>
                <a:ea typeface="Rajdhani"/>
                <a:cs typeface="Rajdhani"/>
                <a:sym typeface="Rajdhani"/>
              </a:rPr>
              <a:t>;</a:t>
            </a:r>
          </a:p>
        </p:txBody>
      </p:sp>
      <p:grpSp>
        <p:nvGrpSpPr>
          <p:cNvPr id="137" name="Google Shape;374;p23"/>
          <p:cNvGrpSpPr/>
          <p:nvPr/>
        </p:nvGrpSpPr>
        <p:grpSpPr>
          <a:xfrm>
            <a:off x="1021610" y="1963078"/>
            <a:ext cx="332761" cy="234066"/>
            <a:chOff x="7989683" y="2350207"/>
            <a:chExt cx="332761" cy="234066"/>
          </a:xfrm>
        </p:grpSpPr>
        <p:sp>
          <p:nvSpPr>
            <p:cNvPr id="138" name="Google Shape;375;p23"/>
            <p:cNvSpPr/>
            <p:nvPr/>
          </p:nvSpPr>
          <p:spPr>
            <a:xfrm>
              <a:off x="8258902" y="2396188"/>
              <a:ext cx="29119" cy="22101"/>
            </a:xfrm>
            <a:custGeom>
              <a:avLst/>
              <a:gdLst/>
              <a:ahLst/>
              <a:cxnLst/>
              <a:rect l="l" t="t" r="r" b="b"/>
              <a:pathLst>
                <a:path w="917" h="696" extrusionOk="0">
                  <a:moveTo>
                    <a:pt x="165" y="0"/>
                  </a:moveTo>
                  <a:cubicBezTo>
                    <a:pt x="114" y="0"/>
                    <a:pt x="64" y="22"/>
                    <a:pt x="36" y="64"/>
                  </a:cubicBezTo>
                  <a:cubicBezTo>
                    <a:pt x="0" y="148"/>
                    <a:pt x="12" y="243"/>
                    <a:pt x="84" y="291"/>
                  </a:cubicBezTo>
                  <a:cubicBezTo>
                    <a:pt x="262" y="410"/>
                    <a:pt x="441" y="529"/>
                    <a:pt x="631" y="660"/>
                  </a:cubicBezTo>
                  <a:cubicBezTo>
                    <a:pt x="667" y="684"/>
                    <a:pt x="691" y="695"/>
                    <a:pt x="726" y="695"/>
                  </a:cubicBezTo>
                  <a:cubicBezTo>
                    <a:pt x="762" y="695"/>
                    <a:pt x="834" y="660"/>
                    <a:pt x="857" y="624"/>
                  </a:cubicBezTo>
                  <a:cubicBezTo>
                    <a:pt x="917" y="565"/>
                    <a:pt x="893" y="457"/>
                    <a:pt x="810" y="398"/>
                  </a:cubicBezTo>
                  <a:cubicBezTo>
                    <a:pt x="619" y="267"/>
                    <a:pt x="441" y="148"/>
                    <a:pt x="262" y="29"/>
                  </a:cubicBezTo>
                  <a:cubicBezTo>
                    <a:pt x="234" y="10"/>
                    <a:pt x="199" y="0"/>
                    <a:pt x="1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376;p23"/>
            <p:cNvSpPr/>
            <p:nvPr/>
          </p:nvSpPr>
          <p:spPr>
            <a:xfrm>
              <a:off x="8051320" y="2350207"/>
              <a:ext cx="194753" cy="49919"/>
            </a:xfrm>
            <a:custGeom>
              <a:avLst/>
              <a:gdLst/>
              <a:ahLst/>
              <a:cxnLst/>
              <a:rect l="l" t="t" r="r" b="b"/>
              <a:pathLst>
                <a:path w="6133" h="1572" extrusionOk="0">
                  <a:moveTo>
                    <a:pt x="3299" y="0"/>
                  </a:moveTo>
                  <a:cubicBezTo>
                    <a:pt x="2501" y="0"/>
                    <a:pt x="1441" y="417"/>
                    <a:pt x="108" y="1274"/>
                  </a:cubicBezTo>
                  <a:cubicBezTo>
                    <a:pt x="24" y="1322"/>
                    <a:pt x="1" y="1429"/>
                    <a:pt x="60" y="1501"/>
                  </a:cubicBezTo>
                  <a:cubicBezTo>
                    <a:pt x="84" y="1548"/>
                    <a:pt x="144" y="1572"/>
                    <a:pt x="191" y="1572"/>
                  </a:cubicBezTo>
                  <a:cubicBezTo>
                    <a:pt x="227" y="1572"/>
                    <a:pt x="251" y="1560"/>
                    <a:pt x="286" y="1548"/>
                  </a:cubicBezTo>
                  <a:cubicBezTo>
                    <a:pt x="1572" y="727"/>
                    <a:pt x="2560" y="322"/>
                    <a:pt x="3299" y="322"/>
                  </a:cubicBezTo>
                  <a:cubicBezTo>
                    <a:pt x="3954" y="322"/>
                    <a:pt x="4787" y="643"/>
                    <a:pt x="5859" y="1262"/>
                  </a:cubicBezTo>
                  <a:cubicBezTo>
                    <a:pt x="5885" y="1277"/>
                    <a:pt x="5912" y="1284"/>
                    <a:pt x="5939" y="1284"/>
                  </a:cubicBezTo>
                  <a:cubicBezTo>
                    <a:pt x="5997" y="1284"/>
                    <a:pt x="6052" y="1252"/>
                    <a:pt x="6085" y="1203"/>
                  </a:cubicBezTo>
                  <a:cubicBezTo>
                    <a:pt x="6132" y="1131"/>
                    <a:pt x="6097" y="1024"/>
                    <a:pt x="6025" y="977"/>
                  </a:cubicBezTo>
                  <a:cubicBezTo>
                    <a:pt x="4906" y="322"/>
                    <a:pt x="4013" y="0"/>
                    <a:pt x="32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377;p23"/>
            <p:cNvSpPr/>
            <p:nvPr/>
          </p:nvSpPr>
          <p:spPr>
            <a:xfrm>
              <a:off x="7989683" y="2378183"/>
              <a:ext cx="332761" cy="206090"/>
            </a:xfrm>
            <a:custGeom>
              <a:avLst/>
              <a:gdLst/>
              <a:ahLst/>
              <a:cxnLst/>
              <a:rect l="l" t="t" r="r" b="b"/>
              <a:pathLst>
                <a:path w="10479" h="6490" extrusionOk="0">
                  <a:moveTo>
                    <a:pt x="5240" y="334"/>
                  </a:moveTo>
                  <a:cubicBezTo>
                    <a:pt x="6597" y="334"/>
                    <a:pt x="9276" y="2453"/>
                    <a:pt x="10086" y="3096"/>
                  </a:cubicBezTo>
                  <a:cubicBezTo>
                    <a:pt x="10121" y="3132"/>
                    <a:pt x="10157" y="3179"/>
                    <a:pt x="10157" y="3239"/>
                  </a:cubicBezTo>
                  <a:cubicBezTo>
                    <a:pt x="10157" y="3298"/>
                    <a:pt x="10121" y="3346"/>
                    <a:pt x="10086" y="3394"/>
                  </a:cubicBezTo>
                  <a:cubicBezTo>
                    <a:pt x="9288" y="4025"/>
                    <a:pt x="6597" y="6144"/>
                    <a:pt x="5240" y="6144"/>
                  </a:cubicBezTo>
                  <a:cubicBezTo>
                    <a:pt x="3894" y="6144"/>
                    <a:pt x="1215" y="4025"/>
                    <a:pt x="406" y="3394"/>
                  </a:cubicBezTo>
                  <a:cubicBezTo>
                    <a:pt x="358" y="3346"/>
                    <a:pt x="334" y="3298"/>
                    <a:pt x="334" y="3239"/>
                  </a:cubicBezTo>
                  <a:cubicBezTo>
                    <a:pt x="334" y="3179"/>
                    <a:pt x="358" y="3120"/>
                    <a:pt x="406" y="3096"/>
                  </a:cubicBezTo>
                  <a:cubicBezTo>
                    <a:pt x="1192" y="2453"/>
                    <a:pt x="3894" y="334"/>
                    <a:pt x="5240" y="334"/>
                  </a:cubicBezTo>
                  <a:close/>
                  <a:moveTo>
                    <a:pt x="5240" y="0"/>
                  </a:moveTo>
                  <a:cubicBezTo>
                    <a:pt x="3811" y="0"/>
                    <a:pt x="1239" y="1977"/>
                    <a:pt x="191" y="2822"/>
                  </a:cubicBezTo>
                  <a:cubicBezTo>
                    <a:pt x="84" y="2929"/>
                    <a:pt x="1" y="3072"/>
                    <a:pt x="1" y="3239"/>
                  </a:cubicBezTo>
                  <a:cubicBezTo>
                    <a:pt x="1" y="3406"/>
                    <a:pt x="84" y="3548"/>
                    <a:pt x="191" y="3656"/>
                  </a:cubicBezTo>
                  <a:cubicBezTo>
                    <a:pt x="1239" y="4501"/>
                    <a:pt x="3811" y="6489"/>
                    <a:pt x="5240" y="6489"/>
                  </a:cubicBezTo>
                  <a:cubicBezTo>
                    <a:pt x="6657" y="6489"/>
                    <a:pt x="9252" y="4501"/>
                    <a:pt x="10288" y="3656"/>
                  </a:cubicBezTo>
                  <a:cubicBezTo>
                    <a:pt x="10407" y="3548"/>
                    <a:pt x="10478" y="3406"/>
                    <a:pt x="10478" y="3239"/>
                  </a:cubicBezTo>
                  <a:cubicBezTo>
                    <a:pt x="10478" y="3072"/>
                    <a:pt x="10407" y="2929"/>
                    <a:pt x="10288" y="2822"/>
                  </a:cubicBezTo>
                  <a:cubicBezTo>
                    <a:pt x="9252" y="1977"/>
                    <a:pt x="6668" y="0"/>
                    <a:pt x="52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378;p23"/>
            <p:cNvSpPr/>
            <p:nvPr/>
          </p:nvSpPr>
          <p:spPr>
            <a:xfrm>
              <a:off x="8081201" y="2405746"/>
              <a:ext cx="151598" cy="149884"/>
            </a:xfrm>
            <a:custGeom>
              <a:avLst/>
              <a:gdLst/>
              <a:ahLst/>
              <a:cxnLst/>
              <a:rect l="l" t="t" r="r" b="b"/>
              <a:pathLst>
                <a:path w="4774" h="4720" extrusionOk="0">
                  <a:moveTo>
                    <a:pt x="2351" y="1"/>
                  </a:moveTo>
                  <a:cubicBezTo>
                    <a:pt x="2329" y="1"/>
                    <a:pt x="2308" y="1"/>
                    <a:pt x="2286" y="2"/>
                  </a:cubicBezTo>
                  <a:cubicBezTo>
                    <a:pt x="1048" y="49"/>
                    <a:pt x="36" y="1049"/>
                    <a:pt x="12" y="2288"/>
                  </a:cubicBezTo>
                  <a:cubicBezTo>
                    <a:pt x="0" y="2907"/>
                    <a:pt x="203" y="3478"/>
                    <a:pt x="572" y="3907"/>
                  </a:cubicBezTo>
                  <a:cubicBezTo>
                    <a:pt x="602" y="3943"/>
                    <a:pt x="646" y="3960"/>
                    <a:pt x="691" y="3960"/>
                  </a:cubicBezTo>
                  <a:cubicBezTo>
                    <a:pt x="735" y="3960"/>
                    <a:pt x="780" y="3943"/>
                    <a:pt x="810" y="3907"/>
                  </a:cubicBezTo>
                  <a:cubicBezTo>
                    <a:pt x="869" y="3847"/>
                    <a:pt x="869" y="3740"/>
                    <a:pt x="810" y="3681"/>
                  </a:cubicBezTo>
                  <a:cubicBezTo>
                    <a:pt x="488" y="3312"/>
                    <a:pt x="310" y="2800"/>
                    <a:pt x="322" y="2264"/>
                  </a:cubicBezTo>
                  <a:cubicBezTo>
                    <a:pt x="369" y="1228"/>
                    <a:pt x="1215" y="383"/>
                    <a:pt x="2262" y="335"/>
                  </a:cubicBezTo>
                  <a:cubicBezTo>
                    <a:pt x="2297" y="333"/>
                    <a:pt x="2332" y="332"/>
                    <a:pt x="2366" y="332"/>
                  </a:cubicBezTo>
                  <a:cubicBezTo>
                    <a:pt x="3487" y="332"/>
                    <a:pt x="4416" y="1263"/>
                    <a:pt x="4382" y="2407"/>
                  </a:cubicBezTo>
                  <a:cubicBezTo>
                    <a:pt x="4370" y="3478"/>
                    <a:pt x="3489" y="4347"/>
                    <a:pt x="2417" y="4395"/>
                  </a:cubicBezTo>
                  <a:cubicBezTo>
                    <a:pt x="2394" y="4396"/>
                    <a:pt x="2371" y="4396"/>
                    <a:pt x="2348" y="4396"/>
                  </a:cubicBezTo>
                  <a:cubicBezTo>
                    <a:pt x="2003" y="4396"/>
                    <a:pt x="1671" y="4313"/>
                    <a:pt x="1381" y="4157"/>
                  </a:cubicBezTo>
                  <a:cubicBezTo>
                    <a:pt x="1355" y="4141"/>
                    <a:pt x="1323" y="4132"/>
                    <a:pt x="1290" y="4132"/>
                  </a:cubicBezTo>
                  <a:cubicBezTo>
                    <a:pt x="1248" y="4132"/>
                    <a:pt x="1206" y="4147"/>
                    <a:pt x="1179" y="4181"/>
                  </a:cubicBezTo>
                  <a:cubicBezTo>
                    <a:pt x="1108" y="4264"/>
                    <a:pt x="1119" y="4395"/>
                    <a:pt x="1227" y="4443"/>
                  </a:cubicBezTo>
                  <a:cubicBezTo>
                    <a:pt x="1540" y="4615"/>
                    <a:pt x="1902" y="4720"/>
                    <a:pt x="2287" y="4720"/>
                  </a:cubicBezTo>
                  <a:cubicBezTo>
                    <a:pt x="2326" y="4720"/>
                    <a:pt x="2366" y="4719"/>
                    <a:pt x="2405" y="4716"/>
                  </a:cubicBezTo>
                  <a:cubicBezTo>
                    <a:pt x="3655" y="4693"/>
                    <a:pt x="4679" y="3681"/>
                    <a:pt x="4715" y="2442"/>
                  </a:cubicBezTo>
                  <a:cubicBezTo>
                    <a:pt x="4774" y="1095"/>
                    <a:pt x="3690" y="1"/>
                    <a:pt x="23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379;p23"/>
            <p:cNvSpPr/>
            <p:nvPr/>
          </p:nvSpPr>
          <p:spPr>
            <a:xfrm>
              <a:off x="8115973" y="2440550"/>
              <a:ext cx="80562" cy="80213"/>
            </a:xfrm>
            <a:custGeom>
              <a:avLst/>
              <a:gdLst/>
              <a:ahLst/>
              <a:cxnLst/>
              <a:rect l="l" t="t" r="r" b="b"/>
              <a:pathLst>
                <a:path w="2537" h="2526" extrusionOk="0">
                  <a:moveTo>
                    <a:pt x="1263" y="1"/>
                  </a:moveTo>
                  <a:cubicBezTo>
                    <a:pt x="572" y="1"/>
                    <a:pt x="1" y="561"/>
                    <a:pt x="1" y="1263"/>
                  </a:cubicBezTo>
                  <a:cubicBezTo>
                    <a:pt x="1" y="1965"/>
                    <a:pt x="572" y="2525"/>
                    <a:pt x="1263" y="2525"/>
                  </a:cubicBezTo>
                  <a:cubicBezTo>
                    <a:pt x="1965" y="2525"/>
                    <a:pt x="2537" y="1965"/>
                    <a:pt x="2537" y="1263"/>
                  </a:cubicBezTo>
                  <a:cubicBezTo>
                    <a:pt x="2537" y="1168"/>
                    <a:pt x="2453" y="1096"/>
                    <a:pt x="2370" y="1096"/>
                  </a:cubicBezTo>
                  <a:cubicBezTo>
                    <a:pt x="2275" y="1096"/>
                    <a:pt x="2203" y="1168"/>
                    <a:pt x="2203" y="1263"/>
                  </a:cubicBezTo>
                  <a:cubicBezTo>
                    <a:pt x="2203" y="1787"/>
                    <a:pt x="1787" y="2204"/>
                    <a:pt x="1263" y="2204"/>
                  </a:cubicBezTo>
                  <a:cubicBezTo>
                    <a:pt x="751" y="2204"/>
                    <a:pt x="334" y="1787"/>
                    <a:pt x="334" y="1263"/>
                  </a:cubicBezTo>
                  <a:cubicBezTo>
                    <a:pt x="334" y="739"/>
                    <a:pt x="751" y="322"/>
                    <a:pt x="1263" y="322"/>
                  </a:cubicBezTo>
                  <a:cubicBezTo>
                    <a:pt x="1358" y="322"/>
                    <a:pt x="1429" y="251"/>
                    <a:pt x="1429" y="156"/>
                  </a:cubicBezTo>
                  <a:cubicBezTo>
                    <a:pt x="1429" y="72"/>
                    <a:pt x="1358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380;p23"/>
            <p:cNvSpPr/>
            <p:nvPr/>
          </p:nvSpPr>
          <p:spPr>
            <a:xfrm>
              <a:off x="8164749" y="2447377"/>
              <a:ext cx="24610" cy="24610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382" y="0"/>
                  </a:moveTo>
                  <a:cubicBezTo>
                    <a:pt x="179" y="0"/>
                    <a:pt x="1" y="179"/>
                    <a:pt x="1" y="393"/>
                  </a:cubicBezTo>
                  <a:cubicBezTo>
                    <a:pt x="1" y="596"/>
                    <a:pt x="179" y="774"/>
                    <a:pt x="382" y="774"/>
                  </a:cubicBezTo>
                  <a:cubicBezTo>
                    <a:pt x="596" y="774"/>
                    <a:pt x="774" y="596"/>
                    <a:pt x="774" y="393"/>
                  </a:cubicBezTo>
                  <a:cubicBezTo>
                    <a:pt x="774" y="179"/>
                    <a:pt x="608" y="0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" name="Google Shape;381;p23"/>
          <p:cNvGrpSpPr/>
          <p:nvPr/>
        </p:nvGrpSpPr>
        <p:grpSpPr>
          <a:xfrm>
            <a:off x="1010274" y="2566380"/>
            <a:ext cx="355434" cy="355815"/>
            <a:chOff x="4673540" y="3680297"/>
            <a:chExt cx="355434" cy="355815"/>
          </a:xfrm>
        </p:grpSpPr>
        <p:sp>
          <p:nvSpPr>
            <p:cNvPr id="145" name="Google Shape;382;p23"/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383;p23"/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84;p23"/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" name="Google Shape;385;p23"/>
          <p:cNvGrpSpPr/>
          <p:nvPr/>
        </p:nvGrpSpPr>
        <p:grpSpPr>
          <a:xfrm>
            <a:off x="1009893" y="3275648"/>
            <a:ext cx="356196" cy="265631"/>
            <a:chOff x="5216456" y="3725484"/>
            <a:chExt cx="356196" cy="265631"/>
          </a:xfrm>
        </p:grpSpPr>
        <p:sp>
          <p:nvSpPr>
            <p:cNvPr id="149" name="Google Shape;386;p23"/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87;p23"/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" name="Google Shape;57;p15"/>
          <p:cNvSpPr txBox="1">
            <a:spLocks/>
          </p:cNvSpPr>
          <p:nvPr/>
        </p:nvSpPr>
        <p:spPr>
          <a:xfrm>
            <a:off x="113748" y="7470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7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algn="ctr"/>
            <a:r>
              <a:rPr lang="en-US" sz="2800" dirty="0" err="1"/>
              <a:t>Otish</a:t>
            </a:r>
            <a:r>
              <a:rPr lang="en-US" sz="2800" dirty="0"/>
              <a:t> </a:t>
            </a:r>
            <a:r>
              <a:rPr lang="en-US" sz="2800" dirty="0" err="1"/>
              <a:t>qoidalariga</a:t>
            </a:r>
            <a:r>
              <a:rPr lang="en-US" sz="2800" dirty="0"/>
              <a:t> </a:t>
            </a:r>
            <a:r>
              <a:rPr lang="en-US" sz="2800" dirty="0" err="1"/>
              <a:t>quyidagilar</a:t>
            </a:r>
            <a:r>
              <a:rPr lang="en-US" sz="2800" dirty="0"/>
              <a:t> </a:t>
            </a:r>
            <a:r>
              <a:rPr lang="en-US" sz="2800" dirty="0" err="1"/>
              <a:t>kiradi</a:t>
            </a:r>
            <a:r>
              <a:rPr lang="en-US" sz="2800" dirty="0"/>
              <a:t>:</a:t>
            </a:r>
            <a:endParaRPr lang="ru-RU" sz="2800" dirty="0"/>
          </a:p>
        </p:txBody>
      </p:sp>
      <p:sp>
        <p:nvSpPr>
          <p:cNvPr id="159" name="Google Shape;370;p23"/>
          <p:cNvSpPr txBox="1"/>
          <p:nvPr/>
        </p:nvSpPr>
        <p:spPr>
          <a:xfrm>
            <a:off x="1278000" y="2488156"/>
            <a:ext cx="3514337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 err="1">
                <a:solidFill>
                  <a:srgbClr val="FFFF00"/>
                </a:solidFill>
                <a:latin typeface="Rajdhani"/>
                <a:ea typeface="Rajdhani"/>
                <a:cs typeface="Rajdhani"/>
                <a:sym typeface="Rajdhani"/>
              </a:rPr>
              <a:t>barcha</a:t>
            </a:r>
            <a:r>
              <a:rPr lang="en-US" sz="2000" b="1" dirty="0">
                <a:solidFill>
                  <a:srgbClr val="FFFF00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Rajdhani"/>
                <a:ea typeface="Rajdhani"/>
                <a:cs typeface="Rajdhani"/>
                <a:sym typeface="Rajdhani"/>
              </a:rPr>
              <a:t>tuzatmalarni</a:t>
            </a:r>
            <a:r>
              <a:rPr lang="en-US" sz="2000" b="1" dirty="0">
                <a:solidFill>
                  <a:srgbClr val="FFFF00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Rajdhani"/>
                <a:ea typeface="Rajdhani"/>
                <a:cs typeface="Rajdhani"/>
                <a:sym typeface="Rajdhani"/>
              </a:rPr>
              <a:t>aniqlash</a:t>
            </a:r>
            <a:r>
              <a:rPr lang="en-US" sz="2000" b="1" dirty="0">
                <a:solidFill>
                  <a:srgbClr val="FFFF00"/>
                </a:solidFill>
                <a:latin typeface="Rajdhani"/>
                <a:ea typeface="Rajdhani"/>
                <a:cs typeface="Rajdhani"/>
                <a:sym typeface="Rajdhani"/>
              </a:rPr>
              <a:t>;</a:t>
            </a:r>
          </a:p>
        </p:txBody>
      </p:sp>
      <p:sp>
        <p:nvSpPr>
          <p:cNvPr id="160" name="Google Shape;370;p23"/>
          <p:cNvSpPr txBox="1"/>
          <p:nvPr/>
        </p:nvSpPr>
        <p:spPr>
          <a:xfrm>
            <a:off x="1445025" y="3170087"/>
            <a:ext cx="3589683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 err="1">
                <a:solidFill>
                  <a:srgbClr val="FFFF00"/>
                </a:solidFill>
                <a:latin typeface="Rajdhani"/>
                <a:ea typeface="Rajdhani"/>
                <a:cs typeface="Rajdhani"/>
                <a:sym typeface="Rajdhani"/>
              </a:rPr>
              <a:t>otishga</a:t>
            </a:r>
            <a:r>
              <a:rPr lang="en-US" sz="2000" b="1" dirty="0">
                <a:solidFill>
                  <a:srgbClr val="FFFF00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Rajdhani"/>
                <a:ea typeface="Rajdhani"/>
                <a:cs typeface="Rajdhani"/>
                <a:sym typeface="Rajdhani"/>
              </a:rPr>
              <a:t>tuzatma</a:t>
            </a:r>
            <a:r>
              <a:rPr lang="en-US" sz="2000" b="1" dirty="0">
                <a:solidFill>
                  <a:srgbClr val="FFFF00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Rajdhani"/>
                <a:ea typeface="Rajdhani"/>
                <a:cs typeface="Rajdhani"/>
                <a:sym typeface="Rajdhani"/>
              </a:rPr>
              <a:t>kiritish</a:t>
            </a:r>
            <a:r>
              <a:rPr lang="en-US" sz="2000" b="1" dirty="0">
                <a:solidFill>
                  <a:srgbClr val="FFFF00"/>
                </a:solidFill>
                <a:latin typeface="Rajdhani"/>
                <a:ea typeface="Rajdhani"/>
                <a:cs typeface="Rajdhani"/>
                <a:sym typeface="Rajdhan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7;p15"/>
          <p:cNvSpPr txBox="1">
            <a:spLocks noGrp="1"/>
          </p:cNvSpPr>
          <p:nvPr>
            <p:ph type="ctrTitle"/>
          </p:nvPr>
        </p:nvSpPr>
        <p:spPr>
          <a:xfrm>
            <a:off x="139148" y="99393"/>
            <a:ext cx="8895521" cy="5356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</a:endParaRPr>
          </a:p>
        </p:txBody>
      </p:sp>
      <p:sp>
        <p:nvSpPr>
          <p:cNvPr id="10" name="Google Shape;57;p15"/>
          <p:cNvSpPr txBox="1">
            <a:spLocks/>
          </p:cNvSpPr>
          <p:nvPr/>
        </p:nvSpPr>
        <p:spPr>
          <a:xfrm>
            <a:off x="113748" y="7470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7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algn="ctr"/>
            <a:r>
              <a:rPr lang="en-US" sz="2800" dirty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DASTLABKI O‘RNATMA</a:t>
            </a:r>
          </a:p>
        </p:txBody>
      </p:sp>
      <p:grpSp>
        <p:nvGrpSpPr>
          <p:cNvPr id="9" name="Google Shape;401;p24"/>
          <p:cNvGrpSpPr/>
          <p:nvPr/>
        </p:nvGrpSpPr>
        <p:grpSpPr>
          <a:xfrm>
            <a:off x="1894901" y="1526163"/>
            <a:ext cx="1806765" cy="2844716"/>
            <a:chOff x="951684" y="2283881"/>
            <a:chExt cx="1806765" cy="2844716"/>
          </a:xfrm>
        </p:grpSpPr>
        <p:sp>
          <p:nvSpPr>
            <p:cNvPr id="11" name="Google Shape;402;p24"/>
            <p:cNvSpPr txBox="1"/>
            <p:nvPr/>
          </p:nvSpPr>
          <p:spPr>
            <a:xfrm>
              <a:off x="1434263" y="2283881"/>
              <a:ext cx="759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01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15" name="Google Shape;404;p24"/>
            <p:cNvSpPr txBox="1"/>
            <p:nvPr/>
          </p:nvSpPr>
          <p:spPr>
            <a:xfrm>
              <a:off x="951684" y="2649581"/>
              <a:ext cx="1806765" cy="24790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sz="2400" b="1" dirty="0" err="1">
                  <a:solidFill>
                    <a:srgbClr val="FFFF0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mo‘ljal</a:t>
              </a:r>
              <a:r>
                <a:rPr lang="en-US" sz="2400" b="1" dirty="0">
                  <a:solidFill>
                    <a:srgbClr val="FFFF0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.</a:t>
              </a:r>
              <a:br>
                <a:rPr lang="en-US" sz="2400" b="1" dirty="0">
                  <a:solidFill>
                    <a:srgbClr val="FFFF0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</a:br>
              <a:r>
                <a:rPr lang="en-US" sz="2400" b="1" dirty="0">
                  <a:solidFill>
                    <a:srgbClr val="FFFF0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(</a:t>
              </a:r>
              <a:r>
                <a:rPr lang="en-US" sz="2400" b="1" dirty="0" err="1">
                  <a:solidFill>
                    <a:srgbClr val="FFFF0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masofa</a:t>
              </a:r>
              <a:r>
                <a:rPr lang="en-US" sz="2400" b="1" dirty="0">
                  <a:solidFill>
                    <a:srgbClr val="FFFF0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);</a:t>
              </a:r>
            </a:p>
          </p:txBody>
        </p:sp>
      </p:grpSp>
      <p:grpSp>
        <p:nvGrpSpPr>
          <p:cNvPr id="17" name="Google Shape;406;p24"/>
          <p:cNvGrpSpPr/>
          <p:nvPr/>
        </p:nvGrpSpPr>
        <p:grpSpPr>
          <a:xfrm>
            <a:off x="3860502" y="1526163"/>
            <a:ext cx="1603864" cy="2844716"/>
            <a:chOff x="2917285" y="2283881"/>
            <a:chExt cx="1603864" cy="2844716"/>
          </a:xfrm>
        </p:grpSpPr>
        <p:sp>
          <p:nvSpPr>
            <p:cNvPr id="20" name="Google Shape;407;p24"/>
            <p:cNvSpPr txBox="1"/>
            <p:nvPr/>
          </p:nvSpPr>
          <p:spPr>
            <a:xfrm>
              <a:off x="3273085" y="2283881"/>
              <a:ext cx="759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02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22" name="Google Shape;409;p24"/>
            <p:cNvSpPr txBox="1"/>
            <p:nvPr/>
          </p:nvSpPr>
          <p:spPr>
            <a:xfrm>
              <a:off x="2917285" y="2649581"/>
              <a:ext cx="1603864" cy="24790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sz="2400" b="1" dirty="0" err="1">
                  <a:solidFill>
                    <a:srgbClr val="FFFF0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mo‘ljallash</a:t>
              </a:r>
              <a:r>
                <a:rPr lang="en-US" sz="2400" b="1" dirty="0">
                  <a:solidFill>
                    <a:srgbClr val="FFFF0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2400" b="1" dirty="0" err="1">
                  <a:solidFill>
                    <a:srgbClr val="FFFF0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markasi</a:t>
              </a:r>
              <a:r>
                <a:rPr lang="en-US" sz="2400" b="1" dirty="0">
                  <a:solidFill>
                    <a:srgbClr val="FFFF0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(</a:t>
              </a:r>
              <a:r>
                <a:rPr lang="en-US" sz="2400" b="1" dirty="0" err="1">
                  <a:solidFill>
                    <a:srgbClr val="FFFF0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yonlanma</a:t>
              </a:r>
              <a:r>
                <a:rPr lang="en-US" sz="2400" b="1" dirty="0">
                  <a:solidFill>
                    <a:srgbClr val="FFFF0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2400" b="1" dirty="0" err="1">
                  <a:solidFill>
                    <a:srgbClr val="FFFF0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shkalariga</a:t>
              </a:r>
              <a:r>
                <a:rPr lang="en-US" sz="2400" b="1" dirty="0">
                  <a:solidFill>
                    <a:srgbClr val="FFFF0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2400" b="1" dirty="0" err="1">
                  <a:solidFill>
                    <a:srgbClr val="FFFF0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tuzatma</a:t>
              </a:r>
              <a:r>
                <a:rPr lang="en-US" sz="2400" b="1" dirty="0">
                  <a:solidFill>
                    <a:srgbClr val="FFFF0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);</a:t>
              </a:r>
            </a:p>
          </p:txBody>
        </p:sp>
      </p:grpSp>
      <p:grpSp>
        <p:nvGrpSpPr>
          <p:cNvPr id="24" name="Google Shape;411;p24"/>
          <p:cNvGrpSpPr/>
          <p:nvPr/>
        </p:nvGrpSpPr>
        <p:grpSpPr>
          <a:xfrm>
            <a:off x="5716883" y="1526163"/>
            <a:ext cx="1587300" cy="2729050"/>
            <a:chOff x="4773666" y="2283881"/>
            <a:chExt cx="1587300" cy="2729050"/>
          </a:xfrm>
        </p:grpSpPr>
        <p:sp>
          <p:nvSpPr>
            <p:cNvPr id="25" name="Google Shape;412;p24"/>
            <p:cNvSpPr txBox="1"/>
            <p:nvPr/>
          </p:nvSpPr>
          <p:spPr>
            <a:xfrm>
              <a:off x="5110407" y="2283881"/>
              <a:ext cx="762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03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27" name="Google Shape;414;p24"/>
            <p:cNvSpPr txBox="1"/>
            <p:nvPr/>
          </p:nvSpPr>
          <p:spPr>
            <a:xfrm>
              <a:off x="4773666" y="2649581"/>
              <a:ext cx="1587300" cy="2363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it-IT" sz="2400" b="1" dirty="0">
                  <a:solidFill>
                    <a:srgbClr val="FFFF0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mo‘ljallash nuqtasi (yuqori, o‘rta va pastki nuqta).</a:t>
              </a:r>
            </a:p>
          </p:txBody>
        </p:sp>
      </p:grpSp>
      <p:cxnSp>
        <p:nvCxnSpPr>
          <p:cNvPr id="68" name="Google Shape;455;p24"/>
          <p:cNvCxnSpPr>
            <a:endCxn id="11" idx="0"/>
          </p:cNvCxnSpPr>
          <p:nvPr/>
        </p:nvCxnSpPr>
        <p:spPr>
          <a:xfrm rot="10800000" flipV="1">
            <a:off x="2756981" y="1201907"/>
            <a:ext cx="3677643" cy="324256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69" name="Google Shape;456;p24"/>
          <p:cNvCxnSpPr>
            <a:endCxn id="25" idx="0"/>
          </p:cNvCxnSpPr>
          <p:nvPr/>
        </p:nvCxnSpPr>
        <p:spPr>
          <a:xfrm rot="16200000" flipH="1">
            <a:off x="6263904" y="1355443"/>
            <a:ext cx="324258" cy="17181"/>
          </a:xfrm>
          <a:prstGeom prst="bentConnector3">
            <a:avLst>
              <a:gd name="adj1" fmla="val -964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8" name="Google Shape;456;p24"/>
          <p:cNvCxnSpPr/>
          <p:nvPr/>
        </p:nvCxnSpPr>
        <p:spPr>
          <a:xfrm rot="16200000" flipH="1">
            <a:off x="4425081" y="1353386"/>
            <a:ext cx="324258" cy="17181"/>
          </a:xfrm>
          <a:prstGeom prst="bentConnector3">
            <a:avLst>
              <a:gd name="adj1" fmla="val -964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49" name="Google Shape;155;p20"/>
          <p:cNvGrpSpPr/>
          <p:nvPr/>
        </p:nvGrpSpPr>
        <p:grpSpPr>
          <a:xfrm rot="-5400000">
            <a:off x="8624907" y="3418119"/>
            <a:ext cx="362321" cy="364231"/>
            <a:chOff x="6069423" y="2891892"/>
            <a:chExt cx="362321" cy="364231"/>
          </a:xfrm>
        </p:grpSpPr>
        <p:sp>
          <p:nvSpPr>
            <p:cNvPr id="50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162;p20"/>
          <p:cNvSpPr/>
          <p:nvPr/>
        </p:nvSpPr>
        <p:spPr>
          <a:xfrm rot="-5400000">
            <a:off x="6284015" y="2392846"/>
            <a:ext cx="5044107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1-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o‘quv</a:t>
            </a:r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savoli</a:t>
            </a:r>
            <a:endParaRPr lang="en-US" sz="2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grpSp>
        <p:nvGrpSpPr>
          <p:cNvPr id="57" name="Google Shape;155;p20"/>
          <p:cNvGrpSpPr/>
          <p:nvPr/>
        </p:nvGrpSpPr>
        <p:grpSpPr>
          <a:xfrm rot="-5400000">
            <a:off x="8624907" y="1435083"/>
            <a:ext cx="362321" cy="364231"/>
            <a:chOff x="6069423" y="2891892"/>
            <a:chExt cx="362321" cy="364231"/>
          </a:xfrm>
        </p:grpSpPr>
        <p:sp>
          <p:nvSpPr>
            <p:cNvPr id="58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84126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7;p15"/>
          <p:cNvSpPr txBox="1">
            <a:spLocks noGrp="1"/>
          </p:cNvSpPr>
          <p:nvPr>
            <p:ph type="ctrTitle"/>
          </p:nvPr>
        </p:nvSpPr>
        <p:spPr>
          <a:xfrm>
            <a:off x="139148" y="99393"/>
            <a:ext cx="8895521" cy="5356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</a:endParaRPr>
          </a:p>
        </p:txBody>
      </p:sp>
      <p:sp>
        <p:nvSpPr>
          <p:cNvPr id="10" name="Google Shape;57;p15"/>
          <p:cNvSpPr txBox="1">
            <a:spLocks/>
          </p:cNvSpPr>
          <p:nvPr/>
        </p:nvSpPr>
        <p:spPr>
          <a:xfrm>
            <a:off x="248479" y="7470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7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algn="ctr"/>
            <a:r>
              <a:rPr lang="en-US" sz="2800" dirty="0">
                <a:ln w="11430"/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BARCHA TUZATMALARNI ANIQLASH</a:t>
            </a:r>
          </a:p>
        </p:txBody>
      </p:sp>
      <p:grpSp>
        <p:nvGrpSpPr>
          <p:cNvPr id="9" name="Google Shape;401;p24"/>
          <p:cNvGrpSpPr/>
          <p:nvPr/>
        </p:nvGrpSpPr>
        <p:grpSpPr>
          <a:xfrm>
            <a:off x="1608463" y="1526163"/>
            <a:ext cx="2093203" cy="2844716"/>
            <a:chOff x="665246" y="2283881"/>
            <a:chExt cx="2093203" cy="2844716"/>
          </a:xfrm>
        </p:grpSpPr>
        <p:sp>
          <p:nvSpPr>
            <p:cNvPr id="11" name="Google Shape;402;p24"/>
            <p:cNvSpPr txBox="1"/>
            <p:nvPr/>
          </p:nvSpPr>
          <p:spPr>
            <a:xfrm>
              <a:off x="1434263" y="2283881"/>
              <a:ext cx="759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01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15" name="Google Shape;404;p24"/>
            <p:cNvSpPr txBox="1"/>
            <p:nvPr/>
          </p:nvSpPr>
          <p:spPr>
            <a:xfrm>
              <a:off x="665246" y="2649581"/>
              <a:ext cx="2093203" cy="24790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sz="24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meteorologik</a:t>
              </a:r>
              <a:r>
                <a:rPr lang="en-US" sz="24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24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sharoit</a:t>
              </a:r>
              <a:r>
                <a:rPr lang="en-US" sz="24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;</a:t>
              </a:r>
            </a:p>
          </p:txBody>
        </p:sp>
      </p:grpSp>
      <p:grpSp>
        <p:nvGrpSpPr>
          <p:cNvPr id="17" name="Google Shape;406;p24"/>
          <p:cNvGrpSpPr/>
          <p:nvPr/>
        </p:nvGrpSpPr>
        <p:grpSpPr>
          <a:xfrm>
            <a:off x="3860502" y="1526163"/>
            <a:ext cx="1603864" cy="2844716"/>
            <a:chOff x="2917285" y="2283881"/>
            <a:chExt cx="1603864" cy="2844716"/>
          </a:xfrm>
        </p:grpSpPr>
        <p:sp>
          <p:nvSpPr>
            <p:cNvPr id="20" name="Google Shape;407;p24"/>
            <p:cNvSpPr txBox="1"/>
            <p:nvPr/>
          </p:nvSpPr>
          <p:spPr>
            <a:xfrm>
              <a:off x="3273085" y="2283881"/>
              <a:ext cx="759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02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22" name="Google Shape;409;p24"/>
            <p:cNvSpPr txBox="1"/>
            <p:nvPr/>
          </p:nvSpPr>
          <p:spPr>
            <a:xfrm>
              <a:off x="2917285" y="2649581"/>
              <a:ext cx="1603864" cy="24790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sz="24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balistik</a:t>
              </a:r>
              <a:r>
                <a:rPr lang="en-US" sz="24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 </a:t>
              </a:r>
              <a:r>
                <a:rPr lang="en-US" sz="24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sharoit</a:t>
              </a:r>
              <a:r>
                <a:rPr lang="en-US" sz="24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;</a:t>
              </a:r>
            </a:p>
          </p:txBody>
        </p:sp>
      </p:grpSp>
      <p:grpSp>
        <p:nvGrpSpPr>
          <p:cNvPr id="24" name="Google Shape;411;p24"/>
          <p:cNvGrpSpPr/>
          <p:nvPr/>
        </p:nvGrpSpPr>
        <p:grpSpPr>
          <a:xfrm>
            <a:off x="5716883" y="1526163"/>
            <a:ext cx="1587300" cy="2729050"/>
            <a:chOff x="4773666" y="2283881"/>
            <a:chExt cx="1587300" cy="2729050"/>
          </a:xfrm>
        </p:grpSpPr>
        <p:sp>
          <p:nvSpPr>
            <p:cNvPr id="25" name="Google Shape;412;p24"/>
            <p:cNvSpPr txBox="1"/>
            <p:nvPr/>
          </p:nvSpPr>
          <p:spPr>
            <a:xfrm>
              <a:off x="5110407" y="2283881"/>
              <a:ext cx="762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03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27" name="Google Shape;414;p24"/>
            <p:cNvSpPr txBox="1"/>
            <p:nvPr/>
          </p:nvSpPr>
          <p:spPr>
            <a:xfrm>
              <a:off x="4773666" y="2649581"/>
              <a:ext cx="1587300" cy="2363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it-IT" sz="24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topografik sharoit.</a:t>
              </a:r>
            </a:p>
          </p:txBody>
        </p:sp>
      </p:grpSp>
      <p:cxnSp>
        <p:nvCxnSpPr>
          <p:cNvPr id="68" name="Google Shape;455;p24"/>
          <p:cNvCxnSpPr>
            <a:endCxn id="11" idx="0"/>
          </p:cNvCxnSpPr>
          <p:nvPr/>
        </p:nvCxnSpPr>
        <p:spPr>
          <a:xfrm rot="10800000" flipV="1">
            <a:off x="2756981" y="1201907"/>
            <a:ext cx="3677643" cy="324256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69" name="Google Shape;456;p24"/>
          <p:cNvCxnSpPr>
            <a:endCxn id="25" idx="0"/>
          </p:cNvCxnSpPr>
          <p:nvPr/>
        </p:nvCxnSpPr>
        <p:spPr>
          <a:xfrm rot="16200000" flipH="1">
            <a:off x="6263904" y="1355443"/>
            <a:ext cx="324258" cy="17181"/>
          </a:xfrm>
          <a:prstGeom prst="bentConnector3">
            <a:avLst>
              <a:gd name="adj1" fmla="val -964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8" name="Google Shape;456;p24"/>
          <p:cNvCxnSpPr/>
          <p:nvPr/>
        </p:nvCxnSpPr>
        <p:spPr>
          <a:xfrm rot="16200000" flipH="1">
            <a:off x="4425081" y="1353386"/>
            <a:ext cx="324258" cy="17181"/>
          </a:xfrm>
          <a:prstGeom prst="bentConnector3">
            <a:avLst>
              <a:gd name="adj1" fmla="val -964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" name="Прямоугольник 3"/>
          <p:cNvSpPr/>
          <p:nvPr/>
        </p:nvSpPr>
        <p:spPr>
          <a:xfrm>
            <a:off x="3768735" y="241786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>
              <a:effectLst/>
            </a:endParaRPr>
          </a:p>
        </p:txBody>
      </p:sp>
      <p:grpSp>
        <p:nvGrpSpPr>
          <p:cNvPr id="19" name="Google Shape;155;p20"/>
          <p:cNvGrpSpPr/>
          <p:nvPr/>
        </p:nvGrpSpPr>
        <p:grpSpPr>
          <a:xfrm rot="-5400000">
            <a:off x="8624907" y="3418119"/>
            <a:ext cx="362321" cy="364231"/>
            <a:chOff x="6069423" y="2891892"/>
            <a:chExt cx="362321" cy="364231"/>
          </a:xfrm>
        </p:grpSpPr>
        <p:sp>
          <p:nvSpPr>
            <p:cNvPr id="21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162;p20"/>
          <p:cNvSpPr/>
          <p:nvPr/>
        </p:nvSpPr>
        <p:spPr>
          <a:xfrm rot="-5400000">
            <a:off x="6284015" y="2392846"/>
            <a:ext cx="5044107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1-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o‘quv</a:t>
            </a:r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savoli</a:t>
            </a:r>
            <a:endParaRPr lang="en-US" sz="2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grpSp>
        <p:nvGrpSpPr>
          <p:cNvPr id="32" name="Google Shape;155;p20"/>
          <p:cNvGrpSpPr/>
          <p:nvPr/>
        </p:nvGrpSpPr>
        <p:grpSpPr>
          <a:xfrm rot="-5400000">
            <a:off x="8624907" y="1435083"/>
            <a:ext cx="362321" cy="364231"/>
            <a:chOff x="6069423" y="2891892"/>
            <a:chExt cx="362321" cy="364231"/>
          </a:xfrm>
        </p:grpSpPr>
        <p:sp>
          <p:nvSpPr>
            <p:cNvPr id="33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52542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7;p15"/>
          <p:cNvSpPr txBox="1">
            <a:spLocks noGrp="1"/>
          </p:cNvSpPr>
          <p:nvPr>
            <p:ph type="ctrTitle"/>
          </p:nvPr>
        </p:nvSpPr>
        <p:spPr>
          <a:xfrm>
            <a:off x="139148" y="99393"/>
            <a:ext cx="8895521" cy="5356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</a:endParaRPr>
          </a:p>
        </p:txBody>
      </p:sp>
      <p:sp>
        <p:nvSpPr>
          <p:cNvPr id="10" name="Google Shape;57;p15"/>
          <p:cNvSpPr txBox="1">
            <a:spLocks/>
          </p:cNvSpPr>
          <p:nvPr/>
        </p:nvSpPr>
        <p:spPr>
          <a:xfrm>
            <a:off x="1514076" y="639160"/>
            <a:ext cx="7058043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7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Rajdhani"/>
              <a:buNone/>
              <a:defRPr sz="52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algn="ctr"/>
            <a:r>
              <a:rPr lang="en-US" sz="2800" dirty="0">
                <a:ln w="11430"/>
                <a:solidFill>
                  <a:schemeClr val="accent4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OTISHGA TUZATMA KIRITISH</a:t>
            </a:r>
          </a:p>
        </p:txBody>
      </p:sp>
      <p:grpSp>
        <p:nvGrpSpPr>
          <p:cNvPr id="9" name="Google Shape;401;p24"/>
          <p:cNvGrpSpPr/>
          <p:nvPr/>
        </p:nvGrpSpPr>
        <p:grpSpPr>
          <a:xfrm>
            <a:off x="271061" y="1545147"/>
            <a:ext cx="2093203" cy="2844716"/>
            <a:chOff x="665246" y="2283881"/>
            <a:chExt cx="2093203" cy="2844716"/>
          </a:xfrm>
        </p:grpSpPr>
        <p:sp>
          <p:nvSpPr>
            <p:cNvPr id="11" name="Google Shape;402;p24"/>
            <p:cNvSpPr txBox="1"/>
            <p:nvPr/>
          </p:nvSpPr>
          <p:spPr>
            <a:xfrm>
              <a:off x="1434263" y="2283881"/>
              <a:ext cx="759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01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15" name="Google Shape;404;p24"/>
            <p:cNvSpPr txBox="1"/>
            <p:nvPr/>
          </p:nvSpPr>
          <p:spPr>
            <a:xfrm>
              <a:off x="665246" y="2649581"/>
              <a:ext cx="2093203" cy="24790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sz="24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masofa</a:t>
              </a:r>
              <a:endParaRPr lang="en-US" sz="2400" b="1" dirty="0">
                <a:solidFill>
                  <a:srgbClr val="0070C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endParaRPr>
            </a:p>
          </p:txBody>
        </p:sp>
      </p:grpSp>
      <p:grpSp>
        <p:nvGrpSpPr>
          <p:cNvPr id="17" name="Google Shape;406;p24"/>
          <p:cNvGrpSpPr/>
          <p:nvPr/>
        </p:nvGrpSpPr>
        <p:grpSpPr>
          <a:xfrm>
            <a:off x="2500518" y="1545147"/>
            <a:ext cx="1603864" cy="2844716"/>
            <a:chOff x="2917285" y="2283881"/>
            <a:chExt cx="1603864" cy="2844716"/>
          </a:xfrm>
        </p:grpSpPr>
        <p:sp>
          <p:nvSpPr>
            <p:cNvPr id="20" name="Google Shape;407;p24"/>
            <p:cNvSpPr txBox="1"/>
            <p:nvPr/>
          </p:nvSpPr>
          <p:spPr>
            <a:xfrm>
              <a:off x="3273085" y="2283881"/>
              <a:ext cx="759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02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22" name="Google Shape;409;p24"/>
            <p:cNvSpPr txBox="1"/>
            <p:nvPr/>
          </p:nvSpPr>
          <p:spPr>
            <a:xfrm>
              <a:off x="2917285" y="2649581"/>
              <a:ext cx="1603864" cy="24790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sz="2400" b="1" dirty="0" err="1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shamol</a:t>
              </a:r>
              <a:endParaRPr lang="en-US" sz="2400" b="1" dirty="0">
                <a:solidFill>
                  <a:srgbClr val="0070C0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endParaRPr>
            </a:p>
          </p:txBody>
        </p:sp>
      </p:grpSp>
      <p:grpSp>
        <p:nvGrpSpPr>
          <p:cNvPr id="24" name="Google Shape;411;p24"/>
          <p:cNvGrpSpPr/>
          <p:nvPr/>
        </p:nvGrpSpPr>
        <p:grpSpPr>
          <a:xfrm>
            <a:off x="4356899" y="1545147"/>
            <a:ext cx="1587300" cy="2729050"/>
            <a:chOff x="4773666" y="2283881"/>
            <a:chExt cx="1587300" cy="2729050"/>
          </a:xfrm>
        </p:grpSpPr>
        <p:sp>
          <p:nvSpPr>
            <p:cNvPr id="25" name="Google Shape;412;p24"/>
            <p:cNvSpPr txBox="1"/>
            <p:nvPr/>
          </p:nvSpPr>
          <p:spPr>
            <a:xfrm>
              <a:off x="5110407" y="2283881"/>
              <a:ext cx="762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03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27" name="Google Shape;414;p24"/>
            <p:cNvSpPr txBox="1"/>
            <p:nvPr/>
          </p:nvSpPr>
          <p:spPr>
            <a:xfrm>
              <a:off x="4773666" y="2649581"/>
              <a:ext cx="1587300" cy="2363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it-IT" sz="24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nishon harakati</a:t>
              </a:r>
            </a:p>
          </p:txBody>
        </p:sp>
      </p:grpSp>
      <p:cxnSp>
        <p:nvCxnSpPr>
          <p:cNvPr id="68" name="Google Shape;455;p24"/>
          <p:cNvCxnSpPr/>
          <p:nvPr/>
        </p:nvCxnSpPr>
        <p:spPr>
          <a:xfrm rot="10800000" flipV="1">
            <a:off x="1396997" y="1198857"/>
            <a:ext cx="3677643" cy="324256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69" name="Google Shape;456;p24"/>
          <p:cNvCxnSpPr>
            <a:endCxn id="25" idx="0"/>
          </p:cNvCxnSpPr>
          <p:nvPr/>
        </p:nvCxnSpPr>
        <p:spPr>
          <a:xfrm rot="16200000" flipH="1">
            <a:off x="4903920" y="1374427"/>
            <a:ext cx="324258" cy="17181"/>
          </a:xfrm>
          <a:prstGeom prst="bentConnector3">
            <a:avLst>
              <a:gd name="adj1" fmla="val -964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8" name="Google Shape;456;p24"/>
          <p:cNvCxnSpPr/>
          <p:nvPr/>
        </p:nvCxnSpPr>
        <p:spPr>
          <a:xfrm flipV="1">
            <a:off x="4578619" y="1199847"/>
            <a:ext cx="4135726" cy="1"/>
          </a:xfrm>
          <a:prstGeom prst="bentConnector3">
            <a:avLst>
              <a:gd name="adj1" fmla="val 91556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" name="Прямоугольник 3"/>
          <p:cNvSpPr/>
          <p:nvPr/>
        </p:nvSpPr>
        <p:spPr>
          <a:xfrm>
            <a:off x="2408751" y="2436846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>
              <a:effectLst/>
            </a:endParaRPr>
          </a:p>
        </p:txBody>
      </p:sp>
      <p:cxnSp>
        <p:nvCxnSpPr>
          <p:cNvPr id="21" name="Google Shape;456;p24"/>
          <p:cNvCxnSpPr/>
          <p:nvPr/>
        </p:nvCxnSpPr>
        <p:spPr>
          <a:xfrm rot="16200000" flipH="1">
            <a:off x="3065098" y="1359297"/>
            <a:ext cx="324258" cy="17181"/>
          </a:xfrm>
          <a:prstGeom prst="bentConnector3">
            <a:avLst>
              <a:gd name="adj1" fmla="val -964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3" name="Google Shape;456;p24"/>
          <p:cNvCxnSpPr/>
          <p:nvPr/>
        </p:nvCxnSpPr>
        <p:spPr>
          <a:xfrm rot="16200000" flipH="1">
            <a:off x="7031172" y="1352395"/>
            <a:ext cx="324258" cy="17181"/>
          </a:xfrm>
          <a:prstGeom prst="bentConnector3">
            <a:avLst>
              <a:gd name="adj1" fmla="val -964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" name="Google Shape;456;p24"/>
          <p:cNvCxnSpPr/>
          <p:nvPr/>
        </p:nvCxnSpPr>
        <p:spPr>
          <a:xfrm rot="16200000" flipH="1">
            <a:off x="8552216" y="1352395"/>
            <a:ext cx="324258" cy="17181"/>
          </a:xfrm>
          <a:prstGeom prst="bentConnector3">
            <a:avLst>
              <a:gd name="adj1" fmla="val -964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28" name="Google Shape;411;p24"/>
          <p:cNvGrpSpPr/>
          <p:nvPr/>
        </p:nvGrpSpPr>
        <p:grpSpPr>
          <a:xfrm>
            <a:off x="6408242" y="1545147"/>
            <a:ext cx="1587300" cy="2729050"/>
            <a:chOff x="4773666" y="2283881"/>
            <a:chExt cx="1587300" cy="2729050"/>
          </a:xfrm>
        </p:grpSpPr>
        <p:sp>
          <p:nvSpPr>
            <p:cNvPr id="29" name="Google Shape;412;p24"/>
            <p:cNvSpPr txBox="1"/>
            <p:nvPr/>
          </p:nvSpPr>
          <p:spPr>
            <a:xfrm>
              <a:off x="5110407" y="2283881"/>
              <a:ext cx="762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04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30" name="Google Shape;414;p24"/>
            <p:cNvSpPr txBox="1"/>
            <p:nvPr/>
          </p:nvSpPr>
          <p:spPr>
            <a:xfrm>
              <a:off x="4773666" y="2649581"/>
              <a:ext cx="1587300" cy="2363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it-IT" sz="24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nishon tezligi</a:t>
              </a:r>
            </a:p>
          </p:txBody>
        </p:sp>
      </p:grpSp>
      <p:grpSp>
        <p:nvGrpSpPr>
          <p:cNvPr id="34" name="Google Shape;411;p24"/>
          <p:cNvGrpSpPr/>
          <p:nvPr/>
        </p:nvGrpSpPr>
        <p:grpSpPr>
          <a:xfrm>
            <a:off x="7912104" y="1754187"/>
            <a:ext cx="1320031" cy="1547375"/>
            <a:chOff x="4773666" y="2305914"/>
            <a:chExt cx="1390075" cy="2707017"/>
          </a:xfrm>
        </p:grpSpPr>
        <p:sp>
          <p:nvSpPr>
            <p:cNvPr id="35" name="Google Shape;412;p24"/>
            <p:cNvSpPr txBox="1"/>
            <p:nvPr/>
          </p:nvSpPr>
          <p:spPr>
            <a:xfrm>
              <a:off x="5228429" y="2305914"/>
              <a:ext cx="762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05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36" name="Google Shape;414;p24"/>
            <p:cNvSpPr txBox="1"/>
            <p:nvPr/>
          </p:nvSpPr>
          <p:spPr>
            <a:xfrm>
              <a:off x="4773666" y="2649581"/>
              <a:ext cx="1390075" cy="2363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it-IT" sz="2400" b="1" dirty="0">
                  <a:solidFill>
                    <a:srgbClr val="0070C0"/>
                  </a:solidFill>
                  <a:latin typeface="Rajdhani" panose="020B0604020202020204" charset="0"/>
                  <a:ea typeface="Fira Sans Condensed"/>
                  <a:cs typeface="Rajdhani" panose="020B0604020202020204" charset="0"/>
                  <a:sym typeface="Fira Sans Condensed"/>
                </a:rPr>
                <a:t>havo harorati</a:t>
              </a:r>
            </a:p>
          </p:txBody>
        </p:sp>
      </p:grpSp>
      <p:sp>
        <p:nvSpPr>
          <p:cNvPr id="6" name="Прямоугольник 5"/>
          <p:cNvSpPr/>
          <p:nvPr/>
        </p:nvSpPr>
        <p:spPr>
          <a:xfrm>
            <a:off x="4161470" y="241786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>
              <a:effectLst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166279" y="241786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>
              <a:effectLst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848084" y="241786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>
              <a:effectLst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937050" y="241786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>
              <a:effectLst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933043" y="241786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>
              <a:effectLst/>
            </a:endParaRPr>
          </a:p>
        </p:txBody>
      </p:sp>
      <p:grpSp>
        <p:nvGrpSpPr>
          <p:cNvPr id="67" name="Google Shape;155;p20"/>
          <p:cNvGrpSpPr/>
          <p:nvPr/>
        </p:nvGrpSpPr>
        <p:grpSpPr>
          <a:xfrm rot="-5400000">
            <a:off x="67317" y="3387407"/>
            <a:ext cx="362321" cy="364231"/>
            <a:chOff x="6069423" y="2891892"/>
            <a:chExt cx="362321" cy="364231"/>
          </a:xfrm>
        </p:grpSpPr>
        <p:sp>
          <p:nvSpPr>
            <p:cNvPr id="70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162;p20"/>
          <p:cNvSpPr/>
          <p:nvPr/>
        </p:nvSpPr>
        <p:spPr>
          <a:xfrm rot="-5400000">
            <a:off x="-2273575" y="2362134"/>
            <a:ext cx="5044107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1-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o‘quv</a:t>
            </a:r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savoli</a:t>
            </a:r>
            <a:endParaRPr lang="en-US" sz="2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grpSp>
        <p:nvGrpSpPr>
          <p:cNvPr id="77" name="Google Shape;155;p20"/>
          <p:cNvGrpSpPr/>
          <p:nvPr/>
        </p:nvGrpSpPr>
        <p:grpSpPr>
          <a:xfrm rot="-5400000">
            <a:off x="67317" y="1404371"/>
            <a:ext cx="362321" cy="364231"/>
            <a:chOff x="6069423" y="2891892"/>
            <a:chExt cx="362321" cy="364231"/>
          </a:xfrm>
        </p:grpSpPr>
        <p:sp>
          <p:nvSpPr>
            <p:cNvPr id="79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84164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57;p15"/>
          <p:cNvSpPr txBox="1">
            <a:spLocks/>
          </p:cNvSpPr>
          <p:nvPr/>
        </p:nvSpPr>
        <p:spPr>
          <a:xfrm>
            <a:off x="139148" y="993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</a:endParaRPr>
          </a:p>
        </p:txBody>
      </p:sp>
      <p:grpSp>
        <p:nvGrpSpPr>
          <p:cNvPr id="48" name="Google Shape;155;p20"/>
          <p:cNvGrpSpPr/>
          <p:nvPr/>
        </p:nvGrpSpPr>
        <p:grpSpPr>
          <a:xfrm rot="-5400000">
            <a:off x="8624907" y="3418119"/>
            <a:ext cx="362321" cy="364231"/>
            <a:chOff x="6069423" y="2891892"/>
            <a:chExt cx="362321" cy="364231"/>
          </a:xfrm>
        </p:grpSpPr>
        <p:sp>
          <p:nvSpPr>
            <p:cNvPr id="49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Google Shape;162;p20"/>
          <p:cNvSpPr/>
          <p:nvPr/>
        </p:nvSpPr>
        <p:spPr>
          <a:xfrm rot="-5400000">
            <a:off x="6284015" y="2392846"/>
            <a:ext cx="5044107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1-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o‘quv</a:t>
            </a:r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savoli</a:t>
            </a:r>
            <a:endParaRPr lang="en-US" sz="2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grpSp>
        <p:nvGrpSpPr>
          <p:cNvPr id="57" name="Google Shape;155;p20"/>
          <p:cNvGrpSpPr/>
          <p:nvPr/>
        </p:nvGrpSpPr>
        <p:grpSpPr>
          <a:xfrm rot="-5400000">
            <a:off x="8624907" y="1435083"/>
            <a:ext cx="362321" cy="364231"/>
            <a:chOff x="6069423" y="2891892"/>
            <a:chExt cx="362321" cy="364231"/>
          </a:xfrm>
        </p:grpSpPr>
        <p:sp>
          <p:nvSpPr>
            <p:cNvPr id="58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Прямоугольник 1"/>
          <p:cNvSpPr/>
          <p:nvPr/>
        </p:nvSpPr>
        <p:spPr>
          <a:xfrm>
            <a:off x="297455" y="480764"/>
            <a:ext cx="8086381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3538" algn="just"/>
            <a:r>
              <a:rPr lang="uz-Cyrl-UZ" sz="1600" b="1" dirty="0">
                <a:solidFill>
                  <a:srgbClr val="FFFF00"/>
                </a:solidFill>
                <a:cs typeface="Rajdhani" panose="020B0604020202020204" charset="0"/>
              </a:rPr>
              <a:t>Meteorologik </a:t>
            </a:r>
            <a:r>
              <a:rPr lang="uz-Latn-UZ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sharoit</a:t>
            </a:r>
            <a:r>
              <a:rPr lang="en-US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:</a:t>
            </a:r>
            <a:endParaRPr lang="ru-RU" sz="1600" b="1" dirty="0">
              <a:solidFill>
                <a:srgbClr val="FFFF00"/>
              </a:solidFill>
              <a:cs typeface="Rajdhani" panose="020B0604020202020204" charset="0"/>
            </a:endParaRPr>
          </a:p>
          <a:p>
            <a:pPr indent="363538" algn="just"/>
            <a:r>
              <a:rPr lang="en-US" sz="1600" b="1" dirty="0" err="1">
                <a:solidFill>
                  <a:schemeClr val="accent4"/>
                </a:solidFill>
                <a:latin typeface="Rajdhani" panose="020B0604020202020204" charset="0"/>
                <a:cs typeface="Rajdhani" panose="020B0604020202020204" charset="0"/>
              </a:rPr>
              <a:t>qurol</a:t>
            </a:r>
            <a:r>
              <a:rPr lang="en-US" sz="1600" b="1" dirty="0">
                <a:solidFill>
                  <a:schemeClr val="accent4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600" b="1" dirty="0" err="1">
                <a:solidFill>
                  <a:schemeClr val="accent4"/>
                </a:solidFill>
                <a:latin typeface="Rajdhani" panose="020B0604020202020204" charset="0"/>
                <a:cs typeface="Rajdhani" panose="020B0604020202020204" charset="0"/>
              </a:rPr>
              <a:t>ufq</a:t>
            </a:r>
            <a:r>
              <a:rPr lang="uz-Cyrl-UZ" sz="1600" b="1" dirty="0">
                <a:solidFill>
                  <a:schemeClr val="accent4"/>
                </a:solidFill>
                <a:cs typeface="Rajdhani" panose="020B0604020202020204" charset="0"/>
              </a:rPr>
              <a:t>idagi atmosfera bosimi (barometrik bosim) s.u.750 mm;</a:t>
            </a:r>
            <a:endParaRPr lang="ru-RU" sz="1600" b="1" dirty="0">
              <a:solidFill>
                <a:schemeClr val="accent4"/>
              </a:solidFill>
              <a:cs typeface="Rajdhani" panose="020B0604020202020204" charset="0"/>
            </a:endParaRPr>
          </a:p>
          <a:p>
            <a:pPr indent="363538" algn="just"/>
            <a:r>
              <a:rPr lang="en-US" sz="1600" b="1" dirty="0" err="1">
                <a:solidFill>
                  <a:schemeClr val="accent4"/>
                </a:solidFill>
                <a:latin typeface="Rajdhani" panose="020B0604020202020204" charset="0"/>
                <a:cs typeface="Rajdhani" panose="020B0604020202020204" charset="0"/>
              </a:rPr>
              <a:t>qurol</a:t>
            </a:r>
            <a:r>
              <a:rPr lang="en-US" sz="1600" b="1" dirty="0">
                <a:solidFill>
                  <a:schemeClr val="accent4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600" b="1" dirty="0" err="1">
                <a:solidFill>
                  <a:schemeClr val="accent4"/>
                </a:solidFill>
                <a:latin typeface="Rajdhani" panose="020B0604020202020204" charset="0"/>
                <a:cs typeface="Rajdhani" panose="020B0604020202020204" charset="0"/>
              </a:rPr>
              <a:t>ufq</a:t>
            </a:r>
            <a:r>
              <a:rPr lang="uz-Cyrl-UZ" sz="1600" b="1" dirty="0">
                <a:solidFill>
                  <a:schemeClr val="accent4"/>
                </a:solidFill>
                <a:cs typeface="Rajdhani" panose="020B0604020202020204" charset="0"/>
              </a:rPr>
              <a:t>idagi xavo temperaturasi </a:t>
            </a:r>
            <a:r>
              <a:rPr lang="uz-Cyrl-UZ" sz="1600" b="1" dirty="0">
                <a:solidFill>
                  <a:schemeClr val="accent4"/>
                </a:solidFill>
                <a:cs typeface="Rajdhani" panose="020B0604020202020204" charset="0"/>
                <a:sym typeface="Symbol"/>
              </a:rPr>
              <a:t></a:t>
            </a:r>
            <a:r>
              <a:rPr lang="uz-Cyrl-UZ" sz="1600" b="1" dirty="0">
                <a:solidFill>
                  <a:schemeClr val="accent4"/>
                </a:solidFill>
                <a:cs typeface="Rajdhani" panose="020B0604020202020204" charset="0"/>
              </a:rPr>
              <a:t>15</a:t>
            </a:r>
            <a:r>
              <a:rPr lang="uz-Cyrl-UZ" sz="1600" b="1" dirty="0">
                <a:solidFill>
                  <a:schemeClr val="accent4"/>
                </a:solidFill>
                <a:cs typeface="Rajdhani" panose="020B0604020202020204" charset="0"/>
                <a:sym typeface="Symbol"/>
              </a:rPr>
              <a:t></a:t>
            </a:r>
            <a:r>
              <a:rPr lang="uz-Cyrl-UZ" sz="1600" b="1" dirty="0">
                <a:solidFill>
                  <a:schemeClr val="accent4"/>
                </a:solidFill>
                <a:cs typeface="Rajdhani" panose="020B0604020202020204" charset="0"/>
              </a:rPr>
              <a:t>S;</a:t>
            </a:r>
            <a:endParaRPr lang="ru-RU" sz="1600" b="1" dirty="0">
              <a:solidFill>
                <a:schemeClr val="accent4"/>
              </a:solidFill>
              <a:cs typeface="Rajdhani" panose="020B0604020202020204" charset="0"/>
            </a:endParaRPr>
          </a:p>
          <a:p>
            <a:pPr indent="363538" algn="just"/>
            <a:r>
              <a:rPr lang="uz-Cyrl-UZ" sz="1600" b="1" dirty="0">
                <a:solidFill>
                  <a:schemeClr val="accent4"/>
                </a:solidFill>
                <a:cs typeface="Rajdhani" panose="020B0604020202020204" charset="0"/>
              </a:rPr>
              <a:t>xavoning nisbiy namligi 50% (xavoda mavjud suv bug</a:t>
            </a:r>
            <a:r>
              <a:rPr lang="en-US" sz="1600" b="1" dirty="0">
                <a:solidFill>
                  <a:schemeClr val="accent4"/>
                </a:solidFill>
                <a:latin typeface="Rajdhani" panose="020B0604020202020204" charset="0"/>
                <a:cs typeface="Rajdhani" panose="020B0604020202020204" charset="0"/>
              </a:rPr>
              <a:t>’</a:t>
            </a:r>
            <a:r>
              <a:rPr lang="uz-Cyrl-UZ" sz="1600" b="1" dirty="0">
                <a:solidFill>
                  <a:schemeClr val="accent4"/>
                </a:solidFill>
                <a:cs typeface="Rajdhani" panose="020B0604020202020204" charset="0"/>
              </a:rPr>
              <a:t>lari mikdorining mazkur xaroratda xavoda bo‘lishi mumkin bo‘lgan suv bug</a:t>
            </a:r>
            <a:r>
              <a:rPr lang="en-US" sz="1600" b="1" dirty="0">
                <a:solidFill>
                  <a:schemeClr val="accent4"/>
                </a:solidFill>
                <a:latin typeface="Rajdhani" panose="020B0604020202020204" charset="0"/>
                <a:cs typeface="Rajdhani" panose="020B0604020202020204" charset="0"/>
              </a:rPr>
              <a:t>’</a:t>
            </a:r>
            <a:r>
              <a:rPr lang="uz-Cyrl-UZ" sz="1600" b="1" dirty="0">
                <a:solidFill>
                  <a:schemeClr val="accent4"/>
                </a:solidFill>
                <a:cs typeface="Rajdhani" panose="020B0604020202020204" charset="0"/>
              </a:rPr>
              <a:t>larining eng katta mi</a:t>
            </a:r>
            <a:r>
              <a:rPr lang="en-US" sz="1600" b="1" dirty="0">
                <a:solidFill>
                  <a:schemeClr val="accent4"/>
                </a:solidFill>
                <a:latin typeface="Rajdhani" panose="020B0604020202020204" charset="0"/>
                <a:cs typeface="Rajdhani" panose="020B0604020202020204" charset="0"/>
              </a:rPr>
              <a:t>q</a:t>
            </a:r>
            <a:r>
              <a:rPr lang="uz-Cyrl-UZ" sz="1600" b="1" dirty="0">
                <a:solidFill>
                  <a:schemeClr val="accent4"/>
                </a:solidFill>
                <a:cs typeface="Rajdhani" panose="020B0604020202020204" charset="0"/>
              </a:rPr>
              <a:t>doriga nisbati nisbiy namlik deb ataladi);</a:t>
            </a:r>
            <a:endParaRPr lang="ru-RU" sz="1600" b="1" dirty="0">
              <a:solidFill>
                <a:schemeClr val="accent4"/>
              </a:solidFill>
              <a:cs typeface="Rajdhani" panose="020B0604020202020204" charset="0"/>
            </a:endParaRPr>
          </a:p>
          <a:p>
            <a:pPr indent="363538" algn="just"/>
            <a:r>
              <a:rPr lang="uz-Cyrl-UZ" sz="1600" b="1" dirty="0">
                <a:solidFill>
                  <a:schemeClr val="accent4"/>
                </a:solidFill>
                <a:cs typeface="Rajdhani" panose="020B0604020202020204" charset="0"/>
              </a:rPr>
              <a:t>shamol yo‘q(atmosfera xarakatsiz);</a:t>
            </a:r>
            <a:endParaRPr lang="ru-RU" sz="1600" b="1" dirty="0">
              <a:solidFill>
                <a:schemeClr val="accent4"/>
              </a:solidFill>
              <a:cs typeface="Rajdhani" panose="020B0604020202020204" charset="0"/>
            </a:endParaRPr>
          </a:p>
          <a:p>
            <a:pPr indent="363538" algn="just"/>
            <a:r>
              <a:rPr lang="uz-Cyrl-UZ" sz="1600" b="1" dirty="0">
                <a:solidFill>
                  <a:srgbClr val="FFFF00"/>
                </a:solidFill>
                <a:cs typeface="Rajdhani" panose="020B0604020202020204" charset="0"/>
              </a:rPr>
              <a:t>Ballistik </a:t>
            </a:r>
            <a:r>
              <a:rPr lang="uz-Latn-UZ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sharoit</a:t>
            </a:r>
            <a:r>
              <a:rPr lang="en-US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:</a:t>
            </a:r>
            <a:endParaRPr lang="ru-RU" sz="1600" b="1" dirty="0">
              <a:solidFill>
                <a:srgbClr val="FFFF00"/>
              </a:solidFill>
              <a:cs typeface="Rajdhani" panose="020B0604020202020204" charset="0"/>
            </a:endParaRPr>
          </a:p>
          <a:p>
            <a:pPr indent="363538" algn="just"/>
            <a:r>
              <a:rPr lang="uz-Cyrl-UZ" sz="1600" b="1" dirty="0">
                <a:solidFill>
                  <a:schemeClr val="tx2"/>
                </a:solidFill>
                <a:cs typeface="Rajdhani" panose="020B0604020202020204" charset="0"/>
              </a:rPr>
              <a:t>o‘q(granata) og</a:t>
            </a:r>
            <a:r>
              <a:rPr lang="uz-Latn-UZ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’</a:t>
            </a:r>
            <a:r>
              <a:rPr lang="uz-Cyrl-UZ" sz="1600" b="1" dirty="0">
                <a:solidFill>
                  <a:schemeClr val="tx2"/>
                </a:solidFill>
                <a:cs typeface="Rajdhani" panose="020B0604020202020204" charset="0"/>
              </a:rPr>
              <a:t>irligi, boshlangich tezlik va uchish burchagi otish jadvallarida ko‘rsatilganidek;</a:t>
            </a:r>
            <a:endParaRPr lang="ru-RU" sz="1600" b="1" dirty="0">
              <a:solidFill>
                <a:schemeClr val="tx2"/>
              </a:solidFill>
              <a:cs typeface="Rajdhani" panose="020B0604020202020204" charset="0"/>
            </a:endParaRPr>
          </a:p>
          <a:p>
            <a:pPr indent="363538" algn="just"/>
            <a:r>
              <a:rPr lang="uz-Cyrl-UZ" sz="1600" b="1" dirty="0">
                <a:solidFill>
                  <a:schemeClr val="tx2"/>
                </a:solidFill>
                <a:cs typeface="Rajdhani" panose="020B0604020202020204" charset="0"/>
              </a:rPr>
              <a:t>zaryad temperaturasi </a:t>
            </a:r>
            <a:r>
              <a:rPr lang="uz-Cyrl-UZ" sz="1600" b="1" dirty="0">
                <a:solidFill>
                  <a:schemeClr val="tx2"/>
                </a:solidFill>
                <a:cs typeface="Rajdhani" panose="020B0604020202020204" charset="0"/>
                <a:sym typeface="Symbol"/>
              </a:rPr>
              <a:t></a:t>
            </a:r>
            <a:r>
              <a:rPr lang="uz-Cyrl-UZ" sz="1600" b="1" dirty="0">
                <a:solidFill>
                  <a:schemeClr val="tx2"/>
                </a:solidFill>
                <a:cs typeface="Rajdhani" panose="020B0604020202020204" charset="0"/>
              </a:rPr>
              <a:t>15</a:t>
            </a:r>
            <a:r>
              <a:rPr lang="uz-Cyrl-UZ" sz="1600" b="1" dirty="0">
                <a:solidFill>
                  <a:schemeClr val="tx2"/>
                </a:solidFill>
                <a:cs typeface="Rajdhani" panose="020B0604020202020204" charset="0"/>
                <a:sym typeface="Symbol"/>
              </a:rPr>
              <a:t></a:t>
            </a:r>
            <a:r>
              <a:rPr lang="uz-Cyrl-UZ" sz="1600" b="1" dirty="0">
                <a:solidFill>
                  <a:schemeClr val="tx2"/>
                </a:solidFill>
                <a:cs typeface="Rajdhani" panose="020B0604020202020204" charset="0"/>
              </a:rPr>
              <a:t>S;</a:t>
            </a:r>
            <a:endParaRPr lang="ru-RU" sz="1600" b="1" dirty="0">
              <a:solidFill>
                <a:schemeClr val="tx2"/>
              </a:solidFill>
              <a:cs typeface="Rajdhani" panose="020B0604020202020204" charset="0"/>
            </a:endParaRPr>
          </a:p>
          <a:p>
            <a:pPr indent="363538" algn="just"/>
            <a:r>
              <a:rPr lang="uz-Cyrl-UZ" sz="1600" b="1" dirty="0">
                <a:solidFill>
                  <a:schemeClr val="tx2"/>
                </a:solidFill>
                <a:cs typeface="Rajdhani" panose="020B0604020202020204" charset="0"/>
              </a:rPr>
              <a:t>o‘q(granata) ning shakli chizmada belgilangandek;</a:t>
            </a:r>
            <a:endParaRPr lang="ru-RU" sz="1600" b="1" dirty="0">
              <a:solidFill>
                <a:schemeClr val="tx2"/>
              </a:solidFill>
              <a:cs typeface="Rajdhani" panose="020B0604020202020204" charset="0"/>
            </a:endParaRPr>
          </a:p>
          <a:p>
            <a:pPr indent="363538" algn="just"/>
            <a:r>
              <a:rPr lang="uz-Cyrl-UZ" sz="1600" b="1" dirty="0">
                <a:solidFill>
                  <a:schemeClr val="tx2"/>
                </a:solidFill>
                <a:cs typeface="Rajdhani" panose="020B0604020202020204" charset="0"/>
              </a:rPr>
              <a:t>mushkaning balandligi </a:t>
            </a:r>
            <a:r>
              <a:rPr lang="en-US" sz="16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qurol</a:t>
            </a:r>
            <a:r>
              <a:rPr lang="uz-Cyrl-UZ" sz="1600" b="1" dirty="0">
                <a:solidFill>
                  <a:schemeClr val="tx2"/>
                </a:solidFill>
                <a:cs typeface="Rajdhani" panose="020B0604020202020204" charset="0"/>
              </a:rPr>
              <a:t>ni norma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l</a:t>
            </a:r>
            <a:r>
              <a:rPr lang="uz-Cyrl-UZ" sz="1600" b="1" dirty="0">
                <a:solidFill>
                  <a:schemeClr val="tx2"/>
                </a:solidFill>
                <a:cs typeface="Rajdhani" panose="020B0604020202020204" charset="0"/>
              </a:rPr>
              <a:t> uradigan xolatga keltirish ma’lumotlariga ko‘ra o‘rnatilgan; </a:t>
            </a:r>
            <a:endParaRPr lang="en-US" sz="1600" b="1" dirty="0">
              <a:solidFill>
                <a:schemeClr val="tx2"/>
              </a:solidFill>
              <a:cs typeface="Rajdhani" panose="020B0604020202020204" charset="0"/>
            </a:endParaRPr>
          </a:p>
          <a:p>
            <a:pPr indent="363538" algn="just"/>
            <a:r>
              <a:rPr lang="uz-Cyrl-UZ" sz="1600" b="1" dirty="0">
                <a:solidFill>
                  <a:schemeClr val="tx2"/>
                </a:solidFill>
                <a:cs typeface="Rajdhani" panose="020B0604020202020204" charset="0"/>
              </a:rPr>
              <a:t>mo‘ljallagichning balandligi (bo‘limlari) jadvalda belgilangan mo‘ljalga olish burchaklariga teng; </a:t>
            </a:r>
            <a:endParaRPr lang="ru-RU" sz="1600" b="1" dirty="0">
              <a:solidFill>
                <a:schemeClr val="tx2"/>
              </a:solidFill>
              <a:cs typeface="Rajdhani" panose="020B0604020202020204" charset="0"/>
            </a:endParaRPr>
          </a:p>
          <a:p>
            <a:pPr indent="363538" algn="just"/>
            <a:r>
              <a:rPr lang="uz-Cyrl-UZ" sz="1600" b="1" dirty="0">
                <a:solidFill>
                  <a:srgbClr val="FFFF00"/>
                </a:solidFill>
                <a:cs typeface="Rajdhani" panose="020B0604020202020204" charset="0"/>
              </a:rPr>
              <a:t>Topografik </a:t>
            </a:r>
            <a:r>
              <a:rPr lang="uz-Latn-UZ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sharoit</a:t>
            </a:r>
            <a:r>
              <a:rPr lang="en-US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:</a:t>
            </a:r>
            <a:endParaRPr lang="ru-RU" sz="1600" b="1" dirty="0">
              <a:solidFill>
                <a:srgbClr val="FFFF00"/>
              </a:solidFill>
              <a:cs typeface="Rajdhani" panose="020B0604020202020204" charset="0"/>
            </a:endParaRPr>
          </a:p>
          <a:p>
            <a:pPr indent="363538" algn="just"/>
            <a:r>
              <a:rPr lang="uz-Cyrl-UZ" sz="1600" b="1" dirty="0">
                <a:solidFill>
                  <a:schemeClr val="tx2"/>
                </a:solidFill>
                <a:cs typeface="Rajdhani" panose="020B0604020202020204" charset="0"/>
              </a:rPr>
              <a:t>nishon </a:t>
            </a:r>
            <a:r>
              <a:rPr lang="en-US" sz="16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qurol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ufq</a:t>
            </a:r>
            <a:r>
              <a:rPr lang="uz-Cyrl-UZ" sz="1600" b="1" dirty="0">
                <a:solidFill>
                  <a:schemeClr val="tx2"/>
                </a:solidFill>
                <a:cs typeface="Rajdhani" panose="020B0604020202020204" charset="0"/>
              </a:rPr>
              <a:t>ida joylashgan;</a:t>
            </a:r>
            <a:endParaRPr lang="ru-RU" sz="1600" b="1" dirty="0">
              <a:solidFill>
                <a:schemeClr val="tx2"/>
              </a:solidFill>
              <a:cs typeface="Rajdhani" panose="020B0604020202020204" charset="0"/>
            </a:endParaRPr>
          </a:p>
          <a:p>
            <a:pPr indent="363538" algn="just"/>
            <a:r>
              <a:rPr lang="en-US" sz="16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qurol</a:t>
            </a:r>
            <a:r>
              <a:rPr lang="uz-Cyrl-UZ" sz="1600" b="1" dirty="0">
                <a:solidFill>
                  <a:schemeClr val="tx2"/>
                </a:solidFill>
                <a:cs typeface="Rajdhani" panose="020B0604020202020204" charset="0"/>
              </a:rPr>
              <a:t>ning yondama 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q</a:t>
            </a:r>
            <a:r>
              <a:rPr lang="uz-Cyrl-UZ" sz="1600" b="1" dirty="0">
                <a:solidFill>
                  <a:schemeClr val="tx2"/>
                </a:solidFill>
                <a:cs typeface="Rajdhani" panose="020B0604020202020204" charset="0"/>
              </a:rPr>
              <a:t>iyaligi mavjud emas.</a:t>
            </a:r>
            <a:endParaRPr lang="ru-RU" sz="1600" b="1" dirty="0">
              <a:solidFill>
                <a:schemeClr val="tx2"/>
              </a:solidFill>
              <a:cs typeface="Rajdhani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691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57;p15"/>
          <p:cNvSpPr txBox="1">
            <a:spLocks/>
          </p:cNvSpPr>
          <p:nvPr/>
        </p:nvSpPr>
        <p:spPr>
          <a:xfrm>
            <a:off x="139148" y="993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</a:endParaRPr>
          </a:p>
        </p:txBody>
      </p:sp>
      <p:grpSp>
        <p:nvGrpSpPr>
          <p:cNvPr id="48" name="Google Shape;155;p20"/>
          <p:cNvGrpSpPr/>
          <p:nvPr/>
        </p:nvGrpSpPr>
        <p:grpSpPr>
          <a:xfrm rot="-5400000">
            <a:off x="8624907" y="3418119"/>
            <a:ext cx="362321" cy="364231"/>
            <a:chOff x="6069423" y="2891892"/>
            <a:chExt cx="362321" cy="364231"/>
          </a:xfrm>
        </p:grpSpPr>
        <p:sp>
          <p:nvSpPr>
            <p:cNvPr id="49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Google Shape;162;p20"/>
          <p:cNvSpPr/>
          <p:nvPr/>
        </p:nvSpPr>
        <p:spPr>
          <a:xfrm rot="-5400000">
            <a:off x="6284015" y="2392846"/>
            <a:ext cx="5044107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1-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o‘quv</a:t>
            </a:r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savoli</a:t>
            </a:r>
            <a:endParaRPr lang="en-US" sz="2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grpSp>
        <p:nvGrpSpPr>
          <p:cNvPr id="57" name="Google Shape;155;p20"/>
          <p:cNvGrpSpPr/>
          <p:nvPr/>
        </p:nvGrpSpPr>
        <p:grpSpPr>
          <a:xfrm rot="-5400000">
            <a:off x="8624907" y="1435083"/>
            <a:ext cx="362321" cy="364231"/>
            <a:chOff x="6069423" y="2891892"/>
            <a:chExt cx="362321" cy="364231"/>
          </a:xfrm>
        </p:grpSpPr>
        <p:sp>
          <p:nvSpPr>
            <p:cNvPr id="58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Google Shape;233;p21" title="Chart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11419" r="11365"/>
          <a:stretch/>
        </p:blipFill>
        <p:spPr>
          <a:xfrm>
            <a:off x="3379977" y="1594424"/>
            <a:ext cx="2391825" cy="24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57;p15"/>
          <p:cNvSpPr txBox="1">
            <a:spLocks/>
          </p:cNvSpPr>
          <p:nvPr/>
        </p:nvSpPr>
        <p:spPr>
          <a:xfrm>
            <a:off x="2541243" y="506988"/>
            <a:ext cx="4091329" cy="122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n-US" sz="4400" dirty="0">
                <a:solidFill>
                  <a:schemeClr val="tx2"/>
                </a:solidFill>
              </a:rPr>
              <a:t>XULOSA</a:t>
            </a:r>
            <a:endParaRPr lang="ru-RU" sz="4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013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57;p15"/>
          <p:cNvSpPr txBox="1">
            <a:spLocks/>
          </p:cNvSpPr>
          <p:nvPr/>
        </p:nvSpPr>
        <p:spPr>
          <a:xfrm>
            <a:off x="139148" y="993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</a:endParaRPr>
          </a:p>
        </p:txBody>
      </p:sp>
      <p:grpSp>
        <p:nvGrpSpPr>
          <p:cNvPr id="48" name="Google Shape;155;p20"/>
          <p:cNvGrpSpPr/>
          <p:nvPr/>
        </p:nvGrpSpPr>
        <p:grpSpPr>
          <a:xfrm rot="-5400000">
            <a:off x="8624907" y="3418119"/>
            <a:ext cx="362321" cy="364231"/>
            <a:chOff x="6069423" y="2891892"/>
            <a:chExt cx="362321" cy="364231"/>
          </a:xfrm>
        </p:grpSpPr>
        <p:sp>
          <p:nvSpPr>
            <p:cNvPr id="49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Google Shape;162;p20"/>
          <p:cNvSpPr/>
          <p:nvPr/>
        </p:nvSpPr>
        <p:spPr>
          <a:xfrm rot="-5400000">
            <a:off x="6284015" y="2392846"/>
            <a:ext cx="5044107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2-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o‘quv</a:t>
            </a:r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savoli</a:t>
            </a:r>
            <a:endParaRPr lang="en-US" sz="2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grpSp>
        <p:nvGrpSpPr>
          <p:cNvPr id="57" name="Google Shape;155;p20"/>
          <p:cNvGrpSpPr/>
          <p:nvPr/>
        </p:nvGrpSpPr>
        <p:grpSpPr>
          <a:xfrm rot="-5400000">
            <a:off x="8624907" y="1435083"/>
            <a:ext cx="362321" cy="364231"/>
            <a:chOff x="6069423" y="2891892"/>
            <a:chExt cx="362321" cy="364231"/>
          </a:xfrm>
        </p:grpSpPr>
        <p:sp>
          <p:nvSpPr>
            <p:cNvPr id="58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Прямоугольник 3"/>
          <p:cNvSpPr/>
          <p:nvPr/>
        </p:nvSpPr>
        <p:spPr>
          <a:xfrm>
            <a:off x="231354" y="660974"/>
            <a:ext cx="825797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3538" algn="just"/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Dala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sharoitida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o‘q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otish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mashqlari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nafaqat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texnik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ko‘nikmalarni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,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balki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tezkor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qaror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qabul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qilish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va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vaziyatni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to‘g‘ri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baholash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qobiliyatini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rivojlantiradi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. </a:t>
            </a:r>
          </a:p>
          <a:p>
            <a:pPr indent="363538" algn="just"/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Quyidagi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qoidalar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har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bir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kursant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tomonidan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yodda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saqlanishi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va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amalda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qo‘llanilishi</a:t>
            </a:r>
            <a:r>
              <a:rPr lang="en-US" sz="2400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lozim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:</a:t>
            </a:r>
          </a:p>
          <a:p>
            <a:pPr indent="363538" algn="just"/>
            <a:r>
              <a:rPr lang="en-US" sz="2400" b="1" dirty="0" err="1">
                <a:solidFill>
                  <a:schemeClr val="bg1"/>
                </a:solidFill>
                <a:cs typeface="Rajdhani" panose="020B0604020202020204" charset="0"/>
              </a:rPr>
              <a:t>xavfsizlik</a:t>
            </a:r>
            <a:r>
              <a:rPr lang="en-US" sz="2400" b="1" dirty="0">
                <a:solidFill>
                  <a:schemeClr val="bg1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cs typeface="Rajdhani" panose="020B0604020202020204" charset="0"/>
              </a:rPr>
              <a:t>qoidalari</a:t>
            </a:r>
            <a:r>
              <a:rPr lang="ru-RU" sz="2400" b="1" dirty="0">
                <a:solidFill>
                  <a:schemeClr val="bg1"/>
                </a:solidFill>
                <a:cs typeface="Rajdhani" panose="020B0604020202020204" charset="0"/>
              </a:rPr>
              <a:t>;</a:t>
            </a:r>
            <a:endParaRPr lang="en-US" sz="2400" b="1" dirty="0">
              <a:solidFill>
                <a:schemeClr val="bg1"/>
              </a:solidFill>
              <a:cs typeface="Rajdhani" panose="020B0604020202020204" charset="0"/>
            </a:endParaRPr>
          </a:p>
          <a:p>
            <a:pPr indent="363538" algn="just"/>
            <a:r>
              <a:rPr lang="en-US" sz="2400" b="1" dirty="0" err="1">
                <a:solidFill>
                  <a:schemeClr val="bg1"/>
                </a:solidFill>
                <a:cs typeface="Rajdhani" panose="020B0604020202020204" charset="0"/>
              </a:rPr>
              <a:t>to‘g‘ri</a:t>
            </a:r>
            <a:r>
              <a:rPr lang="en-US" sz="2400" b="1" dirty="0">
                <a:solidFill>
                  <a:schemeClr val="bg1"/>
                </a:solidFill>
                <a:cs typeface="Rajdhani" panose="020B0604020202020204" charset="0"/>
              </a:rPr>
              <a:t> tana </a:t>
            </a:r>
            <a:r>
              <a:rPr lang="en-US" sz="2400" b="1" dirty="0" err="1">
                <a:solidFill>
                  <a:schemeClr val="bg1"/>
                </a:solidFill>
                <a:cs typeface="Rajdhani" panose="020B0604020202020204" charset="0"/>
              </a:rPr>
              <a:t>pozitsiyasi</a:t>
            </a:r>
            <a:r>
              <a:rPr lang="ru-RU" sz="2400" b="1" dirty="0">
                <a:solidFill>
                  <a:schemeClr val="bg1"/>
                </a:solidFill>
                <a:cs typeface="Rajdhani" panose="020B0604020202020204" charset="0"/>
              </a:rPr>
              <a:t>;</a:t>
            </a:r>
            <a:r>
              <a:rPr lang="en-US" sz="2400" b="1" dirty="0">
                <a:solidFill>
                  <a:schemeClr val="bg1"/>
                </a:solidFill>
                <a:cs typeface="Rajdhani" panose="020B0604020202020204" charset="0"/>
              </a:rPr>
              <a:t> </a:t>
            </a:r>
          </a:p>
          <a:p>
            <a:pPr indent="363538" algn="just"/>
            <a:r>
              <a:rPr lang="en-US" sz="2400" b="1" dirty="0" err="1">
                <a:solidFill>
                  <a:schemeClr val="bg1"/>
                </a:solidFill>
                <a:cs typeface="Rajdhani" panose="020B0604020202020204" charset="0"/>
              </a:rPr>
              <a:t>nishonga</a:t>
            </a:r>
            <a:r>
              <a:rPr lang="en-US" sz="2400" b="1" dirty="0">
                <a:solidFill>
                  <a:schemeClr val="bg1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cs typeface="Rajdhani" panose="020B0604020202020204" charset="0"/>
              </a:rPr>
              <a:t>olish</a:t>
            </a:r>
            <a:r>
              <a:rPr lang="en-US" sz="2400" b="1" dirty="0">
                <a:solidFill>
                  <a:schemeClr val="bg1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cs typeface="Rajdhani" panose="020B0604020202020204" charset="0"/>
              </a:rPr>
              <a:t>va</a:t>
            </a:r>
            <a:r>
              <a:rPr lang="en-US" sz="2400" b="1" dirty="0">
                <a:solidFill>
                  <a:schemeClr val="bg1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cs typeface="Rajdhani" panose="020B0604020202020204" charset="0"/>
              </a:rPr>
              <a:t>nazorat</a:t>
            </a:r>
            <a:r>
              <a:rPr lang="ru-RU" sz="2400" b="1" dirty="0">
                <a:solidFill>
                  <a:schemeClr val="bg1"/>
                </a:solidFill>
                <a:cs typeface="Rajdhani" panose="020B0604020202020204" charset="0"/>
              </a:rPr>
              <a:t>;</a:t>
            </a:r>
            <a:r>
              <a:rPr lang="en-US" sz="2400" b="1" dirty="0">
                <a:solidFill>
                  <a:schemeClr val="bg1"/>
                </a:solidFill>
                <a:cs typeface="Rajdhani" panose="020B0604020202020204" charset="0"/>
              </a:rPr>
              <a:t> </a:t>
            </a:r>
          </a:p>
          <a:p>
            <a:pPr indent="363538" algn="just"/>
            <a:r>
              <a:rPr lang="en-US" sz="2400" b="1" dirty="0" err="1">
                <a:solidFill>
                  <a:schemeClr val="bg1"/>
                </a:solidFill>
                <a:cs typeface="Rajdhani" panose="020B0604020202020204" charset="0"/>
              </a:rPr>
              <a:t>o‘q</a:t>
            </a:r>
            <a:r>
              <a:rPr lang="en-US" sz="2400" b="1" dirty="0">
                <a:solidFill>
                  <a:schemeClr val="bg1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cs typeface="Rajdhani" panose="020B0604020202020204" charset="0"/>
              </a:rPr>
              <a:t>otish</a:t>
            </a:r>
            <a:r>
              <a:rPr lang="en-US" sz="2400" b="1" dirty="0">
                <a:solidFill>
                  <a:schemeClr val="bg1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cs typeface="Rajdhani" panose="020B0604020202020204" charset="0"/>
              </a:rPr>
              <a:t>ketma-ketligi</a:t>
            </a:r>
            <a:r>
              <a:rPr lang="ru-RU" sz="2400" b="1" dirty="0">
                <a:solidFill>
                  <a:schemeClr val="bg1"/>
                </a:solidFill>
                <a:cs typeface="Rajdhani" panose="020B0604020202020204" charset="0"/>
              </a:rPr>
              <a:t>;</a:t>
            </a:r>
            <a:endParaRPr lang="en-US" sz="2400" b="1" dirty="0">
              <a:solidFill>
                <a:schemeClr val="bg1"/>
              </a:solidFill>
              <a:cs typeface="Rajdhani" panose="020B0604020202020204" charset="0"/>
            </a:endParaRPr>
          </a:p>
          <a:p>
            <a:pPr indent="363538" algn="just"/>
            <a:r>
              <a:rPr lang="en-US" sz="2400" b="1" dirty="0" err="1">
                <a:solidFill>
                  <a:schemeClr val="bg1"/>
                </a:solidFill>
                <a:cs typeface="Rajdhani" panose="020B0604020202020204" charset="0"/>
              </a:rPr>
              <a:t>atmosfera</a:t>
            </a:r>
            <a:r>
              <a:rPr lang="en-US" sz="2400" b="1" dirty="0">
                <a:solidFill>
                  <a:schemeClr val="bg1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cs typeface="Rajdhani" panose="020B0604020202020204" charset="0"/>
              </a:rPr>
              <a:t>va</a:t>
            </a:r>
            <a:r>
              <a:rPr lang="en-US" sz="2400" b="1" dirty="0">
                <a:solidFill>
                  <a:schemeClr val="bg1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cs typeface="Rajdhani" panose="020B0604020202020204" charset="0"/>
              </a:rPr>
              <a:t>ob-havo</a:t>
            </a:r>
            <a:r>
              <a:rPr lang="en-US" sz="2400" b="1" dirty="0">
                <a:solidFill>
                  <a:schemeClr val="bg1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cs typeface="Rajdhani" panose="020B0604020202020204" charset="0"/>
              </a:rPr>
              <a:t>sharoitlarini</a:t>
            </a:r>
            <a:r>
              <a:rPr lang="en-US" sz="2400" b="1" dirty="0">
                <a:solidFill>
                  <a:schemeClr val="bg1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cs typeface="Rajdhani" panose="020B0604020202020204" charset="0"/>
              </a:rPr>
              <a:t>hisobga</a:t>
            </a:r>
            <a:r>
              <a:rPr lang="en-US" sz="2400" b="1" dirty="0">
                <a:solidFill>
                  <a:schemeClr val="bg1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cs typeface="Rajdhani" panose="020B0604020202020204" charset="0"/>
              </a:rPr>
              <a:t>olish</a:t>
            </a:r>
            <a:r>
              <a:rPr lang="en-US" sz="2400" b="1" dirty="0">
                <a:solidFill>
                  <a:schemeClr val="bg1"/>
                </a:solidFill>
                <a:cs typeface="Rajdhani" panose="020B0604020202020204" charset="0"/>
              </a:rPr>
              <a:t>.</a:t>
            </a:r>
          </a:p>
          <a:p>
            <a:pPr indent="363538" algn="just"/>
            <a:endParaRPr lang="ru-RU" sz="2400" b="1" dirty="0">
              <a:solidFill>
                <a:schemeClr val="tx2"/>
              </a:solidFill>
              <a:cs typeface="Rajdhani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195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57;p15"/>
          <p:cNvSpPr txBox="1">
            <a:spLocks/>
          </p:cNvSpPr>
          <p:nvPr/>
        </p:nvSpPr>
        <p:spPr>
          <a:xfrm>
            <a:off x="139148" y="993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</a:endParaRPr>
          </a:p>
        </p:txBody>
      </p:sp>
      <p:grpSp>
        <p:nvGrpSpPr>
          <p:cNvPr id="48" name="Google Shape;155;p20"/>
          <p:cNvGrpSpPr/>
          <p:nvPr/>
        </p:nvGrpSpPr>
        <p:grpSpPr>
          <a:xfrm rot="-5400000">
            <a:off x="8624907" y="3418119"/>
            <a:ext cx="362321" cy="364231"/>
            <a:chOff x="6069423" y="2891892"/>
            <a:chExt cx="362321" cy="364231"/>
          </a:xfrm>
        </p:grpSpPr>
        <p:sp>
          <p:nvSpPr>
            <p:cNvPr id="49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Google Shape;162;p20"/>
          <p:cNvSpPr/>
          <p:nvPr/>
        </p:nvSpPr>
        <p:spPr>
          <a:xfrm rot="-5400000">
            <a:off x="6284015" y="2392846"/>
            <a:ext cx="5044107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2-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o‘quv</a:t>
            </a:r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savoli</a:t>
            </a:r>
            <a:endParaRPr lang="en-US" sz="2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grpSp>
        <p:nvGrpSpPr>
          <p:cNvPr id="57" name="Google Shape;155;p20"/>
          <p:cNvGrpSpPr/>
          <p:nvPr/>
        </p:nvGrpSpPr>
        <p:grpSpPr>
          <a:xfrm rot="-5400000">
            <a:off x="8624907" y="1435083"/>
            <a:ext cx="362321" cy="364231"/>
            <a:chOff x="6069423" y="2891892"/>
            <a:chExt cx="362321" cy="364231"/>
          </a:xfrm>
        </p:grpSpPr>
        <p:sp>
          <p:nvSpPr>
            <p:cNvPr id="58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Прямоугольник 3"/>
          <p:cNvSpPr/>
          <p:nvPr/>
        </p:nvSpPr>
        <p:spPr>
          <a:xfrm>
            <a:off x="231354" y="913286"/>
            <a:ext cx="825797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3538" algn="just"/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Dala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otish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mashqlarida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kursantlar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o‘z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bilimini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tez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va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samarali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egallashi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uchun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esda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qolishni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osonlashtiradigan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usullar</a:t>
            </a:r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juda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muhim</a:t>
            </a:r>
            <a:r>
              <a:rPr lang="en-US" sz="24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.</a:t>
            </a:r>
          </a:p>
          <a:p>
            <a:pPr indent="363538" algn="just"/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vizual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belgilar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; </a:t>
            </a:r>
          </a:p>
          <a:p>
            <a:pPr indent="363538" algn="just"/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qisqa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va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aniq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ketma-ketlik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; </a:t>
            </a:r>
          </a:p>
          <a:p>
            <a:pPr indent="363538" algn="just"/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qisqa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eslatmalar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va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mnemonik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usullar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(</a:t>
            </a:r>
            <a:r>
              <a:rPr lang="pt-BR" sz="2400" b="1" dirty="0">
                <a:solidFill>
                  <a:schemeClr val="tx2"/>
                </a:solidFill>
                <a:cs typeface="Rajdhani" panose="020B0604020202020204" charset="0"/>
              </a:rPr>
              <a:t>“N–H–O–T”: Nishon → Holat → O‘q → Tahlil)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;</a:t>
            </a:r>
            <a:r>
              <a:rPr lang="pt-BR" sz="2400" b="1" dirty="0">
                <a:solidFill>
                  <a:schemeClr val="tx2"/>
                </a:solidFill>
                <a:cs typeface="Rajdhani" panose="020B0604020202020204" charset="0"/>
              </a:rPr>
              <a:t> 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 </a:t>
            </a:r>
          </a:p>
          <a:p>
            <a:pPr indent="363538" algn="just"/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atmosfera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va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ob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- </a:t>
            </a:r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havo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sharoitlarini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hisobga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cs typeface="Rajdhani" panose="020B0604020202020204" charset="0"/>
              </a:rPr>
              <a:t>olish</a:t>
            </a:r>
            <a:r>
              <a:rPr lang="en-US" sz="2400" b="1" dirty="0">
                <a:solidFill>
                  <a:schemeClr val="tx2"/>
                </a:solidFill>
                <a:cs typeface="Rajdhani" panose="020B0604020202020204" charset="0"/>
              </a:rPr>
              <a:t>. </a:t>
            </a:r>
          </a:p>
          <a:p>
            <a:pPr indent="363538" algn="just"/>
            <a:endParaRPr lang="ru-RU" sz="2400" b="1" dirty="0">
              <a:solidFill>
                <a:schemeClr val="tx2"/>
              </a:solidFill>
              <a:cs typeface="Rajdhani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490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57;p15"/>
          <p:cNvSpPr txBox="1">
            <a:spLocks/>
          </p:cNvSpPr>
          <p:nvPr/>
        </p:nvSpPr>
        <p:spPr>
          <a:xfrm>
            <a:off x="139148" y="993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</a:endParaRPr>
          </a:p>
        </p:txBody>
      </p:sp>
      <p:grpSp>
        <p:nvGrpSpPr>
          <p:cNvPr id="48" name="Google Shape;155;p20"/>
          <p:cNvGrpSpPr/>
          <p:nvPr/>
        </p:nvGrpSpPr>
        <p:grpSpPr>
          <a:xfrm rot="-5400000">
            <a:off x="8624907" y="3418119"/>
            <a:ext cx="362321" cy="364231"/>
            <a:chOff x="6069423" y="2891892"/>
            <a:chExt cx="362321" cy="364231"/>
          </a:xfrm>
        </p:grpSpPr>
        <p:sp>
          <p:nvSpPr>
            <p:cNvPr id="49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Google Shape;162;p20"/>
          <p:cNvSpPr/>
          <p:nvPr/>
        </p:nvSpPr>
        <p:spPr>
          <a:xfrm rot="-5400000">
            <a:off x="6284015" y="2392846"/>
            <a:ext cx="5044107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2-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o‘quv</a:t>
            </a:r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savoli</a:t>
            </a:r>
            <a:endParaRPr lang="en-US" sz="2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grpSp>
        <p:nvGrpSpPr>
          <p:cNvPr id="57" name="Google Shape;155;p20"/>
          <p:cNvGrpSpPr/>
          <p:nvPr/>
        </p:nvGrpSpPr>
        <p:grpSpPr>
          <a:xfrm rot="-5400000">
            <a:off x="8624907" y="1435083"/>
            <a:ext cx="362321" cy="364231"/>
            <a:chOff x="6069423" y="2891892"/>
            <a:chExt cx="362321" cy="364231"/>
          </a:xfrm>
        </p:grpSpPr>
        <p:sp>
          <p:nvSpPr>
            <p:cNvPr id="58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Google Shape;233;p21" title="Chart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11419" r="11365"/>
          <a:stretch/>
        </p:blipFill>
        <p:spPr>
          <a:xfrm>
            <a:off x="3379977" y="1594424"/>
            <a:ext cx="2391825" cy="24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57;p15"/>
          <p:cNvSpPr txBox="1">
            <a:spLocks/>
          </p:cNvSpPr>
          <p:nvPr/>
        </p:nvSpPr>
        <p:spPr>
          <a:xfrm>
            <a:off x="2541243" y="506988"/>
            <a:ext cx="4091329" cy="122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n-US" sz="4400" dirty="0">
                <a:solidFill>
                  <a:schemeClr val="tx2"/>
                </a:solidFill>
              </a:rPr>
              <a:t>XULOSA</a:t>
            </a:r>
            <a:endParaRPr lang="ru-RU" sz="4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16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17129" y="617087"/>
            <a:ext cx="38619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55600" algn="ctr"/>
            <a:r>
              <a:rPr lang="en-US" sz="24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MINGLIKNI KELIB CHIQISHI.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71024" y="953070"/>
            <a:ext cx="835292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355600" algn="just"/>
            <a:r>
              <a:rPr lang="en-US" sz="18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Minglik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-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bu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burchakni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o‘lchash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birligi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.</a:t>
            </a:r>
            <a:r>
              <a:rPr lang="uz-Latn-UZ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Ya’ni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gradus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-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yirik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o‘lchov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, </a:t>
            </a:r>
            <a:r>
              <a:rPr lang="en-US" sz="18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minglik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-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mayda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o‘lchov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birligi</a:t>
            </a:r>
            <a:r>
              <a:rPr lang="uz-Latn-UZ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.</a:t>
            </a:r>
          </a:p>
          <a:p>
            <a:pPr lvl="0" indent="355600" algn="just"/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Mi</a:t>
            </a:r>
            <a:r>
              <a:rPr lang="uz-Latn-UZ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n</a:t>
            </a:r>
            <a:r>
              <a:rPr lang="en-US" sz="18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glik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deb nom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berilishi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esa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odamlarga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shunday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burchak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birligi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kerak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bo‘lgan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:</a:t>
            </a:r>
          </a:p>
          <a:p>
            <a:pPr marL="342900" lvl="0" indent="-342900" algn="just">
              <a:buFont typeface="Arial" charset="0"/>
              <a:buChar char="•"/>
            </a:pP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Uzoq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masofalarda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turgan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obyektni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</a:p>
          <a:p>
            <a:pPr marL="342900" lvl="0" indent="-342900" algn="just">
              <a:buFont typeface="Arial" charset="0"/>
              <a:buChar char="•"/>
            </a:pP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Balandligi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yoki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kengliki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orqali</a:t>
            </a:r>
            <a:endParaRPr lang="en-US" sz="1800" b="1" dirty="0">
              <a:solidFill>
                <a:schemeClr val="tx2"/>
              </a:solidFill>
              <a:latin typeface="Rajdhani" panose="020B0604020202020204" charset="0"/>
              <a:cs typeface="Rajdhani" panose="020B0604020202020204" charset="0"/>
            </a:endParaRPr>
          </a:p>
          <a:p>
            <a:pPr marL="342900" lvl="0" indent="-342900" algn="just">
              <a:buFont typeface="Arial" charset="0"/>
              <a:buChar char="•"/>
            </a:pP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Tez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va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oson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hisoblash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uz-Latn-UZ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zarur bo‘lgan.</a:t>
            </a:r>
            <a:endParaRPr lang="en-US" sz="1800" b="1" dirty="0">
              <a:solidFill>
                <a:schemeClr val="tx2"/>
              </a:solidFill>
              <a:latin typeface="Rajdhani" panose="020B0604020202020204" charset="0"/>
              <a:cs typeface="Rajdhani" panose="020B0604020202020204" charset="0"/>
            </a:endParaRPr>
          </a:p>
          <a:p>
            <a:pPr lvl="0" indent="361950" algn="just"/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Gradus </a:t>
            </a:r>
            <a:r>
              <a:rPr lang="en-US" sz="18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bilan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hisoblash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sekin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,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noqulay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va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murakkab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bo‘lgan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.</a:t>
            </a:r>
            <a:endParaRPr lang="uz-Latn-UZ" sz="1800" b="1" dirty="0">
              <a:solidFill>
                <a:schemeClr val="tx2"/>
              </a:solidFill>
              <a:latin typeface="Rajdhani" panose="020B0604020202020204" charset="0"/>
              <a:cs typeface="Rajdhani" panose="020B0604020202020204" charset="0"/>
            </a:endParaRPr>
          </a:p>
          <a:p>
            <a:pPr lvl="0" indent="361950" algn="just"/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Shuning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uchun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qulay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burchak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birligi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kerak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bo‘lgan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. </a:t>
            </a:r>
          </a:p>
          <a:p>
            <a:pPr lvl="0" indent="361950" algn="just"/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Agar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masofa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1000 m</a:t>
            </a:r>
            <a:r>
              <a:rPr lang="uz-Latn-UZ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masofada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bo‘lsa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va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obyekt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1 m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balandlikda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ko‘rinsa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,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bu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burchak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 </a:t>
            </a:r>
            <a:r>
              <a:rPr lang="en-US" sz="18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minglik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deb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hisoblangan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.</a:t>
            </a:r>
          </a:p>
          <a:p>
            <a:pPr lvl="0" indent="361950" algn="just"/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Nimaga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1000 m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da???????</a:t>
            </a:r>
          </a:p>
          <a:p>
            <a:pPr lvl="0" indent="361950" algn="just"/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Sabab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shu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bo‘lganki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1000</a:t>
            </a:r>
            <a:r>
              <a:rPr lang="uz-Latn-UZ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uz-Latn-UZ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soni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bilan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bo‘lish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va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ko‘paytirish</a:t>
            </a:r>
            <a:r>
              <a:rPr lang="uz-Latn-UZ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tez</a:t>
            </a:r>
            <a:r>
              <a:rPr lang="uz-Latn-UZ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va oson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hisoblangan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.</a:t>
            </a:r>
          </a:p>
          <a:p>
            <a:pPr lvl="0" indent="361950" algn="just"/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1 radian= 1000 </a:t>
            </a:r>
            <a:r>
              <a:rPr lang="en-US" sz="18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minglik</a:t>
            </a:r>
            <a:endParaRPr lang="ru-RU" sz="1800" b="1" dirty="0">
              <a:solidFill>
                <a:srgbClr val="FFFF00"/>
              </a:solidFill>
              <a:cs typeface="Rajdhani" panose="020B0604020202020204" charset="0"/>
            </a:endParaRPr>
          </a:p>
        </p:txBody>
      </p:sp>
      <p:sp>
        <p:nvSpPr>
          <p:cNvPr id="8" name="Google Shape;57;p15"/>
          <p:cNvSpPr txBox="1">
            <a:spLocks/>
          </p:cNvSpPr>
          <p:nvPr/>
        </p:nvSpPr>
        <p:spPr>
          <a:xfrm>
            <a:off x="139148" y="993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</a:endParaRPr>
          </a:p>
        </p:txBody>
      </p:sp>
      <p:grpSp>
        <p:nvGrpSpPr>
          <p:cNvPr id="9" name="Google Shape;155;p20"/>
          <p:cNvGrpSpPr/>
          <p:nvPr/>
        </p:nvGrpSpPr>
        <p:grpSpPr>
          <a:xfrm rot="-5400000">
            <a:off x="8624907" y="3418119"/>
            <a:ext cx="362321" cy="364231"/>
            <a:chOff x="6069423" y="2891892"/>
            <a:chExt cx="362321" cy="364231"/>
          </a:xfrm>
        </p:grpSpPr>
        <p:sp>
          <p:nvSpPr>
            <p:cNvPr id="10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62;p20"/>
          <p:cNvSpPr/>
          <p:nvPr/>
        </p:nvSpPr>
        <p:spPr>
          <a:xfrm rot="-5400000">
            <a:off x="6284015" y="2392846"/>
            <a:ext cx="5044107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3-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o‘quv</a:t>
            </a:r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savoli</a:t>
            </a:r>
            <a:endParaRPr lang="en-US" sz="2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grpSp>
        <p:nvGrpSpPr>
          <p:cNvPr id="18" name="Google Shape;155;p20"/>
          <p:cNvGrpSpPr/>
          <p:nvPr/>
        </p:nvGrpSpPr>
        <p:grpSpPr>
          <a:xfrm rot="-5400000">
            <a:off x="8624907" y="1435083"/>
            <a:ext cx="362321" cy="364231"/>
            <a:chOff x="6069423" y="2891892"/>
            <a:chExt cx="362321" cy="364231"/>
          </a:xfrm>
        </p:grpSpPr>
        <p:sp>
          <p:nvSpPr>
            <p:cNvPr id="20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94109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62561" y="635001"/>
            <a:ext cx="33730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55600" algn="ctr"/>
            <a:r>
              <a:rPr lang="en-US" sz="20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6000 </a:t>
            </a:r>
            <a:r>
              <a:rPr lang="en-US" sz="20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mingni</a:t>
            </a:r>
            <a:r>
              <a:rPr lang="en-US" sz="20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kelib</a:t>
            </a:r>
            <a:r>
              <a:rPr lang="en-US" sz="20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chiqishi</a:t>
            </a:r>
            <a:r>
              <a:rPr lang="en-US" sz="20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90389" y="922835"/>
            <a:ext cx="782819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355600" algn="just"/>
            <a:r>
              <a:rPr lang="en-US" sz="16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To‘liq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aylana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uzunligi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= </a:t>
            </a:r>
            <a:r>
              <a:rPr lang="en-US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L = </a:t>
            </a:r>
            <a:r>
              <a:rPr lang="el-GR" sz="1600" b="1" dirty="0">
                <a:solidFill>
                  <a:srgbClr val="FFFF00"/>
                </a:solidFill>
                <a:cs typeface="Rajdhani" panose="020B0604020202020204" charset="0"/>
              </a:rPr>
              <a:t>2 π</a:t>
            </a:r>
            <a:r>
              <a:rPr lang="en-US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r</a:t>
            </a:r>
          </a:p>
          <a:p>
            <a:pPr lvl="0" indent="355600" algn="just"/>
            <a:r>
              <a:rPr lang="en-US" sz="16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To‘liqa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aylana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= </a:t>
            </a:r>
            <a:r>
              <a:rPr lang="en-US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2</a:t>
            </a:r>
            <a:r>
              <a:rPr lang="el-GR" sz="1600" b="1" dirty="0">
                <a:solidFill>
                  <a:srgbClr val="FFFF00"/>
                </a:solidFill>
                <a:cs typeface="Rajdhani" panose="020B0604020202020204" charset="0"/>
              </a:rPr>
              <a:t> π</a:t>
            </a:r>
            <a:r>
              <a:rPr lang="en-US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radian= 6,28 radian</a:t>
            </a:r>
            <a:r>
              <a:rPr lang="uz-Latn-UZ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</a:p>
          <a:p>
            <a:pPr lvl="0" indent="355600" algn="just"/>
            <a:r>
              <a:rPr lang="en-US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6,28</a:t>
            </a:r>
            <a:r>
              <a:rPr lang="uz-Latn-UZ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uz-Latn-UZ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soni yaxlitlab olinadi = </a:t>
            </a:r>
            <a:r>
              <a:rPr lang="uz-Latn-UZ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6</a:t>
            </a:r>
            <a:endParaRPr lang="en-US" sz="1600" b="1" dirty="0">
              <a:solidFill>
                <a:srgbClr val="FFFF00"/>
              </a:solidFill>
              <a:latin typeface="Rajdhani" panose="020B0604020202020204" charset="0"/>
              <a:cs typeface="Rajdhani" panose="020B0604020202020204" charset="0"/>
            </a:endParaRPr>
          </a:p>
          <a:p>
            <a:pPr lvl="0" indent="355600" algn="just"/>
            <a:r>
              <a:rPr lang="en-US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2</a:t>
            </a:r>
            <a:r>
              <a:rPr lang="el-GR" sz="1600" b="1" dirty="0">
                <a:solidFill>
                  <a:srgbClr val="FFFF00"/>
                </a:solidFill>
                <a:cs typeface="Rajdhani" panose="020B0604020202020204" charset="0"/>
              </a:rPr>
              <a:t> π</a:t>
            </a:r>
            <a:r>
              <a:rPr lang="en-US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= 6 radian</a:t>
            </a:r>
          </a:p>
          <a:p>
            <a:pPr lvl="0" indent="355600" algn="just"/>
            <a:r>
              <a:rPr lang="en-US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1 radian= 1000 </a:t>
            </a:r>
            <a:r>
              <a:rPr lang="en-US" sz="16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minglik</a:t>
            </a:r>
            <a:endParaRPr lang="en-US" sz="1600" b="1" dirty="0">
              <a:solidFill>
                <a:srgbClr val="FFFF00"/>
              </a:solidFill>
              <a:latin typeface="Rajdhani" panose="020B0604020202020204" charset="0"/>
              <a:cs typeface="Rajdhani" panose="020B0604020202020204" charset="0"/>
            </a:endParaRPr>
          </a:p>
          <a:p>
            <a:pPr lvl="0" indent="355600" algn="just"/>
            <a:r>
              <a:rPr lang="en-US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6 radian=6000 </a:t>
            </a:r>
            <a:r>
              <a:rPr lang="en-US" sz="16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minglik</a:t>
            </a:r>
            <a:endParaRPr lang="en-US" sz="1600" b="1" dirty="0">
              <a:solidFill>
                <a:srgbClr val="FFFF00"/>
              </a:solidFill>
              <a:latin typeface="Rajdhani" panose="020B0604020202020204" charset="0"/>
              <a:cs typeface="Rajdhani" panose="020B0604020202020204" charset="0"/>
            </a:endParaRPr>
          </a:p>
          <a:p>
            <a:pPr lvl="0" indent="355600" algn="just"/>
            <a:r>
              <a:rPr lang="en-US" sz="16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To‘liq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aylana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= </a:t>
            </a:r>
            <a:r>
              <a:rPr lang="en-US" sz="16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6000 </a:t>
            </a:r>
            <a:r>
              <a:rPr lang="en-US" sz="16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minglik</a:t>
            </a:r>
            <a:endParaRPr lang="en-US" sz="1600" b="1" dirty="0">
              <a:solidFill>
                <a:srgbClr val="FFFF00"/>
              </a:solidFill>
              <a:latin typeface="Rajdhani" panose="020B0604020202020204" charset="0"/>
              <a:cs typeface="Rajdhani" panose="020B0604020202020204" charset="0"/>
            </a:endParaRPr>
          </a:p>
          <a:p>
            <a:pPr lvl="0" indent="355600" algn="just"/>
            <a:r>
              <a:rPr lang="el-GR" sz="1600" b="1" dirty="0">
                <a:solidFill>
                  <a:schemeClr val="tx2"/>
                </a:solidFill>
                <a:cs typeface="Rajdhani" panose="020B0604020202020204" charset="0"/>
              </a:rPr>
              <a:t>2 π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r = 6000 </a:t>
            </a:r>
            <a:r>
              <a:rPr lang="en-US" sz="16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minglik</a:t>
            </a:r>
            <a:endParaRPr lang="en-US" sz="1600" b="1" dirty="0">
              <a:solidFill>
                <a:schemeClr val="tx2"/>
              </a:solidFill>
              <a:latin typeface="Rajdhani" panose="020B0604020202020204" charset="0"/>
              <a:cs typeface="Rajdhani" panose="020B0604020202020204" charset="0"/>
            </a:endParaRPr>
          </a:p>
          <a:p>
            <a:pPr lvl="0" indent="355600" algn="just"/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                     </a:t>
            </a:r>
            <a:r>
              <a:rPr lang="el-GR" sz="1600" b="1" dirty="0">
                <a:solidFill>
                  <a:schemeClr val="tx2"/>
                </a:solidFill>
                <a:cs typeface="Rajdhani" panose="020B0604020202020204" charset="0"/>
              </a:rPr>
              <a:t>2 π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r        2*3,14*r            6,28*r              6,28/6,28*r</a:t>
            </a:r>
          </a:p>
          <a:p>
            <a:pPr lvl="0" indent="355600" algn="just"/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1 </a:t>
            </a:r>
            <a:r>
              <a:rPr lang="en-US" sz="16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minglik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=               =                     =                       =                        =</a:t>
            </a:r>
          </a:p>
          <a:p>
            <a:pPr lvl="0" indent="355600" algn="just"/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                    </a:t>
            </a:r>
            <a:r>
              <a:rPr lang="uz-Latn-UZ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6000        </a:t>
            </a:r>
            <a:r>
              <a:rPr lang="uz-Latn-UZ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6000             </a:t>
            </a:r>
            <a:r>
              <a:rPr lang="uz-Latn-UZ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  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 6000             6000/6,28</a:t>
            </a:r>
          </a:p>
          <a:p>
            <a:pPr lvl="0" indent="355600" algn="just"/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        r                   </a:t>
            </a:r>
            <a:r>
              <a:rPr lang="en-US" sz="16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r</a:t>
            </a:r>
            <a:endParaRPr lang="en-US" sz="1600" b="1" dirty="0">
              <a:solidFill>
                <a:schemeClr val="tx2"/>
              </a:solidFill>
              <a:latin typeface="Rajdhani" panose="020B0604020202020204" charset="0"/>
              <a:cs typeface="Rajdhani" panose="020B0604020202020204" charset="0"/>
            </a:endParaRPr>
          </a:p>
          <a:p>
            <a:pPr lvl="0" indent="355600" algn="just"/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=                 =  </a:t>
            </a:r>
          </a:p>
          <a:p>
            <a:pPr lvl="0" indent="355600" algn="just"/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        955             1000</a:t>
            </a:r>
          </a:p>
          <a:p>
            <a:pPr lvl="0" indent="355600" algn="just"/>
            <a:endParaRPr lang="en-US" sz="1600" b="1" dirty="0">
              <a:solidFill>
                <a:schemeClr val="tx2"/>
              </a:solidFill>
              <a:latin typeface="Rajdhani" panose="020B0604020202020204" charset="0"/>
              <a:cs typeface="Rajdhani" panose="020B0604020202020204" charset="0"/>
            </a:endParaRPr>
          </a:p>
          <a:p>
            <a:pPr lvl="0" indent="355600" algn="just"/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r = </a:t>
            </a:r>
            <a:r>
              <a:rPr lang="en-US" sz="16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masofa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(</a:t>
            </a:r>
            <a:r>
              <a:rPr lang="en-US" sz="16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sm</a:t>
            </a:r>
            <a:r>
              <a:rPr lang="en-US" sz="16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)</a:t>
            </a:r>
          </a:p>
          <a:p>
            <a:pPr lvl="0" indent="355600" algn="just"/>
            <a:endParaRPr lang="ru-RU" sz="1600" b="1" dirty="0">
              <a:solidFill>
                <a:schemeClr val="tx2"/>
              </a:solidFill>
              <a:cs typeface="Rajdhani" panose="020B0604020202020204" charset="0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827370" y="3273828"/>
            <a:ext cx="420530" cy="0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2793504" y="3273828"/>
            <a:ext cx="498336" cy="6753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3631268" y="3280581"/>
            <a:ext cx="955640" cy="0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4725516" y="3273565"/>
            <a:ext cx="1008112" cy="0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968464" y="3982860"/>
            <a:ext cx="532676" cy="0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" name="Google Shape;57;p15"/>
          <p:cNvSpPr txBox="1">
            <a:spLocks/>
          </p:cNvSpPr>
          <p:nvPr/>
        </p:nvSpPr>
        <p:spPr>
          <a:xfrm>
            <a:off x="139148" y="993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  <a:cs typeface="Rajdhani" panose="020B0604020202020204" charset="0"/>
            </a:endParaRPr>
          </a:p>
        </p:txBody>
      </p:sp>
      <p:grpSp>
        <p:nvGrpSpPr>
          <p:cNvPr id="17" name="Google Shape;155;p20"/>
          <p:cNvGrpSpPr/>
          <p:nvPr/>
        </p:nvGrpSpPr>
        <p:grpSpPr>
          <a:xfrm rot="-5400000">
            <a:off x="8624907" y="3418119"/>
            <a:ext cx="362321" cy="364231"/>
            <a:chOff x="6069423" y="2891892"/>
            <a:chExt cx="362321" cy="364231"/>
          </a:xfrm>
        </p:grpSpPr>
        <p:sp>
          <p:nvSpPr>
            <p:cNvPr id="18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0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1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2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3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4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</p:grpSp>
      <p:sp>
        <p:nvSpPr>
          <p:cNvPr id="25" name="Google Shape;162;p20"/>
          <p:cNvSpPr/>
          <p:nvPr/>
        </p:nvSpPr>
        <p:spPr>
          <a:xfrm rot="-5400000">
            <a:off x="6284015" y="2392846"/>
            <a:ext cx="5044107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lt2"/>
                </a:solidFill>
                <a:latin typeface="Rajdhani" panose="020B0604020202020204" charset="0"/>
                <a:ea typeface="Rajdhani"/>
                <a:cs typeface="Rajdhani" panose="020B0604020202020204" charset="0"/>
                <a:sym typeface="Rajdhani"/>
              </a:rPr>
              <a:t>3- </a:t>
            </a:r>
            <a:r>
              <a:rPr lang="en-US" sz="2000" b="1" dirty="0" err="1">
                <a:solidFill>
                  <a:schemeClr val="lt2"/>
                </a:solidFill>
                <a:latin typeface="Rajdhani" panose="020B0604020202020204" charset="0"/>
                <a:ea typeface="Rajdhani"/>
                <a:cs typeface="Rajdhani" panose="020B0604020202020204" charset="0"/>
                <a:sym typeface="Rajdhani"/>
              </a:rPr>
              <a:t>o‘quv</a:t>
            </a:r>
            <a:r>
              <a:rPr lang="en-US" sz="2000" b="1" dirty="0">
                <a:solidFill>
                  <a:schemeClr val="lt2"/>
                </a:solidFill>
                <a:latin typeface="Rajdhani" panose="020B0604020202020204" charset="0"/>
                <a:ea typeface="Rajdhani"/>
                <a:cs typeface="Rajdhani" panose="020B0604020202020204" charset="0"/>
                <a:sym typeface="Rajdhani"/>
              </a:rPr>
              <a:t> </a:t>
            </a:r>
            <a:r>
              <a:rPr lang="en-US" sz="2000" b="1" dirty="0" err="1">
                <a:solidFill>
                  <a:schemeClr val="lt2"/>
                </a:solidFill>
                <a:latin typeface="Rajdhani" panose="020B0604020202020204" charset="0"/>
                <a:ea typeface="Rajdhani"/>
                <a:cs typeface="Rajdhani" panose="020B0604020202020204" charset="0"/>
                <a:sym typeface="Rajdhani"/>
              </a:rPr>
              <a:t>savoli</a:t>
            </a:r>
            <a:endParaRPr lang="en-US" sz="2000" b="1" dirty="0">
              <a:solidFill>
                <a:schemeClr val="lt2"/>
              </a:solidFill>
              <a:latin typeface="Rajdhani" panose="020B0604020202020204" charset="0"/>
              <a:ea typeface="Rajdhani"/>
              <a:cs typeface="Rajdhani" panose="020B0604020202020204" charset="0"/>
              <a:sym typeface="Rajdhani"/>
            </a:endParaRPr>
          </a:p>
        </p:txBody>
      </p:sp>
      <p:grpSp>
        <p:nvGrpSpPr>
          <p:cNvPr id="26" name="Google Shape;155;p20"/>
          <p:cNvGrpSpPr/>
          <p:nvPr/>
        </p:nvGrpSpPr>
        <p:grpSpPr>
          <a:xfrm rot="-5400000">
            <a:off x="8624907" y="1435083"/>
            <a:ext cx="362321" cy="364231"/>
            <a:chOff x="6069423" y="2891892"/>
            <a:chExt cx="362321" cy="364231"/>
          </a:xfrm>
        </p:grpSpPr>
        <p:sp>
          <p:nvSpPr>
            <p:cNvPr id="27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8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9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30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33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34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</p:grpSp>
      <p:cxnSp>
        <p:nvCxnSpPr>
          <p:cNvPr id="38" name="Прямая соединительная линия 37"/>
          <p:cNvCxnSpPr/>
          <p:nvPr/>
        </p:nvCxnSpPr>
        <p:spPr>
          <a:xfrm>
            <a:off x="1981562" y="3982860"/>
            <a:ext cx="532676" cy="0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082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46811" y="667025"/>
            <a:ext cx="83529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Latn-UZ" sz="20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MASOFA TOPISH FORMULASINI KELIB CHIQISHI(MINGLIK)</a:t>
            </a:r>
          </a:p>
        </p:txBody>
      </p:sp>
      <p:pic>
        <p:nvPicPr>
          <p:cNvPr id="8" name="Picture 2" descr="C:\Users\Admin\Downloads\photo_2026-01-09_20-44-1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9" t="23233" r="21904" b="58125"/>
          <a:stretch/>
        </p:blipFill>
        <p:spPr bwMode="auto">
          <a:xfrm>
            <a:off x="4132918" y="1128074"/>
            <a:ext cx="4007290" cy="285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001670" y="1128074"/>
            <a:ext cx="22926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1 </a:t>
            </a:r>
            <a:r>
              <a:rPr lang="en-US" sz="18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minglik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= 1 m/1000 m</a:t>
            </a:r>
            <a:endParaRPr lang="ru-RU" sz="1800" b="1" dirty="0">
              <a:solidFill>
                <a:srgbClr val="FFFF00"/>
              </a:solidFill>
              <a:latin typeface="Arial" pitchFamily="34" charset="0"/>
              <a:cs typeface="Rajdhani" panose="020B060402020202020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4908" y="149740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/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Umumlashtiramiz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:</a:t>
            </a:r>
          </a:p>
          <a:p>
            <a:pPr lvl="0" algn="ctr"/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Masofa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D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bo‘lsa</a:t>
            </a:r>
            <a:endParaRPr lang="en-US" sz="1800" b="1" dirty="0">
              <a:solidFill>
                <a:schemeClr val="tx2"/>
              </a:solidFill>
              <a:latin typeface="Rajdhani" panose="020B0604020202020204" charset="0"/>
              <a:cs typeface="Rajdhani" panose="020B0604020202020204" charset="0"/>
            </a:endParaRPr>
          </a:p>
          <a:p>
            <a:pPr lvl="0" algn="ctr"/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Obyek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o‘lchami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B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bo‘lsa</a:t>
            </a:r>
            <a:endParaRPr lang="en-US" sz="1800" b="1" dirty="0">
              <a:solidFill>
                <a:schemeClr val="tx2"/>
              </a:solidFill>
              <a:latin typeface="Rajdhani" panose="020B0604020202020204" charset="0"/>
              <a:cs typeface="Rajdhani" panose="020B0604020202020204" charset="0"/>
            </a:endParaRPr>
          </a:p>
          <a:p>
            <a:pPr lvl="0" algn="ctr"/>
            <a:r>
              <a:rPr lang="en-US" sz="18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Nechta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minglik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chiqadi</a:t>
            </a:r>
            <a:r>
              <a:rPr lang="en-US" sz="1800" b="1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?</a:t>
            </a:r>
            <a:endParaRPr lang="ru-RU" sz="1800" b="1" dirty="0">
              <a:solidFill>
                <a:srgbClr val="FFFF00"/>
              </a:solidFill>
              <a:cs typeface="Rajdhani" panose="020B060402020202020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716095" y="2778724"/>
            <a:ext cx="380717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Bunda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to‘g‘ri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proporsiya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qilinsa</a:t>
            </a:r>
            <a:endParaRPr lang="en-US" sz="1800" b="1" dirty="0">
              <a:solidFill>
                <a:schemeClr val="tx2"/>
              </a:solidFill>
              <a:latin typeface="Rajdhani" panose="020B0604020202020204" charset="0"/>
              <a:cs typeface="Rajdhani" panose="020B0604020202020204" charset="0"/>
            </a:endParaRPr>
          </a:p>
          <a:p>
            <a:pPr lvl="0" algn="ctr"/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 U              B</a:t>
            </a:r>
          </a:p>
          <a:p>
            <a:pPr lvl="0" algn="ctr"/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=</a:t>
            </a:r>
          </a:p>
          <a:p>
            <a:pPr lvl="0" algn="ctr"/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uz-Latn-UZ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       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1           D/1000</a:t>
            </a:r>
          </a:p>
          <a:p>
            <a:pPr lvl="0" algn="ctr"/>
            <a:endParaRPr lang="en-US" sz="1800" b="1" dirty="0">
              <a:solidFill>
                <a:schemeClr val="tx2"/>
              </a:solidFill>
              <a:latin typeface="Rajdhani" panose="020B0604020202020204" charset="0"/>
              <a:cs typeface="Rajdhani" panose="020B0604020202020204" charset="0"/>
            </a:endParaRPr>
          </a:p>
          <a:p>
            <a:pPr lvl="0" algn="ctr"/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          B</a:t>
            </a:r>
          </a:p>
          <a:p>
            <a:pPr lvl="0" algn="ctr"/>
            <a:r>
              <a:rPr lang="uz-Latn-UZ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               </a:t>
            </a:r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D=              x 1000</a:t>
            </a:r>
          </a:p>
          <a:p>
            <a:pPr lvl="0" algn="ctr"/>
            <a:r>
              <a:rPr lang="en-US" sz="18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           U</a:t>
            </a:r>
            <a:endParaRPr lang="ru-RU" sz="1800" b="1" dirty="0">
              <a:solidFill>
                <a:schemeClr val="tx2"/>
              </a:solidFill>
              <a:cs typeface="Rajdhani" panose="020B0604020202020204" charset="0"/>
            </a:endParaRPr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1998218" y="3480442"/>
            <a:ext cx="411059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2793182" y="3480442"/>
            <a:ext cx="936104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2780744" y="4592297"/>
            <a:ext cx="32212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" name="Google Shape;57;p15"/>
          <p:cNvSpPr txBox="1">
            <a:spLocks/>
          </p:cNvSpPr>
          <p:nvPr/>
        </p:nvSpPr>
        <p:spPr>
          <a:xfrm>
            <a:off x="139148" y="993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  <a:cs typeface="Rajdhani" panose="020B0604020202020204" charset="0"/>
            </a:endParaRPr>
          </a:p>
        </p:txBody>
      </p:sp>
      <p:grpSp>
        <p:nvGrpSpPr>
          <p:cNvPr id="18" name="Google Shape;155;p20"/>
          <p:cNvGrpSpPr/>
          <p:nvPr/>
        </p:nvGrpSpPr>
        <p:grpSpPr>
          <a:xfrm rot="-5400000">
            <a:off x="8624907" y="3418119"/>
            <a:ext cx="362321" cy="364231"/>
            <a:chOff x="6069423" y="2891892"/>
            <a:chExt cx="362321" cy="364231"/>
          </a:xfrm>
        </p:grpSpPr>
        <p:sp>
          <p:nvSpPr>
            <p:cNvPr id="20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1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2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3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4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5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</p:grpSp>
      <p:sp>
        <p:nvSpPr>
          <p:cNvPr id="26" name="Google Shape;162;p20"/>
          <p:cNvSpPr/>
          <p:nvPr/>
        </p:nvSpPr>
        <p:spPr>
          <a:xfrm rot="-5400000">
            <a:off x="6284015" y="2392846"/>
            <a:ext cx="5044107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lt2"/>
                </a:solidFill>
                <a:latin typeface="Rajdhani" panose="020B0604020202020204" charset="0"/>
                <a:ea typeface="Rajdhani"/>
                <a:cs typeface="Rajdhani" panose="020B0604020202020204" charset="0"/>
                <a:sym typeface="Rajdhani"/>
              </a:rPr>
              <a:t>3- </a:t>
            </a:r>
            <a:r>
              <a:rPr lang="en-US" sz="2000" b="1" dirty="0" err="1">
                <a:solidFill>
                  <a:schemeClr val="lt2"/>
                </a:solidFill>
                <a:latin typeface="Rajdhani" panose="020B0604020202020204" charset="0"/>
                <a:ea typeface="Rajdhani"/>
                <a:cs typeface="Rajdhani" panose="020B0604020202020204" charset="0"/>
                <a:sym typeface="Rajdhani"/>
              </a:rPr>
              <a:t>o‘quv</a:t>
            </a:r>
            <a:r>
              <a:rPr lang="en-US" sz="2000" b="1" dirty="0">
                <a:solidFill>
                  <a:schemeClr val="lt2"/>
                </a:solidFill>
                <a:latin typeface="Rajdhani" panose="020B0604020202020204" charset="0"/>
                <a:ea typeface="Rajdhani"/>
                <a:cs typeface="Rajdhani" panose="020B0604020202020204" charset="0"/>
                <a:sym typeface="Rajdhani"/>
              </a:rPr>
              <a:t> </a:t>
            </a:r>
            <a:r>
              <a:rPr lang="en-US" sz="2000" b="1" dirty="0" err="1">
                <a:solidFill>
                  <a:schemeClr val="lt2"/>
                </a:solidFill>
                <a:latin typeface="Rajdhani" panose="020B0604020202020204" charset="0"/>
                <a:ea typeface="Rajdhani"/>
                <a:cs typeface="Rajdhani" panose="020B0604020202020204" charset="0"/>
                <a:sym typeface="Rajdhani"/>
              </a:rPr>
              <a:t>savoli</a:t>
            </a:r>
            <a:endParaRPr lang="en-US" sz="2000" b="1" dirty="0">
              <a:solidFill>
                <a:schemeClr val="lt2"/>
              </a:solidFill>
              <a:latin typeface="Rajdhani" panose="020B0604020202020204" charset="0"/>
              <a:ea typeface="Rajdhani"/>
              <a:cs typeface="Rajdhani" panose="020B0604020202020204" charset="0"/>
              <a:sym typeface="Rajdhani"/>
            </a:endParaRPr>
          </a:p>
        </p:txBody>
      </p:sp>
      <p:grpSp>
        <p:nvGrpSpPr>
          <p:cNvPr id="27" name="Google Shape;155;p20"/>
          <p:cNvGrpSpPr/>
          <p:nvPr/>
        </p:nvGrpSpPr>
        <p:grpSpPr>
          <a:xfrm rot="-5400000">
            <a:off x="8624907" y="1435083"/>
            <a:ext cx="362321" cy="364231"/>
            <a:chOff x="6069423" y="2891892"/>
            <a:chExt cx="362321" cy="364231"/>
          </a:xfrm>
        </p:grpSpPr>
        <p:sp>
          <p:nvSpPr>
            <p:cNvPr id="28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9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30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33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34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35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</p:grpSp>
      <p:sp>
        <p:nvSpPr>
          <p:cNvPr id="2" name="Прямоугольник 1"/>
          <p:cNvSpPr/>
          <p:nvPr/>
        </p:nvSpPr>
        <p:spPr>
          <a:xfrm>
            <a:off x="5926104" y="2814469"/>
            <a:ext cx="1213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b="1" dirty="0">
                <a:solidFill>
                  <a:srgbClr val="00B0F0"/>
                </a:solidFill>
                <a:latin typeface="Rajdhani" panose="020B0604020202020204" charset="0"/>
                <a:cs typeface="Rajdhani" panose="020B0604020202020204" charset="0"/>
              </a:rPr>
              <a:t>U( </a:t>
            </a:r>
            <a:r>
              <a:rPr lang="en-US" sz="1800" b="1" dirty="0" err="1">
                <a:solidFill>
                  <a:srgbClr val="00B0F0"/>
                </a:solidFill>
                <a:latin typeface="Rajdhani" panose="020B0604020202020204" charset="0"/>
                <a:cs typeface="Rajdhani" panose="020B0604020202020204" charset="0"/>
              </a:rPr>
              <a:t>minglik</a:t>
            </a:r>
            <a:r>
              <a:rPr lang="en-US" sz="1800" b="1" dirty="0">
                <a:solidFill>
                  <a:srgbClr val="00B0F0"/>
                </a:solidFill>
                <a:latin typeface="Rajdhani" panose="020B0604020202020204" charset="0"/>
                <a:cs typeface="Rajdhani" panose="020B0604020202020204" charset="0"/>
              </a:rPr>
              <a:t>)</a:t>
            </a:r>
            <a:endParaRPr lang="uz-Latn-UZ" sz="1800" b="1" dirty="0">
              <a:solidFill>
                <a:srgbClr val="00B0F0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304138" y="2417862"/>
            <a:ext cx="6383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00B0F0"/>
                </a:solidFill>
                <a:latin typeface="Rajdhani" panose="020B0604020202020204" charset="0"/>
                <a:cs typeface="Rajdhani" panose="020B0604020202020204" charset="0"/>
              </a:rPr>
              <a:t>B(m)</a:t>
            </a:r>
            <a:endParaRPr lang="ru-RU" sz="1800" dirty="0"/>
          </a:p>
        </p:txBody>
      </p:sp>
      <p:sp>
        <p:nvSpPr>
          <p:cNvPr id="36" name="Прямоугольник 35"/>
          <p:cNvSpPr/>
          <p:nvPr/>
        </p:nvSpPr>
        <p:spPr>
          <a:xfrm>
            <a:off x="4623296" y="3360264"/>
            <a:ext cx="6383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00B0F0"/>
                </a:solidFill>
                <a:latin typeface="Rajdhani" panose="020B0604020202020204" charset="0"/>
                <a:cs typeface="Rajdhani" panose="020B0604020202020204" charset="0"/>
              </a:rPr>
              <a:t>D(m)</a:t>
            </a:r>
            <a:endParaRPr lang="ru-RU" sz="1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123620" y="4158713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  <a:latin typeface="Rajdhani" panose="020B0604020202020204" charset="0"/>
                <a:cs typeface="Rajdhani" panose="020B0604020202020204" charset="0"/>
              </a:rPr>
              <a:t>D(m)= B(m)=U( </a:t>
            </a:r>
            <a:r>
              <a:rPr lang="en-US" sz="2000" b="1" dirty="0" err="1">
                <a:solidFill>
                  <a:srgbClr val="00B0F0"/>
                </a:solidFill>
                <a:latin typeface="Rajdhani" panose="020B0604020202020204" charset="0"/>
                <a:cs typeface="Rajdhani" panose="020B0604020202020204" charset="0"/>
              </a:rPr>
              <a:t>minglik</a:t>
            </a:r>
            <a:r>
              <a:rPr lang="en-US" sz="2000" b="1" dirty="0">
                <a:solidFill>
                  <a:srgbClr val="00B0F0"/>
                </a:solidFill>
                <a:latin typeface="Rajdhani" panose="020B0604020202020204" charset="0"/>
                <a:cs typeface="Rajdhani" panose="020B0604020202020204" charset="0"/>
              </a:rPr>
              <a:t>)</a:t>
            </a:r>
            <a:endParaRPr lang="uz-Latn-UZ" sz="2000" b="1" dirty="0">
              <a:solidFill>
                <a:srgbClr val="00B0F0"/>
              </a:solidFill>
              <a:latin typeface="Rajdhani" panose="020B0604020202020204" charset="0"/>
              <a:cs typeface="Rajdhani" panose="020B0604020202020204" charset="0"/>
            </a:endParaRPr>
          </a:p>
          <a:p>
            <a:pPr lvl="0" algn="ctr"/>
            <a:r>
              <a:rPr lang="en-US" sz="2000" b="1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1000 m – 1 m – 1 </a:t>
            </a:r>
            <a:r>
              <a:rPr lang="en-US" sz="2000" b="1" dirty="0" err="1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minglik</a:t>
            </a:r>
            <a:endParaRPr lang="en-US" sz="2000" b="1" dirty="0">
              <a:solidFill>
                <a:schemeClr val="tx2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419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084" y="3677184"/>
            <a:ext cx="8115300" cy="1393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57;p15"/>
          <p:cNvSpPr txBox="1">
            <a:spLocks/>
          </p:cNvSpPr>
          <p:nvPr/>
        </p:nvSpPr>
        <p:spPr>
          <a:xfrm>
            <a:off x="139148" y="993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  <a:cs typeface="Rajdhani" panose="020B0604020202020204" charset="0"/>
            </a:endParaRPr>
          </a:p>
        </p:txBody>
      </p:sp>
      <p:grpSp>
        <p:nvGrpSpPr>
          <p:cNvPr id="11" name="Google Shape;155;p20"/>
          <p:cNvGrpSpPr/>
          <p:nvPr/>
        </p:nvGrpSpPr>
        <p:grpSpPr>
          <a:xfrm rot="-5400000">
            <a:off x="8624907" y="3418119"/>
            <a:ext cx="362321" cy="364231"/>
            <a:chOff x="6069423" y="2891892"/>
            <a:chExt cx="362321" cy="364231"/>
          </a:xfrm>
        </p:grpSpPr>
        <p:sp>
          <p:nvSpPr>
            <p:cNvPr id="12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14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15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16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17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18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</p:grpSp>
      <p:sp>
        <p:nvSpPr>
          <p:cNvPr id="20" name="Google Shape;162;p20"/>
          <p:cNvSpPr/>
          <p:nvPr/>
        </p:nvSpPr>
        <p:spPr>
          <a:xfrm rot="-5400000">
            <a:off x="6284015" y="2392846"/>
            <a:ext cx="5044107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lt2"/>
                </a:solidFill>
                <a:latin typeface="Rajdhani" panose="020B0604020202020204" charset="0"/>
                <a:ea typeface="Rajdhani"/>
                <a:cs typeface="Rajdhani" panose="020B0604020202020204" charset="0"/>
                <a:sym typeface="Rajdhani"/>
              </a:rPr>
              <a:t>3- </a:t>
            </a:r>
            <a:r>
              <a:rPr lang="en-US" sz="2000" b="1" dirty="0" err="1">
                <a:solidFill>
                  <a:schemeClr val="lt2"/>
                </a:solidFill>
                <a:latin typeface="Rajdhani" panose="020B0604020202020204" charset="0"/>
                <a:ea typeface="Rajdhani"/>
                <a:cs typeface="Rajdhani" panose="020B0604020202020204" charset="0"/>
                <a:sym typeface="Rajdhani"/>
              </a:rPr>
              <a:t>o‘quv</a:t>
            </a:r>
            <a:r>
              <a:rPr lang="en-US" sz="2000" b="1" dirty="0">
                <a:solidFill>
                  <a:schemeClr val="lt2"/>
                </a:solidFill>
                <a:latin typeface="Rajdhani" panose="020B0604020202020204" charset="0"/>
                <a:ea typeface="Rajdhani"/>
                <a:cs typeface="Rajdhani" panose="020B0604020202020204" charset="0"/>
                <a:sym typeface="Rajdhani"/>
              </a:rPr>
              <a:t> </a:t>
            </a:r>
            <a:r>
              <a:rPr lang="en-US" sz="2000" b="1" dirty="0" err="1">
                <a:solidFill>
                  <a:schemeClr val="lt2"/>
                </a:solidFill>
                <a:latin typeface="Rajdhani" panose="020B0604020202020204" charset="0"/>
                <a:ea typeface="Rajdhani"/>
                <a:cs typeface="Rajdhani" panose="020B0604020202020204" charset="0"/>
                <a:sym typeface="Rajdhani"/>
              </a:rPr>
              <a:t>savoli</a:t>
            </a:r>
            <a:endParaRPr lang="en-US" sz="2000" b="1" dirty="0">
              <a:solidFill>
                <a:schemeClr val="lt2"/>
              </a:solidFill>
              <a:latin typeface="Rajdhani" panose="020B0604020202020204" charset="0"/>
              <a:ea typeface="Rajdhani"/>
              <a:cs typeface="Rajdhani" panose="020B0604020202020204" charset="0"/>
              <a:sym typeface="Rajdhani"/>
            </a:endParaRPr>
          </a:p>
        </p:txBody>
      </p:sp>
      <p:grpSp>
        <p:nvGrpSpPr>
          <p:cNvPr id="21" name="Google Shape;155;p20"/>
          <p:cNvGrpSpPr/>
          <p:nvPr/>
        </p:nvGrpSpPr>
        <p:grpSpPr>
          <a:xfrm rot="-5400000">
            <a:off x="8624907" y="1435083"/>
            <a:ext cx="362321" cy="364231"/>
            <a:chOff x="6069423" y="2891892"/>
            <a:chExt cx="362321" cy="364231"/>
          </a:xfrm>
        </p:grpSpPr>
        <p:sp>
          <p:nvSpPr>
            <p:cNvPr id="22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3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4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5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6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7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</p:grpSp>
      <p:sp>
        <p:nvSpPr>
          <p:cNvPr id="28" name="Google Shape;57;p15"/>
          <p:cNvSpPr txBox="1">
            <a:spLocks/>
          </p:cNvSpPr>
          <p:nvPr/>
        </p:nvSpPr>
        <p:spPr>
          <a:xfrm>
            <a:off x="139148" y="653057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uz-Cyrl-UZ" sz="2400" dirty="0">
                <a:solidFill>
                  <a:schemeClr val="tx2"/>
                </a:solidFill>
                <a:cs typeface="Rajdhani" panose="020B0604020202020204" charset="0"/>
              </a:rPr>
              <a:t>MOA BURCHAK O‘LCHOV BIRLIGI</a:t>
            </a:r>
            <a:r>
              <a:rPr lang="uz-Latn-UZ" sz="2400" dirty="0">
                <a:solidFill>
                  <a:schemeClr val="tx2"/>
                </a:solidFill>
                <a:latin typeface="Rajdhani" panose="020B0604020202020204" charset="0"/>
                <a:cs typeface="Rajdhani" panose="020B0604020202020204" charset="0"/>
              </a:rPr>
              <a:t>NI KELIB CHIQISHI</a:t>
            </a:r>
            <a:r>
              <a:rPr lang="uz-Cyrl-UZ" sz="2400" dirty="0">
                <a:solidFill>
                  <a:schemeClr val="tx2"/>
                </a:solidFill>
                <a:cs typeface="Rajdhani" panose="020B0604020202020204" charset="0"/>
              </a:rPr>
              <a:t> </a:t>
            </a:r>
            <a:endParaRPr lang="uz-Latn-UZ" sz="2400" dirty="0">
              <a:solidFill>
                <a:schemeClr val="tx2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9" name="Google Shape;57;p15"/>
          <p:cNvSpPr txBox="1">
            <a:spLocks/>
          </p:cNvSpPr>
          <p:nvPr/>
        </p:nvSpPr>
        <p:spPr>
          <a:xfrm>
            <a:off x="139149" y="1068637"/>
            <a:ext cx="8244688" cy="179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indent="361950" algn="just"/>
            <a:r>
              <a:rPr lang="uz-Cyrl-UZ" sz="1800" dirty="0">
                <a:solidFill>
                  <a:srgbClr val="FFFF00"/>
                </a:solidFill>
                <a:cs typeface="Rajdhani" panose="020B0604020202020204" charset="0"/>
              </a:rPr>
              <a:t>MOA (minuts of angle)</a:t>
            </a:r>
            <a:r>
              <a:rPr lang="uz-Cyrl-UZ" sz="1800" dirty="0">
                <a:cs typeface="Rajdhani" panose="020B0604020202020204" charset="0"/>
              </a:rPr>
              <a:t> yani “</a:t>
            </a:r>
            <a:r>
              <a:rPr lang="uz-Cyrl-UZ" sz="1800" dirty="0">
                <a:solidFill>
                  <a:srgbClr val="FFFF00"/>
                </a:solidFill>
                <a:cs typeface="Rajdhani" panose="020B0604020202020204" charset="0"/>
              </a:rPr>
              <a:t>daqiqalarda burchak o‘lchov birligi</a:t>
            </a:r>
            <a:r>
              <a:rPr lang="uz-Cyrl-UZ" sz="1800" dirty="0">
                <a:cs typeface="Rajdhani" panose="020B0604020202020204" charset="0"/>
              </a:rPr>
              <a:t>” bu burchak o‘lchov birligi asosan </a:t>
            </a:r>
            <a:r>
              <a:rPr lang="uz-Cyrl-UZ" sz="1800" dirty="0">
                <a:solidFill>
                  <a:srgbClr val="FFFF00"/>
                </a:solidFill>
                <a:cs typeface="Rajdhani" panose="020B0604020202020204" charset="0"/>
              </a:rPr>
              <a:t>NATO</a:t>
            </a:r>
            <a:r>
              <a:rPr lang="uz-Cyrl-UZ" sz="1800" dirty="0">
                <a:cs typeface="Rajdhani" panose="020B0604020202020204" charset="0"/>
              </a:rPr>
              <a:t> harbiy blokiga a’zo davlatlarning armiyalaridagi merganlik qurollarida qo‘llaniladigan optik pritsellarda keng qo‘llaniladi. </a:t>
            </a:r>
            <a:br>
              <a:rPr lang="en-US" sz="1800" dirty="0">
                <a:cs typeface="Rajdhani" panose="020B0604020202020204" charset="0"/>
              </a:rPr>
            </a:br>
            <a:r>
              <a:rPr lang="uz-Cyrl-UZ" sz="1800" dirty="0">
                <a:cs typeface="Rajdhani" panose="020B0604020202020204" charset="0"/>
              </a:rPr>
              <a:t>Sababi bu davlatlarda </a:t>
            </a:r>
            <a:r>
              <a:rPr lang="uz-Cyrl-UZ" sz="1800" dirty="0">
                <a:solidFill>
                  <a:srgbClr val="FFFF00"/>
                </a:solidFill>
                <a:cs typeface="Rajdhani" panose="020B0604020202020204" charset="0"/>
              </a:rPr>
              <a:t>SII</a:t>
            </a:r>
            <a:r>
              <a:rPr lang="uz-Cyrl-UZ" sz="1800" dirty="0">
                <a:cs typeface="Rajdhani" panose="020B0604020202020204" charset="0"/>
              </a:rPr>
              <a:t> xalqaro o‘lchov birliklarining </a:t>
            </a:r>
            <a:r>
              <a:rPr lang="uz-Cyrl-UZ" sz="1800" dirty="0">
                <a:solidFill>
                  <a:srgbClr val="FFFF00"/>
                </a:solidFill>
                <a:cs typeface="Rajdhani" panose="020B0604020202020204" charset="0"/>
              </a:rPr>
              <a:t>imperik sistemasidan </a:t>
            </a:r>
            <a:r>
              <a:rPr lang="uz-Cyrl-UZ" sz="1800" dirty="0">
                <a:cs typeface="Rajdhani" panose="020B0604020202020204" charset="0"/>
              </a:rPr>
              <a:t>foydalanadi. Bu sistemada esa uzunlik o‘lchovi yard xisoblanadi. </a:t>
            </a:r>
            <a:r>
              <a:rPr lang="uz-Cyrl-UZ" sz="1800" dirty="0">
                <a:solidFill>
                  <a:srgbClr val="FFFF00"/>
                </a:solidFill>
                <a:cs typeface="Rajdhani" panose="020B0604020202020204" charset="0"/>
              </a:rPr>
              <a:t>100 yardni </a:t>
            </a:r>
            <a:r>
              <a:rPr lang="uz-Cyrl-UZ" sz="1800" dirty="0">
                <a:cs typeface="Rajdhani" panose="020B0604020202020204" charset="0"/>
              </a:rPr>
              <a:t>metrga aylantirsak </a:t>
            </a:r>
            <a:r>
              <a:rPr lang="uz-Cyrl-UZ" sz="1800" dirty="0">
                <a:solidFill>
                  <a:srgbClr val="FFFF00"/>
                </a:solidFill>
                <a:cs typeface="Rajdhani" panose="020B0604020202020204" charset="0"/>
              </a:rPr>
              <a:t>91.44 metrni </a:t>
            </a:r>
            <a:r>
              <a:rPr lang="uz-Cyrl-UZ" sz="1800" dirty="0">
                <a:cs typeface="Rajdhani" panose="020B0604020202020204" charset="0"/>
              </a:rPr>
              <a:t>tashkil etadi. </a:t>
            </a:r>
            <a:endParaRPr lang="ru-RU" sz="1800" dirty="0">
              <a:cs typeface="Rajdhani" panose="020B0604020202020204" charset="0"/>
            </a:endParaRPr>
          </a:p>
        </p:txBody>
      </p:sp>
      <p:sp>
        <p:nvSpPr>
          <p:cNvPr id="30" name="Google Shape;57;p15"/>
          <p:cNvSpPr txBox="1">
            <a:spLocks/>
          </p:cNvSpPr>
          <p:nvPr/>
        </p:nvSpPr>
        <p:spPr>
          <a:xfrm>
            <a:off x="248479" y="2732183"/>
            <a:ext cx="8895521" cy="945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indent="361950" algn="just"/>
            <a:r>
              <a:rPr lang="uz-Cyrl-UZ" sz="1800" dirty="0">
                <a:solidFill>
                  <a:srgbClr val="FFFF00"/>
                </a:solidFill>
                <a:cs typeface="Rajdhani" panose="020B0604020202020204" charset="0"/>
              </a:rPr>
              <a:t>MOA ni keltirib chiqarish formulasi:</a:t>
            </a:r>
            <a:endParaRPr lang="ru-RU" sz="1800" dirty="0">
              <a:solidFill>
                <a:srgbClr val="FFFF00"/>
              </a:solidFill>
              <a:cs typeface="Rajdhani" panose="020B0604020202020204" charset="0"/>
            </a:endParaRPr>
          </a:p>
          <a:p>
            <a:pPr indent="361950" algn="just"/>
            <a:r>
              <a:rPr lang="uz-Cyrl-UZ" sz="1800" dirty="0">
                <a:cs typeface="Rajdhani" panose="020B0604020202020204" charset="0"/>
              </a:rPr>
              <a:t>Aylana uzunligini aylana burchagi qiymatiga bo‘lsak MOA kelib chiqadi.</a:t>
            </a:r>
            <a:r>
              <a:rPr lang="en-US" sz="1800" dirty="0">
                <a:latin typeface="Rajdhani" panose="020B0604020202020204" charset="0"/>
                <a:cs typeface="Rajdhani" panose="020B0604020202020204" charset="0"/>
              </a:rPr>
              <a:t> </a:t>
            </a:r>
            <a:endParaRPr lang="ru-RU" sz="1800" dirty="0">
              <a:cs typeface="Rajdhani" panose="020B0604020202020204" charset="0"/>
            </a:endParaRPr>
          </a:p>
          <a:p>
            <a:pPr indent="361950" algn="just"/>
            <a:r>
              <a:rPr lang="en-US" sz="1800" dirty="0">
                <a:latin typeface="Rajdhani" panose="020B0604020202020204" charset="0"/>
                <a:cs typeface="Rajdhani" panose="020B0604020202020204" charset="0"/>
              </a:rPr>
              <a:t>L=2</a:t>
            </a:r>
            <a:r>
              <a:rPr lang="uz-Cyrl-UZ" sz="1800" dirty="0">
                <a:cs typeface="Rajdhani" panose="020B0604020202020204" charset="0"/>
              </a:rPr>
              <a:t>p</a:t>
            </a:r>
            <a:r>
              <a:rPr lang="en-US" sz="1800" dirty="0">
                <a:latin typeface="Rajdhani" panose="020B0604020202020204" charset="0"/>
                <a:cs typeface="Rajdhani" panose="020B0604020202020204" charset="0"/>
              </a:rPr>
              <a:t>R; </a:t>
            </a:r>
            <a:r>
              <a:rPr lang="uz-Cyrl-UZ" sz="1800" dirty="0">
                <a:cs typeface="Rajdhani" panose="020B0604020202020204" charset="0"/>
              </a:rPr>
              <a:t>p</a:t>
            </a:r>
            <a:r>
              <a:rPr lang="en-US" sz="1800" dirty="0">
                <a:latin typeface="Rajdhani" panose="020B0604020202020204" charset="0"/>
                <a:cs typeface="Rajdhani" panose="020B0604020202020204" charset="0"/>
              </a:rPr>
              <a:t>=3.14 </a:t>
            </a:r>
            <a:r>
              <a:rPr lang="en-US" sz="1800" dirty="0" err="1">
                <a:latin typeface="Rajdhani" panose="020B0604020202020204" charset="0"/>
                <a:cs typeface="Rajdhani" panose="020B0604020202020204" charset="0"/>
              </a:rPr>
              <a:t>ga</a:t>
            </a:r>
            <a:r>
              <a:rPr lang="en-US" sz="1800" dirty="0">
                <a:latin typeface="Rajdhani" panose="020B0604020202020204" charset="0"/>
                <a:cs typeface="Rajdhani" panose="020B0604020202020204" charset="0"/>
              </a:rPr>
              <a:t> </a:t>
            </a:r>
            <a:r>
              <a:rPr lang="en-US" sz="1800" dirty="0" err="1">
                <a:latin typeface="Rajdhani" panose="020B0604020202020204" charset="0"/>
                <a:cs typeface="Rajdhani" panose="020B0604020202020204" charset="0"/>
              </a:rPr>
              <a:t>teng</a:t>
            </a:r>
            <a:r>
              <a:rPr lang="en-US" sz="1800" dirty="0">
                <a:latin typeface="Rajdhani" panose="020B0604020202020204" charset="0"/>
                <a:cs typeface="Rajdhani" panose="020B0604020202020204" charset="0"/>
              </a:rPr>
              <a:t>.</a:t>
            </a:r>
            <a:endParaRPr lang="ru-RU" sz="1800" dirty="0">
              <a:cs typeface="Rajdhani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128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7" name="Picture 5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199" y="2897436"/>
            <a:ext cx="5314950" cy="1140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57;p15"/>
          <p:cNvSpPr txBox="1">
            <a:spLocks/>
          </p:cNvSpPr>
          <p:nvPr/>
        </p:nvSpPr>
        <p:spPr>
          <a:xfrm>
            <a:off x="139148" y="993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  <a:cs typeface="Rajdhani" panose="020B0604020202020204" charset="0"/>
            </a:endParaRPr>
          </a:p>
        </p:txBody>
      </p:sp>
      <p:grpSp>
        <p:nvGrpSpPr>
          <p:cNvPr id="11" name="Google Shape;155;p20"/>
          <p:cNvGrpSpPr/>
          <p:nvPr/>
        </p:nvGrpSpPr>
        <p:grpSpPr>
          <a:xfrm rot="-5400000">
            <a:off x="8624907" y="3418119"/>
            <a:ext cx="362321" cy="364231"/>
            <a:chOff x="6069423" y="2891892"/>
            <a:chExt cx="362321" cy="364231"/>
          </a:xfrm>
        </p:grpSpPr>
        <p:sp>
          <p:nvSpPr>
            <p:cNvPr id="12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14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15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16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17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18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</p:grpSp>
      <p:sp>
        <p:nvSpPr>
          <p:cNvPr id="20" name="Google Shape;162;p20"/>
          <p:cNvSpPr/>
          <p:nvPr/>
        </p:nvSpPr>
        <p:spPr>
          <a:xfrm rot="-5400000">
            <a:off x="6284015" y="2392846"/>
            <a:ext cx="5044107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lt2"/>
                </a:solidFill>
                <a:latin typeface="Rajdhani" panose="020B0604020202020204" charset="0"/>
                <a:ea typeface="Rajdhani"/>
                <a:cs typeface="Rajdhani" panose="020B0604020202020204" charset="0"/>
                <a:sym typeface="Rajdhani"/>
              </a:rPr>
              <a:t>3- </a:t>
            </a:r>
            <a:r>
              <a:rPr lang="en-US" sz="2000" b="1" dirty="0" err="1">
                <a:solidFill>
                  <a:schemeClr val="lt2"/>
                </a:solidFill>
                <a:latin typeface="Rajdhani" panose="020B0604020202020204" charset="0"/>
                <a:ea typeface="Rajdhani"/>
                <a:cs typeface="Rajdhani" panose="020B0604020202020204" charset="0"/>
                <a:sym typeface="Rajdhani"/>
              </a:rPr>
              <a:t>o‘quv</a:t>
            </a:r>
            <a:r>
              <a:rPr lang="en-US" sz="2000" b="1" dirty="0">
                <a:solidFill>
                  <a:schemeClr val="lt2"/>
                </a:solidFill>
                <a:latin typeface="Rajdhani" panose="020B0604020202020204" charset="0"/>
                <a:ea typeface="Rajdhani"/>
                <a:cs typeface="Rajdhani" panose="020B0604020202020204" charset="0"/>
                <a:sym typeface="Rajdhani"/>
              </a:rPr>
              <a:t> </a:t>
            </a:r>
            <a:r>
              <a:rPr lang="en-US" sz="2000" b="1" dirty="0" err="1">
                <a:solidFill>
                  <a:schemeClr val="lt2"/>
                </a:solidFill>
                <a:latin typeface="Rajdhani" panose="020B0604020202020204" charset="0"/>
                <a:ea typeface="Rajdhani"/>
                <a:cs typeface="Rajdhani" panose="020B0604020202020204" charset="0"/>
                <a:sym typeface="Rajdhani"/>
              </a:rPr>
              <a:t>savoli</a:t>
            </a:r>
            <a:endParaRPr lang="en-US" sz="2000" b="1" dirty="0">
              <a:solidFill>
                <a:schemeClr val="lt2"/>
              </a:solidFill>
              <a:latin typeface="Rajdhani" panose="020B0604020202020204" charset="0"/>
              <a:ea typeface="Rajdhani"/>
              <a:cs typeface="Rajdhani" panose="020B0604020202020204" charset="0"/>
              <a:sym typeface="Rajdhani"/>
            </a:endParaRPr>
          </a:p>
        </p:txBody>
      </p:sp>
      <p:grpSp>
        <p:nvGrpSpPr>
          <p:cNvPr id="21" name="Google Shape;155;p20"/>
          <p:cNvGrpSpPr/>
          <p:nvPr/>
        </p:nvGrpSpPr>
        <p:grpSpPr>
          <a:xfrm rot="-5400000">
            <a:off x="8624907" y="1435083"/>
            <a:ext cx="362321" cy="364231"/>
            <a:chOff x="6069423" y="2891892"/>
            <a:chExt cx="362321" cy="364231"/>
          </a:xfrm>
        </p:grpSpPr>
        <p:sp>
          <p:nvSpPr>
            <p:cNvPr id="22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3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4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5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6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  <p:sp>
          <p:nvSpPr>
            <p:cNvPr id="27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ajdhani" panose="020B0604020202020204" charset="0"/>
                <a:cs typeface="Rajdhani" panose="020B0604020202020204" charset="0"/>
              </a:endParaRPr>
            </a:p>
          </p:txBody>
        </p:sp>
      </p:grpSp>
      <p:sp>
        <p:nvSpPr>
          <p:cNvPr id="28" name="Google Shape;57;p15"/>
          <p:cNvSpPr txBox="1">
            <a:spLocks/>
          </p:cNvSpPr>
          <p:nvPr/>
        </p:nvSpPr>
        <p:spPr>
          <a:xfrm>
            <a:off x="92661" y="635001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uz-Cyrl-UZ" sz="2400" dirty="0">
                <a:solidFill>
                  <a:srgbClr val="FFFF00"/>
                </a:solidFill>
                <a:cs typeface="Rajdhani" panose="020B0604020202020204" charset="0"/>
              </a:rPr>
              <a:t>MRAD  BURCHAK O‘LCHOV BIRLIGI</a:t>
            </a:r>
            <a:r>
              <a:rPr lang="uz-Latn-UZ" sz="2400" dirty="0">
                <a:solidFill>
                  <a:srgbClr val="FFFF00"/>
                </a:solidFill>
                <a:latin typeface="Rajdhani" panose="020B0604020202020204" charset="0"/>
                <a:cs typeface="Rajdhani" panose="020B0604020202020204" charset="0"/>
              </a:rPr>
              <a:t>NI KELIB CHIQISHI</a:t>
            </a:r>
            <a:r>
              <a:rPr lang="uz-Cyrl-UZ" sz="2400" dirty="0">
                <a:solidFill>
                  <a:srgbClr val="FFFF00"/>
                </a:solidFill>
                <a:cs typeface="Rajdhani" panose="020B0604020202020204" charset="0"/>
              </a:rPr>
              <a:t> </a:t>
            </a:r>
            <a:endParaRPr lang="uz-Latn-UZ" sz="2400" dirty="0">
              <a:solidFill>
                <a:srgbClr val="FFFF00"/>
              </a:solidFill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9" name="Google Shape;57;p15"/>
          <p:cNvSpPr txBox="1">
            <a:spLocks/>
          </p:cNvSpPr>
          <p:nvPr/>
        </p:nvSpPr>
        <p:spPr>
          <a:xfrm>
            <a:off x="92661" y="1079653"/>
            <a:ext cx="8510555" cy="1936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indent="361950" algn="just"/>
            <a:r>
              <a:rPr lang="uz-Cyrl-UZ" sz="2400" dirty="0">
                <a:solidFill>
                  <a:srgbClr val="FFFF00"/>
                </a:solidFill>
                <a:cs typeface="Rajdhani" panose="020B0604020202020204" charset="0"/>
              </a:rPr>
              <a:t>Mrad (milliradian) </a:t>
            </a:r>
            <a:r>
              <a:rPr lang="uz-Cyrl-UZ" sz="2400" dirty="0">
                <a:cs typeface="Rajdhani" panose="020B0604020202020204" charset="0"/>
              </a:rPr>
              <a:t>burchak o‘lchov birligi </a:t>
            </a:r>
            <a:r>
              <a:rPr lang="uz-Cyrl-UZ" sz="2400" dirty="0">
                <a:solidFill>
                  <a:srgbClr val="FFFF00"/>
                </a:solidFill>
                <a:cs typeface="Rajdhani" panose="020B0604020202020204" charset="0"/>
              </a:rPr>
              <a:t>MDH</a:t>
            </a:r>
            <a:r>
              <a:rPr lang="uz-Cyrl-UZ" sz="2400" dirty="0">
                <a:cs typeface="Rajdhani" panose="020B0604020202020204" charset="0"/>
              </a:rPr>
              <a:t> davlatlari va </a:t>
            </a:r>
            <a:r>
              <a:rPr lang="uz-Cyrl-UZ" sz="2400" dirty="0">
                <a:solidFill>
                  <a:srgbClr val="FFFF00"/>
                </a:solidFill>
                <a:cs typeface="Rajdhani" panose="020B0604020202020204" charset="0"/>
              </a:rPr>
              <a:t>NATO</a:t>
            </a:r>
            <a:r>
              <a:rPr lang="uz-Cyrl-UZ" sz="2400" dirty="0">
                <a:cs typeface="Rajdhani" panose="020B0604020202020204" charset="0"/>
              </a:rPr>
              <a:t> harbiy blokiga a’zo davlatlarning armiyalaridagi </a:t>
            </a:r>
            <a:r>
              <a:rPr lang="uz-Cyrl-UZ" sz="2400" dirty="0">
                <a:solidFill>
                  <a:srgbClr val="FFFF00"/>
                </a:solidFill>
                <a:cs typeface="Rajdhani" panose="020B0604020202020204" charset="0"/>
              </a:rPr>
              <a:t>merganlik</a:t>
            </a:r>
            <a:r>
              <a:rPr lang="uz-Cyrl-UZ" sz="2400" dirty="0">
                <a:cs typeface="Rajdhani" panose="020B0604020202020204" charset="0"/>
              </a:rPr>
              <a:t> qurollarida qo‘llaniladigan zamonaviy </a:t>
            </a:r>
            <a:r>
              <a:rPr lang="uz-Cyrl-UZ" sz="2400" dirty="0">
                <a:solidFill>
                  <a:srgbClr val="FFFF00"/>
                </a:solidFill>
                <a:cs typeface="Rajdhani" panose="020B0604020202020204" charset="0"/>
              </a:rPr>
              <a:t>optik pritsellarda </a:t>
            </a:r>
            <a:r>
              <a:rPr lang="uz-Cyrl-UZ" sz="2400" dirty="0">
                <a:cs typeface="Rajdhani" panose="020B0604020202020204" charset="0"/>
              </a:rPr>
              <a:t>keng qo‘llaniladi. G‘arb davlatlarida </a:t>
            </a:r>
            <a:r>
              <a:rPr lang="uz-Cyrl-UZ" sz="2400" dirty="0">
                <a:solidFill>
                  <a:srgbClr val="FFFF00"/>
                </a:solidFill>
                <a:cs typeface="Rajdhani" panose="020B0604020202020204" charset="0"/>
              </a:rPr>
              <a:t>Mrad</a:t>
            </a:r>
            <a:r>
              <a:rPr lang="uz-Cyrl-UZ" sz="2400" dirty="0">
                <a:cs typeface="Rajdhani" panose="020B0604020202020204" charset="0"/>
              </a:rPr>
              <a:t> o‘lchov birligi </a:t>
            </a:r>
            <a:r>
              <a:rPr lang="uz-Cyrl-UZ" sz="2400" dirty="0">
                <a:solidFill>
                  <a:srgbClr val="FFFF00"/>
                </a:solidFill>
                <a:cs typeface="Rajdhani" panose="020B0604020202020204" charset="0"/>
              </a:rPr>
              <a:t>Mil </a:t>
            </a:r>
            <a:r>
              <a:rPr lang="uz-Cyrl-UZ" sz="2400" dirty="0">
                <a:cs typeface="Rajdhani" panose="020B0604020202020204" charset="0"/>
              </a:rPr>
              <a:t>deb nomlanadi. </a:t>
            </a:r>
            <a:endParaRPr lang="ru-RU" sz="2400" dirty="0">
              <a:cs typeface="Rajdhani" panose="020B0604020202020204" charset="0"/>
            </a:endParaRPr>
          </a:p>
        </p:txBody>
      </p:sp>
      <p:sp>
        <p:nvSpPr>
          <p:cNvPr id="30" name="Google Shape;57;p15"/>
          <p:cNvSpPr txBox="1">
            <a:spLocks/>
          </p:cNvSpPr>
          <p:nvPr/>
        </p:nvSpPr>
        <p:spPr>
          <a:xfrm>
            <a:off x="70263" y="4043189"/>
            <a:ext cx="8510555" cy="955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indent="361950" algn="just"/>
            <a:r>
              <a:rPr lang="uz-Cyrl-UZ" sz="1800" dirty="0">
                <a:solidFill>
                  <a:srgbClr val="FFFF00"/>
                </a:solidFill>
                <a:cs typeface="Rajdhani" panose="020B0604020202020204" charset="0"/>
              </a:rPr>
              <a:t>Klik (click) </a:t>
            </a:r>
            <a:r>
              <a:rPr lang="uz-Cyrl-UZ" sz="1800" dirty="0">
                <a:cs typeface="Rajdhani" panose="020B0604020202020204" charset="0"/>
              </a:rPr>
              <a:t>– bu shkalaning bir bo‘limi (deleniyasi), vertikal va gorizontal barabanlarni harakatlantirish orqali tuzatma kiritish, aniq aytadigan bo‘lsak, sababi shundaki bir marta shiqillash (shilchok) aylantirish (1 click) harakatlantirish.</a:t>
            </a:r>
            <a:endParaRPr lang="ru-RU" sz="1800" dirty="0">
              <a:cs typeface="Rajdhani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792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57;p15"/>
          <p:cNvSpPr txBox="1">
            <a:spLocks/>
          </p:cNvSpPr>
          <p:nvPr/>
        </p:nvSpPr>
        <p:spPr>
          <a:xfrm>
            <a:off x="139148" y="993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</a:endParaRPr>
          </a:p>
        </p:txBody>
      </p:sp>
      <p:grpSp>
        <p:nvGrpSpPr>
          <p:cNvPr id="48" name="Google Shape;155;p20"/>
          <p:cNvGrpSpPr/>
          <p:nvPr/>
        </p:nvGrpSpPr>
        <p:grpSpPr>
          <a:xfrm rot="-5400000">
            <a:off x="8624907" y="3418119"/>
            <a:ext cx="362321" cy="364231"/>
            <a:chOff x="6069423" y="2891892"/>
            <a:chExt cx="362321" cy="364231"/>
          </a:xfrm>
        </p:grpSpPr>
        <p:sp>
          <p:nvSpPr>
            <p:cNvPr id="49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Google Shape;162;p20"/>
          <p:cNvSpPr/>
          <p:nvPr/>
        </p:nvSpPr>
        <p:spPr>
          <a:xfrm rot="-5400000">
            <a:off x="6284015" y="2392846"/>
            <a:ext cx="5044107" cy="457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3-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o‘quv</a:t>
            </a:r>
            <a:r>
              <a:rPr lang="en-US"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2000" b="1" dirty="0" err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savoli</a:t>
            </a:r>
            <a:endParaRPr lang="en-US" sz="2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grpSp>
        <p:nvGrpSpPr>
          <p:cNvPr id="57" name="Google Shape;155;p20"/>
          <p:cNvGrpSpPr/>
          <p:nvPr/>
        </p:nvGrpSpPr>
        <p:grpSpPr>
          <a:xfrm rot="-5400000">
            <a:off x="8624907" y="1435083"/>
            <a:ext cx="362321" cy="364231"/>
            <a:chOff x="6069423" y="2891892"/>
            <a:chExt cx="362321" cy="364231"/>
          </a:xfrm>
        </p:grpSpPr>
        <p:sp>
          <p:nvSpPr>
            <p:cNvPr id="58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Google Shape;233;p21" title="Chart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11419" r="11365"/>
          <a:stretch/>
        </p:blipFill>
        <p:spPr>
          <a:xfrm>
            <a:off x="3379977" y="1594424"/>
            <a:ext cx="2391825" cy="24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57;p15"/>
          <p:cNvSpPr txBox="1">
            <a:spLocks/>
          </p:cNvSpPr>
          <p:nvPr/>
        </p:nvSpPr>
        <p:spPr>
          <a:xfrm>
            <a:off x="2541243" y="506988"/>
            <a:ext cx="4091329" cy="122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n-US" sz="4400" dirty="0">
                <a:solidFill>
                  <a:schemeClr val="tx2"/>
                </a:solidFill>
              </a:rPr>
              <a:t>XULOSA</a:t>
            </a:r>
            <a:endParaRPr lang="ru-RU" sz="4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17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2"/>
          <p:cNvSpPr/>
          <p:nvPr/>
        </p:nvSpPr>
        <p:spPr>
          <a:xfrm>
            <a:off x="3475413" y="2679450"/>
            <a:ext cx="1677000" cy="1677000"/>
          </a:xfrm>
          <a:prstGeom prst="ellipse">
            <a:avLst/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32"/>
          <p:cNvSpPr/>
          <p:nvPr/>
        </p:nvSpPr>
        <p:spPr>
          <a:xfrm>
            <a:off x="4422578" y="1728126"/>
            <a:ext cx="2031900" cy="2031900"/>
          </a:xfrm>
          <a:prstGeom prst="ellipse">
            <a:avLst/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32"/>
          <p:cNvSpPr txBox="1"/>
          <p:nvPr/>
        </p:nvSpPr>
        <p:spPr>
          <a:xfrm>
            <a:off x="5072828" y="2303675"/>
            <a:ext cx="73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 sz="2400" b="1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798" name="Google Shape;798;p32"/>
          <p:cNvSpPr/>
          <p:nvPr/>
        </p:nvSpPr>
        <p:spPr>
          <a:xfrm>
            <a:off x="3475428" y="1641703"/>
            <a:ext cx="1167000" cy="1167000"/>
          </a:xfrm>
          <a:prstGeom prst="ellipse">
            <a:avLst/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32"/>
          <p:cNvSpPr txBox="1">
            <a:spLocks noGrp="1"/>
          </p:cNvSpPr>
          <p:nvPr>
            <p:ph type="title"/>
          </p:nvPr>
        </p:nvSpPr>
        <p:spPr>
          <a:xfrm>
            <a:off x="734908" y="6350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UMUMIY XULOSA</a:t>
            </a:r>
            <a:endParaRPr dirty="0"/>
          </a:p>
        </p:txBody>
      </p:sp>
      <p:grpSp>
        <p:nvGrpSpPr>
          <p:cNvPr id="800" name="Google Shape;800;p32"/>
          <p:cNvGrpSpPr/>
          <p:nvPr/>
        </p:nvGrpSpPr>
        <p:grpSpPr>
          <a:xfrm>
            <a:off x="5310985" y="2760878"/>
            <a:ext cx="255086" cy="301685"/>
            <a:chOff x="8065100" y="2000174"/>
            <a:chExt cx="255086" cy="301685"/>
          </a:xfrm>
        </p:grpSpPr>
        <p:sp>
          <p:nvSpPr>
            <p:cNvPr id="801" name="Google Shape;801;p32"/>
            <p:cNvSpPr/>
            <p:nvPr/>
          </p:nvSpPr>
          <p:spPr>
            <a:xfrm>
              <a:off x="8085185" y="2151016"/>
              <a:ext cx="65220" cy="150842"/>
            </a:xfrm>
            <a:custGeom>
              <a:avLst/>
              <a:gdLst/>
              <a:ahLst/>
              <a:cxnLst/>
              <a:rect l="l" t="t" r="r" b="b"/>
              <a:pathLst>
                <a:path w="2049" h="4739" extrusionOk="0">
                  <a:moveTo>
                    <a:pt x="1144" y="274"/>
                  </a:moveTo>
                  <a:cubicBezTo>
                    <a:pt x="1299" y="274"/>
                    <a:pt x="1453" y="405"/>
                    <a:pt x="1453" y="583"/>
                  </a:cubicBezTo>
                  <a:lnTo>
                    <a:pt x="1453" y="881"/>
                  </a:lnTo>
                  <a:cubicBezTo>
                    <a:pt x="1453" y="1155"/>
                    <a:pt x="1251" y="1345"/>
                    <a:pt x="989" y="1345"/>
                  </a:cubicBezTo>
                  <a:cubicBezTo>
                    <a:pt x="739" y="1345"/>
                    <a:pt x="537" y="1131"/>
                    <a:pt x="537" y="881"/>
                  </a:cubicBezTo>
                  <a:lnTo>
                    <a:pt x="537" y="583"/>
                  </a:lnTo>
                  <a:cubicBezTo>
                    <a:pt x="537" y="417"/>
                    <a:pt x="668" y="274"/>
                    <a:pt x="846" y="274"/>
                  </a:cubicBezTo>
                  <a:close/>
                  <a:moveTo>
                    <a:pt x="1144" y="1631"/>
                  </a:moveTo>
                  <a:lnTo>
                    <a:pt x="1144" y="1691"/>
                  </a:lnTo>
                  <a:cubicBezTo>
                    <a:pt x="1144" y="1726"/>
                    <a:pt x="1156" y="1786"/>
                    <a:pt x="1180" y="1834"/>
                  </a:cubicBezTo>
                  <a:lnTo>
                    <a:pt x="989" y="2024"/>
                  </a:lnTo>
                  <a:lnTo>
                    <a:pt x="787" y="1834"/>
                  </a:lnTo>
                  <a:cubicBezTo>
                    <a:pt x="810" y="1786"/>
                    <a:pt x="822" y="1738"/>
                    <a:pt x="822" y="1691"/>
                  </a:cubicBezTo>
                  <a:lnTo>
                    <a:pt x="822" y="1631"/>
                  </a:lnTo>
                  <a:close/>
                  <a:moveTo>
                    <a:pt x="858" y="0"/>
                  </a:moveTo>
                  <a:cubicBezTo>
                    <a:pt x="537" y="0"/>
                    <a:pt x="275" y="274"/>
                    <a:pt x="275" y="583"/>
                  </a:cubicBezTo>
                  <a:lnTo>
                    <a:pt x="275" y="881"/>
                  </a:lnTo>
                  <a:cubicBezTo>
                    <a:pt x="275" y="1119"/>
                    <a:pt x="394" y="1345"/>
                    <a:pt x="572" y="1476"/>
                  </a:cubicBezTo>
                  <a:lnTo>
                    <a:pt x="572" y="1691"/>
                  </a:lnTo>
                  <a:lnTo>
                    <a:pt x="572" y="1703"/>
                  </a:lnTo>
                  <a:lnTo>
                    <a:pt x="239" y="1881"/>
                  </a:lnTo>
                  <a:cubicBezTo>
                    <a:pt x="84" y="1953"/>
                    <a:pt x="1" y="2107"/>
                    <a:pt x="1" y="2262"/>
                  </a:cubicBezTo>
                  <a:lnTo>
                    <a:pt x="1" y="3572"/>
                  </a:lnTo>
                  <a:cubicBezTo>
                    <a:pt x="1" y="3691"/>
                    <a:pt x="25" y="3798"/>
                    <a:pt x="96" y="3905"/>
                  </a:cubicBezTo>
                  <a:lnTo>
                    <a:pt x="251" y="4132"/>
                  </a:lnTo>
                  <a:cubicBezTo>
                    <a:pt x="275" y="4167"/>
                    <a:pt x="298" y="4227"/>
                    <a:pt x="298" y="4286"/>
                  </a:cubicBezTo>
                  <a:lnTo>
                    <a:pt x="298" y="4608"/>
                  </a:lnTo>
                  <a:cubicBezTo>
                    <a:pt x="298" y="4679"/>
                    <a:pt x="358" y="4739"/>
                    <a:pt x="429" y="4739"/>
                  </a:cubicBezTo>
                  <a:cubicBezTo>
                    <a:pt x="501" y="4739"/>
                    <a:pt x="560" y="4679"/>
                    <a:pt x="560" y="4608"/>
                  </a:cubicBezTo>
                  <a:lnTo>
                    <a:pt x="560" y="4286"/>
                  </a:lnTo>
                  <a:cubicBezTo>
                    <a:pt x="560" y="4167"/>
                    <a:pt x="537" y="4072"/>
                    <a:pt x="453" y="3965"/>
                  </a:cubicBezTo>
                  <a:lnTo>
                    <a:pt x="310" y="3739"/>
                  </a:lnTo>
                  <a:cubicBezTo>
                    <a:pt x="275" y="3691"/>
                    <a:pt x="263" y="3631"/>
                    <a:pt x="263" y="3572"/>
                  </a:cubicBezTo>
                  <a:lnTo>
                    <a:pt x="263" y="2262"/>
                  </a:lnTo>
                  <a:cubicBezTo>
                    <a:pt x="263" y="2203"/>
                    <a:pt x="298" y="2143"/>
                    <a:pt x="358" y="2119"/>
                  </a:cubicBezTo>
                  <a:lnTo>
                    <a:pt x="596" y="2000"/>
                  </a:lnTo>
                  <a:lnTo>
                    <a:pt x="810" y="2227"/>
                  </a:lnTo>
                  <a:cubicBezTo>
                    <a:pt x="870" y="2286"/>
                    <a:pt x="953" y="2310"/>
                    <a:pt x="1025" y="2310"/>
                  </a:cubicBezTo>
                  <a:cubicBezTo>
                    <a:pt x="1096" y="2310"/>
                    <a:pt x="1168" y="2286"/>
                    <a:pt x="1227" y="2227"/>
                  </a:cubicBezTo>
                  <a:lnTo>
                    <a:pt x="1453" y="2000"/>
                  </a:lnTo>
                  <a:lnTo>
                    <a:pt x="1692" y="2119"/>
                  </a:lnTo>
                  <a:cubicBezTo>
                    <a:pt x="1751" y="2143"/>
                    <a:pt x="1787" y="2191"/>
                    <a:pt x="1787" y="2262"/>
                  </a:cubicBezTo>
                  <a:lnTo>
                    <a:pt x="1787" y="3572"/>
                  </a:lnTo>
                  <a:cubicBezTo>
                    <a:pt x="1787" y="3631"/>
                    <a:pt x="1763" y="3691"/>
                    <a:pt x="1739" y="3739"/>
                  </a:cubicBezTo>
                  <a:lnTo>
                    <a:pt x="1584" y="3965"/>
                  </a:lnTo>
                  <a:cubicBezTo>
                    <a:pt x="1525" y="4048"/>
                    <a:pt x="1489" y="4167"/>
                    <a:pt x="1489" y="4286"/>
                  </a:cubicBezTo>
                  <a:lnTo>
                    <a:pt x="1489" y="4608"/>
                  </a:lnTo>
                  <a:cubicBezTo>
                    <a:pt x="1489" y="4679"/>
                    <a:pt x="1549" y="4739"/>
                    <a:pt x="1620" y="4739"/>
                  </a:cubicBezTo>
                  <a:cubicBezTo>
                    <a:pt x="1692" y="4739"/>
                    <a:pt x="1751" y="4679"/>
                    <a:pt x="1751" y="4608"/>
                  </a:cubicBezTo>
                  <a:lnTo>
                    <a:pt x="1751" y="4286"/>
                  </a:lnTo>
                  <a:cubicBezTo>
                    <a:pt x="1751" y="4227"/>
                    <a:pt x="1763" y="4167"/>
                    <a:pt x="1799" y="4132"/>
                  </a:cubicBezTo>
                  <a:lnTo>
                    <a:pt x="1942" y="3905"/>
                  </a:lnTo>
                  <a:cubicBezTo>
                    <a:pt x="2001" y="3810"/>
                    <a:pt x="2049" y="3691"/>
                    <a:pt x="2049" y="3572"/>
                  </a:cubicBezTo>
                  <a:lnTo>
                    <a:pt x="2049" y="2262"/>
                  </a:lnTo>
                  <a:cubicBezTo>
                    <a:pt x="2025" y="2107"/>
                    <a:pt x="1930" y="1953"/>
                    <a:pt x="1787" y="1881"/>
                  </a:cubicBezTo>
                  <a:lnTo>
                    <a:pt x="1441" y="1703"/>
                  </a:lnTo>
                  <a:lnTo>
                    <a:pt x="1441" y="1691"/>
                  </a:lnTo>
                  <a:lnTo>
                    <a:pt x="1441" y="1476"/>
                  </a:lnTo>
                  <a:cubicBezTo>
                    <a:pt x="1620" y="1345"/>
                    <a:pt x="1739" y="1131"/>
                    <a:pt x="1739" y="881"/>
                  </a:cubicBezTo>
                  <a:lnTo>
                    <a:pt x="1739" y="583"/>
                  </a:lnTo>
                  <a:cubicBezTo>
                    <a:pt x="1739" y="262"/>
                    <a:pt x="1465" y="0"/>
                    <a:pt x="11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2"/>
            <p:cNvSpPr/>
            <p:nvPr/>
          </p:nvSpPr>
          <p:spPr>
            <a:xfrm>
              <a:off x="8161004" y="2151016"/>
              <a:ext cx="65188" cy="150842"/>
            </a:xfrm>
            <a:custGeom>
              <a:avLst/>
              <a:gdLst/>
              <a:ahLst/>
              <a:cxnLst/>
              <a:rect l="l" t="t" r="r" b="b"/>
              <a:pathLst>
                <a:path w="2048" h="4739" extrusionOk="0">
                  <a:moveTo>
                    <a:pt x="1143" y="274"/>
                  </a:moveTo>
                  <a:cubicBezTo>
                    <a:pt x="1298" y="274"/>
                    <a:pt x="1453" y="405"/>
                    <a:pt x="1453" y="583"/>
                  </a:cubicBezTo>
                  <a:lnTo>
                    <a:pt x="1453" y="881"/>
                  </a:lnTo>
                  <a:cubicBezTo>
                    <a:pt x="1441" y="1155"/>
                    <a:pt x="1250" y="1345"/>
                    <a:pt x="988" y="1345"/>
                  </a:cubicBezTo>
                  <a:cubicBezTo>
                    <a:pt x="738" y="1345"/>
                    <a:pt x="536" y="1131"/>
                    <a:pt x="536" y="881"/>
                  </a:cubicBezTo>
                  <a:lnTo>
                    <a:pt x="536" y="583"/>
                  </a:lnTo>
                  <a:cubicBezTo>
                    <a:pt x="536" y="417"/>
                    <a:pt x="667" y="274"/>
                    <a:pt x="845" y="274"/>
                  </a:cubicBezTo>
                  <a:close/>
                  <a:moveTo>
                    <a:pt x="1143" y="1631"/>
                  </a:moveTo>
                  <a:lnTo>
                    <a:pt x="1143" y="1691"/>
                  </a:lnTo>
                  <a:cubicBezTo>
                    <a:pt x="1143" y="1726"/>
                    <a:pt x="1155" y="1786"/>
                    <a:pt x="1179" y="1834"/>
                  </a:cubicBezTo>
                  <a:lnTo>
                    <a:pt x="988" y="2024"/>
                  </a:lnTo>
                  <a:lnTo>
                    <a:pt x="786" y="1834"/>
                  </a:lnTo>
                  <a:cubicBezTo>
                    <a:pt x="810" y="1786"/>
                    <a:pt x="822" y="1738"/>
                    <a:pt x="822" y="1691"/>
                  </a:cubicBezTo>
                  <a:lnTo>
                    <a:pt x="822" y="1631"/>
                  </a:lnTo>
                  <a:close/>
                  <a:moveTo>
                    <a:pt x="857" y="0"/>
                  </a:moveTo>
                  <a:cubicBezTo>
                    <a:pt x="536" y="0"/>
                    <a:pt x="274" y="274"/>
                    <a:pt x="274" y="583"/>
                  </a:cubicBezTo>
                  <a:lnTo>
                    <a:pt x="274" y="881"/>
                  </a:lnTo>
                  <a:cubicBezTo>
                    <a:pt x="274" y="1119"/>
                    <a:pt x="393" y="1345"/>
                    <a:pt x="572" y="1476"/>
                  </a:cubicBezTo>
                  <a:lnTo>
                    <a:pt x="572" y="1691"/>
                  </a:lnTo>
                  <a:lnTo>
                    <a:pt x="572" y="1703"/>
                  </a:lnTo>
                  <a:lnTo>
                    <a:pt x="238" y="1881"/>
                  </a:lnTo>
                  <a:cubicBezTo>
                    <a:pt x="83" y="1953"/>
                    <a:pt x="0" y="2107"/>
                    <a:pt x="0" y="2262"/>
                  </a:cubicBezTo>
                  <a:lnTo>
                    <a:pt x="0" y="3572"/>
                  </a:lnTo>
                  <a:cubicBezTo>
                    <a:pt x="0" y="3691"/>
                    <a:pt x="24" y="3798"/>
                    <a:pt x="95" y="3905"/>
                  </a:cubicBezTo>
                  <a:lnTo>
                    <a:pt x="250" y="4132"/>
                  </a:lnTo>
                  <a:cubicBezTo>
                    <a:pt x="274" y="4167"/>
                    <a:pt x="298" y="4227"/>
                    <a:pt x="298" y="4286"/>
                  </a:cubicBezTo>
                  <a:lnTo>
                    <a:pt x="298" y="4608"/>
                  </a:lnTo>
                  <a:cubicBezTo>
                    <a:pt x="298" y="4679"/>
                    <a:pt x="357" y="4739"/>
                    <a:pt x="429" y="4739"/>
                  </a:cubicBezTo>
                  <a:cubicBezTo>
                    <a:pt x="500" y="4739"/>
                    <a:pt x="560" y="4679"/>
                    <a:pt x="560" y="4608"/>
                  </a:cubicBezTo>
                  <a:lnTo>
                    <a:pt x="560" y="4286"/>
                  </a:lnTo>
                  <a:cubicBezTo>
                    <a:pt x="560" y="4167"/>
                    <a:pt x="536" y="4072"/>
                    <a:pt x="453" y="3965"/>
                  </a:cubicBezTo>
                  <a:lnTo>
                    <a:pt x="310" y="3739"/>
                  </a:lnTo>
                  <a:cubicBezTo>
                    <a:pt x="274" y="3691"/>
                    <a:pt x="262" y="3631"/>
                    <a:pt x="262" y="3572"/>
                  </a:cubicBezTo>
                  <a:lnTo>
                    <a:pt x="262" y="2262"/>
                  </a:lnTo>
                  <a:cubicBezTo>
                    <a:pt x="262" y="2203"/>
                    <a:pt x="298" y="2143"/>
                    <a:pt x="357" y="2119"/>
                  </a:cubicBezTo>
                  <a:lnTo>
                    <a:pt x="595" y="2000"/>
                  </a:lnTo>
                  <a:lnTo>
                    <a:pt x="810" y="2227"/>
                  </a:lnTo>
                  <a:cubicBezTo>
                    <a:pt x="869" y="2286"/>
                    <a:pt x="953" y="2310"/>
                    <a:pt x="1024" y="2310"/>
                  </a:cubicBezTo>
                  <a:cubicBezTo>
                    <a:pt x="1095" y="2310"/>
                    <a:pt x="1167" y="2286"/>
                    <a:pt x="1226" y="2227"/>
                  </a:cubicBezTo>
                  <a:lnTo>
                    <a:pt x="1453" y="2000"/>
                  </a:lnTo>
                  <a:lnTo>
                    <a:pt x="1691" y="2119"/>
                  </a:lnTo>
                  <a:cubicBezTo>
                    <a:pt x="1750" y="2143"/>
                    <a:pt x="1786" y="2191"/>
                    <a:pt x="1786" y="2262"/>
                  </a:cubicBezTo>
                  <a:lnTo>
                    <a:pt x="1786" y="3572"/>
                  </a:lnTo>
                  <a:cubicBezTo>
                    <a:pt x="1786" y="3631"/>
                    <a:pt x="1762" y="3691"/>
                    <a:pt x="1738" y="3739"/>
                  </a:cubicBezTo>
                  <a:lnTo>
                    <a:pt x="1584" y="3965"/>
                  </a:lnTo>
                  <a:cubicBezTo>
                    <a:pt x="1524" y="4048"/>
                    <a:pt x="1488" y="4167"/>
                    <a:pt x="1488" y="4286"/>
                  </a:cubicBezTo>
                  <a:lnTo>
                    <a:pt x="1488" y="4608"/>
                  </a:lnTo>
                  <a:cubicBezTo>
                    <a:pt x="1488" y="4679"/>
                    <a:pt x="1548" y="4739"/>
                    <a:pt x="1619" y="4739"/>
                  </a:cubicBezTo>
                  <a:cubicBezTo>
                    <a:pt x="1691" y="4739"/>
                    <a:pt x="1750" y="4679"/>
                    <a:pt x="1750" y="4608"/>
                  </a:cubicBezTo>
                  <a:lnTo>
                    <a:pt x="1750" y="4286"/>
                  </a:lnTo>
                  <a:cubicBezTo>
                    <a:pt x="1750" y="4227"/>
                    <a:pt x="1762" y="4167"/>
                    <a:pt x="1798" y="4132"/>
                  </a:cubicBezTo>
                  <a:lnTo>
                    <a:pt x="1941" y="3905"/>
                  </a:lnTo>
                  <a:cubicBezTo>
                    <a:pt x="2000" y="3810"/>
                    <a:pt x="2048" y="3691"/>
                    <a:pt x="2048" y="3572"/>
                  </a:cubicBezTo>
                  <a:lnTo>
                    <a:pt x="2048" y="2262"/>
                  </a:lnTo>
                  <a:cubicBezTo>
                    <a:pt x="2024" y="2107"/>
                    <a:pt x="1929" y="1953"/>
                    <a:pt x="1786" y="1881"/>
                  </a:cubicBezTo>
                  <a:lnTo>
                    <a:pt x="1441" y="1703"/>
                  </a:lnTo>
                  <a:lnTo>
                    <a:pt x="1441" y="1691"/>
                  </a:lnTo>
                  <a:lnTo>
                    <a:pt x="1441" y="1476"/>
                  </a:lnTo>
                  <a:cubicBezTo>
                    <a:pt x="1619" y="1345"/>
                    <a:pt x="1738" y="1131"/>
                    <a:pt x="1738" y="881"/>
                  </a:cubicBezTo>
                  <a:lnTo>
                    <a:pt x="1738" y="583"/>
                  </a:lnTo>
                  <a:cubicBezTo>
                    <a:pt x="1738" y="262"/>
                    <a:pt x="1465" y="0"/>
                    <a:pt x="1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2"/>
            <p:cNvSpPr/>
            <p:nvPr/>
          </p:nvSpPr>
          <p:spPr>
            <a:xfrm>
              <a:off x="8236791" y="2151016"/>
              <a:ext cx="65220" cy="150842"/>
            </a:xfrm>
            <a:custGeom>
              <a:avLst/>
              <a:gdLst/>
              <a:ahLst/>
              <a:cxnLst/>
              <a:rect l="l" t="t" r="r" b="b"/>
              <a:pathLst>
                <a:path w="2049" h="4739" extrusionOk="0">
                  <a:moveTo>
                    <a:pt x="1143" y="274"/>
                  </a:moveTo>
                  <a:cubicBezTo>
                    <a:pt x="1298" y="274"/>
                    <a:pt x="1453" y="405"/>
                    <a:pt x="1453" y="583"/>
                  </a:cubicBezTo>
                  <a:lnTo>
                    <a:pt x="1453" y="881"/>
                  </a:lnTo>
                  <a:cubicBezTo>
                    <a:pt x="1441" y="1155"/>
                    <a:pt x="1250" y="1345"/>
                    <a:pt x="989" y="1345"/>
                  </a:cubicBezTo>
                  <a:cubicBezTo>
                    <a:pt x="739" y="1345"/>
                    <a:pt x="536" y="1131"/>
                    <a:pt x="536" y="881"/>
                  </a:cubicBezTo>
                  <a:lnTo>
                    <a:pt x="536" y="583"/>
                  </a:lnTo>
                  <a:cubicBezTo>
                    <a:pt x="536" y="417"/>
                    <a:pt x="667" y="274"/>
                    <a:pt x="846" y="274"/>
                  </a:cubicBezTo>
                  <a:close/>
                  <a:moveTo>
                    <a:pt x="1143" y="1631"/>
                  </a:moveTo>
                  <a:lnTo>
                    <a:pt x="1143" y="1691"/>
                  </a:lnTo>
                  <a:cubicBezTo>
                    <a:pt x="1143" y="1726"/>
                    <a:pt x="1155" y="1786"/>
                    <a:pt x="1179" y="1834"/>
                  </a:cubicBezTo>
                  <a:lnTo>
                    <a:pt x="989" y="2024"/>
                  </a:lnTo>
                  <a:lnTo>
                    <a:pt x="786" y="1834"/>
                  </a:lnTo>
                  <a:cubicBezTo>
                    <a:pt x="810" y="1786"/>
                    <a:pt x="822" y="1738"/>
                    <a:pt x="822" y="1691"/>
                  </a:cubicBezTo>
                  <a:lnTo>
                    <a:pt x="822" y="1631"/>
                  </a:lnTo>
                  <a:close/>
                  <a:moveTo>
                    <a:pt x="858" y="0"/>
                  </a:moveTo>
                  <a:cubicBezTo>
                    <a:pt x="536" y="0"/>
                    <a:pt x="274" y="274"/>
                    <a:pt x="274" y="583"/>
                  </a:cubicBezTo>
                  <a:lnTo>
                    <a:pt x="274" y="881"/>
                  </a:lnTo>
                  <a:cubicBezTo>
                    <a:pt x="274" y="1119"/>
                    <a:pt x="393" y="1345"/>
                    <a:pt x="572" y="1476"/>
                  </a:cubicBezTo>
                  <a:lnTo>
                    <a:pt x="572" y="1691"/>
                  </a:lnTo>
                  <a:lnTo>
                    <a:pt x="572" y="1703"/>
                  </a:lnTo>
                  <a:lnTo>
                    <a:pt x="238" y="1881"/>
                  </a:lnTo>
                  <a:cubicBezTo>
                    <a:pt x="84" y="1953"/>
                    <a:pt x="0" y="2107"/>
                    <a:pt x="0" y="2262"/>
                  </a:cubicBezTo>
                  <a:lnTo>
                    <a:pt x="0" y="3572"/>
                  </a:lnTo>
                  <a:cubicBezTo>
                    <a:pt x="0" y="3691"/>
                    <a:pt x="24" y="3798"/>
                    <a:pt x="96" y="3905"/>
                  </a:cubicBezTo>
                  <a:lnTo>
                    <a:pt x="250" y="4132"/>
                  </a:lnTo>
                  <a:cubicBezTo>
                    <a:pt x="274" y="4167"/>
                    <a:pt x="298" y="4227"/>
                    <a:pt x="298" y="4286"/>
                  </a:cubicBezTo>
                  <a:lnTo>
                    <a:pt x="298" y="4608"/>
                  </a:lnTo>
                  <a:cubicBezTo>
                    <a:pt x="298" y="4679"/>
                    <a:pt x="358" y="4739"/>
                    <a:pt x="429" y="4739"/>
                  </a:cubicBezTo>
                  <a:cubicBezTo>
                    <a:pt x="500" y="4739"/>
                    <a:pt x="560" y="4679"/>
                    <a:pt x="560" y="4608"/>
                  </a:cubicBezTo>
                  <a:lnTo>
                    <a:pt x="560" y="4286"/>
                  </a:lnTo>
                  <a:cubicBezTo>
                    <a:pt x="560" y="4167"/>
                    <a:pt x="536" y="4072"/>
                    <a:pt x="453" y="3965"/>
                  </a:cubicBezTo>
                  <a:lnTo>
                    <a:pt x="310" y="3739"/>
                  </a:lnTo>
                  <a:cubicBezTo>
                    <a:pt x="274" y="3691"/>
                    <a:pt x="262" y="3631"/>
                    <a:pt x="262" y="3572"/>
                  </a:cubicBezTo>
                  <a:lnTo>
                    <a:pt x="262" y="2262"/>
                  </a:lnTo>
                  <a:cubicBezTo>
                    <a:pt x="262" y="2203"/>
                    <a:pt x="298" y="2143"/>
                    <a:pt x="358" y="2119"/>
                  </a:cubicBezTo>
                  <a:lnTo>
                    <a:pt x="596" y="2000"/>
                  </a:lnTo>
                  <a:lnTo>
                    <a:pt x="810" y="2227"/>
                  </a:lnTo>
                  <a:cubicBezTo>
                    <a:pt x="869" y="2286"/>
                    <a:pt x="953" y="2310"/>
                    <a:pt x="1024" y="2310"/>
                  </a:cubicBezTo>
                  <a:cubicBezTo>
                    <a:pt x="1096" y="2310"/>
                    <a:pt x="1167" y="2286"/>
                    <a:pt x="1227" y="2227"/>
                  </a:cubicBezTo>
                  <a:lnTo>
                    <a:pt x="1453" y="2000"/>
                  </a:lnTo>
                  <a:lnTo>
                    <a:pt x="1691" y="2119"/>
                  </a:lnTo>
                  <a:cubicBezTo>
                    <a:pt x="1751" y="2143"/>
                    <a:pt x="1786" y="2191"/>
                    <a:pt x="1786" y="2262"/>
                  </a:cubicBezTo>
                  <a:lnTo>
                    <a:pt x="1786" y="3572"/>
                  </a:lnTo>
                  <a:cubicBezTo>
                    <a:pt x="1786" y="3631"/>
                    <a:pt x="1762" y="3691"/>
                    <a:pt x="1739" y="3739"/>
                  </a:cubicBezTo>
                  <a:lnTo>
                    <a:pt x="1584" y="3965"/>
                  </a:lnTo>
                  <a:cubicBezTo>
                    <a:pt x="1524" y="4048"/>
                    <a:pt x="1489" y="4167"/>
                    <a:pt x="1489" y="4286"/>
                  </a:cubicBezTo>
                  <a:lnTo>
                    <a:pt x="1489" y="4608"/>
                  </a:lnTo>
                  <a:cubicBezTo>
                    <a:pt x="1489" y="4679"/>
                    <a:pt x="1548" y="4739"/>
                    <a:pt x="1620" y="4739"/>
                  </a:cubicBezTo>
                  <a:cubicBezTo>
                    <a:pt x="1691" y="4739"/>
                    <a:pt x="1751" y="4679"/>
                    <a:pt x="1751" y="4608"/>
                  </a:cubicBezTo>
                  <a:lnTo>
                    <a:pt x="1751" y="4286"/>
                  </a:lnTo>
                  <a:cubicBezTo>
                    <a:pt x="1751" y="4227"/>
                    <a:pt x="1762" y="4167"/>
                    <a:pt x="1798" y="4132"/>
                  </a:cubicBezTo>
                  <a:lnTo>
                    <a:pt x="1941" y="3905"/>
                  </a:lnTo>
                  <a:cubicBezTo>
                    <a:pt x="2001" y="3810"/>
                    <a:pt x="2048" y="3691"/>
                    <a:pt x="2048" y="3572"/>
                  </a:cubicBezTo>
                  <a:lnTo>
                    <a:pt x="2048" y="2262"/>
                  </a:lnTo>
                  <a:cubicBezTo>
                    <a:pt x="2024" y="2107"/>
                    <a:pt x="1929" y="1953"/>
                    <a:pt x="1786" y="1881"/>
                  </a:cubicBezTo>
                  <a:lnTo>
                    <a:pt x="1441" y="1703"/>
                  </a:lnTo>
                  <a:lnTo>
                    <a:pt x="1441" y="1691"/>
                  </a:lnTo>
                  <a:lnTo>
                    <a:pt x="1441" y="1476"/>
                  </a:lnTo>
                  <a:cubicBezTo>
                    <a:pt x="1620" y="1345"/>
                    <a:pt x="1739" y="1131"/>
                    <a:pt x="1739" y="881"/>
                  </a:cubicBezTo>
                  <a:lnTo>
                    <a:pt x="1739" y="583"/>
                  </a:lnTo>
                  <a:cubicBezTo>
                    <a:pt x="1739" y="262"/>
                    <a:pt x="1465" y="0"/>
                    <a:pt x="1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2"/>
            <p:cNvSpPr/>
            <p:nvPr/>
          </p:nvSpPr>
          <p:spPr>
            <a:xfrm>
              <a:off x="8065100" y="2000174"/>
              <a:ext cx="255086" cy="178916"/>
            </a:xfrm>
            <a:custGeom>
              <a:avLst/>
              <a:gdLst/>
              <a:ahLst/>
              <a:cxnLst/>
              <a:rect l="l" t="t" r="r" b="b"/>
              <a:pathLst>
                <a:path w="8014" h="5621" extrusionOk="0">
                  <a:moveTo>
                    <a:pt x="2680" y="512"/>
                  </a:moveTo>
                  <a:lnTo>
                    <a:pt x="2680" y="512"/>
                  </a:lnTo>
                  <a:cubicBezTo>
                    <a:pt x="2477" y="691"/>
                    <a:pt x="2275" y="917"/>
                    <a:pt x="2096" y="1191"/>
                  </a:cubicBezTo>
                  <a:cubicBezTo>
                    <a:pt x="1977" y="1370"/>
                    <a:pt x="1882" y="1572"/>
                    <a:pt x="1787" y="1786"/>
                  </a:cubicBezTo>
                  <a:lnTo>
                    <a:pt x="1013" y="1786"/>
                  </a:lnTo>
                  <a:cubicBezTo>
                    <a:pt x="1430" y="1215"/>
                    <a:pt x="2013" y="774"/>
                    <a:pt x="2680" y="512"/>
                  </a:cubicBezTo>
                  <a:close/>
                  <a:moveTo>
                    <a:pt x="3870" y="274"/>
                  </a:moveTo>
                  <a:lnTo>
                    <a:pt x="3870" y="1786"/>
                  </a:lnTo>
                  <a:lnTo>
                    <a:pt x="2096" y="1786"/>
                  </a:lnTo>
                  <a:cubicBezTo>
                    <a:pt x="2513" y="917"/>
                    <a:pt x="3156" y="346"/>
                    <a:pt x="3870" y="274"/>
                  </a:cubicBezTo>
                  <a:close/>
                  <a:moveTo>
                    <a:pt x="4144" y="274"/>
                  </a:moveTo>
                  <a:cubicBezTo>
                    <a:pt x="4870" y="334"/>
                    <a:pt x="5513" y="917"/>
                    <a:pt x="5906" y="1786"/>
                  </a:cubicBezTo>
                  <a:lnTo>
                    <a:pt x="4144" y="1786"/>
                  </a:lnTo>
                  <a:lnTo>
                    <a:pt x="4144" y="274"/>
                  </a:lnTo>
                  <a:close/>
                  <a:moveTo>
                    <a:pt x="5335" y="512"/>
                  </a:moveTo>
                  <a:lnTo>
                    <a:pt x="5335" y="512"/>
                  </a:lnTo>
                  <a:cubicBezTo>
                    <a:pt x="6002" y="774"/>
                    <a:pt x="6561" y="1215"/>
                    <a:pt x="7002" y="1786"/>
                  </a:cubicBezTo>
                  <a:lnTo>
                    <a:pt x="6228" y="1786"/>
                  </a:lnTo>
                  <a:cubicBezTo>
                    <a:pt x="6133" y="1572"/>
                    <a:pt x="6025" y="1382"/>
                    <a:pt x="5906" y="1191"/>
                  </a:cubicBezTo>
                  <a:cubicBezTo>
                    <a:pt x="5728" y="917"/>
                    <a:pt x="5537" y="691"/>
                    <a:pt x="5335" y="512"/>
                  </a:cubicBezTo>
                  <a:close/>
                  <a:moveTo>
                    <a:pt x="1680" y="2048"/>
                  </a:moveTo>
                  <a:cubicBezTo>
                    <a:pt x="1465" y="2596"/>
                    <a:pt x="1358" y="3215"/>
                    <a:pt x="1346" y="3846"/>
                  </a:cubicBezTo>
                  <a:lnTo>
                    <a:pt x="287" y="3846"/>
                  </a:lnTo>
                  <a:cubicBezTo>
                    <a:pt x="310" y="3191"/>
                    <a:pt x="513" y="2572"/>
                    <a:pt x="834" y="2048"/>
                  </a:cubicBezTo>
                  <a:close/>
                  <a:moveTo>
                    <a:pt x="3870" y="2048"/>
                  </a:moveTo>
                  <a:lnTo>
                    <a:pt x="3870" y="3846"/>
                  </a:lnTo>
                  <a:lnTo>
                    <a:pt x="1620" y="3846"/>
                  </a:lnTo>
                  <a:cubicBezTo>
                    <a:pt x="1644" y="3191"/>
                    <a:pt x="1763" y="2572"/>
                    <a:pt x="1965" y="2048"/>
                  </a:cubicBezTo>
                  <a:close/>
                  <a:moveTo>
                    <a:pt x="6049" y="2048"/>
                  </a:moveTo>
                  <a:cubicBezTo>
                    <a:pt x="6252" y="2584"/>
                    <a:pt x="6371" y="3191"/>
                    <a:pt x="6383" y="3846"/>
                  </a:cubicBezTo>
                  <a:lnTo>
                    <a:pt x="4144" y="3846"/>
                  </a:lnTo>
                  <a:lnTo>
                    <a:pt x="4144" y="2048"/>
                  </a:lnTo>
                  <a:close/>
                  <a:moveTo>
                    <a:pt x="7192" y="2048"/>
                  </a:moveTo>
                  <a:cubicBezTo>
                    <a:pt x="7514" y="2584"/>
                    <a:pt x="7716" y="3191"/>
                    <a:pt x="7740" y="3846"/>
                  </a:cubicBezTo>
                  <a:lnTo>
                    <a:pt x="6668" y="3846"/>
                  </a:lnTo>
                  <a:cubicBezTo>
                    <a:pt x="6656" y="3215"/>
                    <a:pt x="6537" y="2596"/>
                    <a:pt x="6347" y="2048"/>
                  </a:cubicBezTo>
                  <a:close/>
                  <a:moveTo>
                    <a:pt x="4001" y="0"/>
                  </a:moveTo>
                  <a:cubicBezTo>
                    <a:pt x="2930" y="0"/>
                    <a:pt x="1930" y="417"/>
                    <a:pt x="1180" y="1167"/>
                  </a:cubicBezTo>
                  <a:cubicBezTo>
                    <a:pt x="418" y="1929"/>
                    <a:pt x="1" y="2929"/>
                    <a:pt x="1" y="4001"/>
                  </a:cubicBezTo>
                  <a:cubicBezTo>
                    <a:pt x="1" y="4537"/>
                    <a:pt x="108" y="5061"/>
                    <a:pt x="310" y="5537"/>
                  </a:cubicBezTo>
                  <a:cubicBezTo>
                    <a:pt x="337" y="5590"/>
                    <a:pt x="384" y="5617"/>
                    <a:pt x="436" y="5617"/>
                  </a:cubicBezTo>
                  <a:cubicBezTo>
                    <a:pt x="453" y="5617"/>
                    <a:pt x="471" y="5614"/>
                    <a:pt x="489" y="5608"/>
                  </a:cubicBezTo>
                  <a:cubicBezTo>
                    <a:pt x="560" y="5573"/>
                    <a:pt x="596" y="5501"/>
                    <a:pt x="560" y="5430"/>
                  </a:cubicBezTo>
                  <a:cubicBezTo>
                    <a:pt x="382" y="5013"/>
                    <a:pt x="298" y="4584"/>
                    <a:pt x="287" y="4132"/>
                  </a:cubicBezTo>
                  <a:lnTo>
                    <a:pt x="1334" y="4132"/>
                  </a:lnTo>
                  <a:lnTo>
                    <a:pt x="1334" y="4299"/>
                  </a:lnTo>
                  <a:cubicBezTo>
                    <a:pt x="1334" y="4370"/>
                    <a:pt x="1418" y="4430"/>
                    <a:pt x="1489" y="4430"/>
                  </a:cubicBezTo>
                  <a:cubicBezTo>
                    <a:pt x="1561" y="4430"/>
                    <a:pt x="1620" y="4358"/>
                    <a:pt x="1620" y="4287"/>
                  </a:cubicBezTo>
                  <a:lnTo>
                    <a:pt x="1620" y="4132"/>
                  </a:lnTo>
                  <a:lnTo>
                    <a:pt x="3870" y="4132"/>
                  </a:lnTo>
                  <a:lnTo>
                    <a:pt x="3870" y="4299"/>
                  </a:lnTo>
                  <a:cubicBezTo>
                    <a:pt x="3870" y="4370"/>
                    <a:pt x="3930" y="4430"/>
                    <a:pt x="4001" y="4430"/>
                  </a:cubicBezTo>
                  <a:cubicBezTo>
                    <a:pt x="4073" y="4430"/>
                    <a:pt x="4132" y="4370"/>
                    <a:pt x="4132" y="4299"/>
                  </a:cubicBezTo>
                  <a:lnTo>
                    <a:pt x="4132" y="4132"/>
                  </a:lnTo>
                  <a:lnTo>
                    <a:pt x="6383" y="4132"/>
                  </a:lnTo>
                  <a:lnTo>
                    <a:pt x="6383" y="4287"/>
                  </a:lnTo>
                  <a:cubicBezTo>
                    <a:pt x="6383" y="4358"/>
                    <a:pt x="6442" y="4430"/>
                    <a:pt x="6514" y="4430"/>
                  </a:cubicBezTo>
                  <a:cubicBezTo>
                    <a:pt x="6597" y="4430"/>
                    <a:pt x="6656" y="4370"/>
                    <a:pt x="6656" y="4299"/>
                  </a:cubicBezTo>
                  <a:lnTo>
                    <a:pt x="6656" y="4132"/>
                  </a:lnTo>
                  <a:lnTo>
                    <a:pt x="7704" y="4132"/>
                  </a:lnTo>
                  <a:cubicBezTo>
                    <a:pt x="7692" y="4584"/>
                    <a:pt x="7609" y="5013"/>
                    <a:pt x="7430" y="5430"/>
                  </a:cubicBezTo>
                  <a:cubicBezTo>
                    <a:pt x="7395" y="5501"/>
                    <a:pt x="7430" y="5573"/>
                    <a:pt x="7502" y="5608"/>
                  </a:cubicBezTo>
                  <a:cubicBezTo>
                    <a:pt x="7514" y="5608"/>
                    <a:pt x="7526" y="5620"/>
                    <a:pt x="7561" y="5620"/>
                  </a:cubicBezTo>
                  <a:cubicBezTo>
                    <a:pt x="7621" y="5620"/>
                    <a:pt x="7668" y="5596"/>
                    <a:pt x="7692" y="5537"/>
                  </a:cubicBezTo>
                  <a:cubicBezTo>
                    <a:pt x="7907" y="5037"/>
                    <a:pt x="8002" y="4525"/>
                    <a:pt x="8002" y="4001"/>
                  </a:cubicBezTo>
                  <a:cubicBezTo>
                    <a:pt x="8014" y="2929"/>
                    <a:pt x="7597" y="1917"/>
                    <a:pt x="6835" y="1167"/>
                  </a:cubicBezTo>
                  <a:cubicBezTo>
                    <a:pt x="6073" y="417"/>
                    <a:pt x="5073" y="0"/>
                    <a:pt x="40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5" name="Google Shape;805;p32"/>
          <p:cNvGrpSpPr/>
          <p:nvPr/>
        </p:nvGrpSpPr>
        <p:grpSpPr>
          <a:xfrm>
            <a:off x="4136731" y="3569346"/>
            <a:ext cx="354363" cy="354395"/>
            <a:chOff x="3712952" y="1970604"/>
            <a:chExt cx="354363" cy="354395"/>
          </a:xfrm>
        </p:grpSpPr>
        <p:sp>
          <p:nvSpPr>
            <p:cNvPr id="806" name="Google Shape;806;p32"/>
            <p:cNvSpPr/>
            <p:nvPr/>
          </p:nvSpPr>
          <p:spPr>
            <a:xfrm>
              <a:off x="3868314" y="2281360"/>
              <a:ext cx="43639" cy="43639"/>
            </a:xfrm>
            <a:custGeom>
              <a:avLst/>
              <a:gdLst/>
              <a:ahLst/>
              <a:cxnLst/>
              <a:rect l="l" t="t" r="r" b="b"/>
              <a:pathLst>
                <a:path w="1371" h="1371" extrusionOk="0">
                  <a:moveTo>
                    <a:pt x="692" y="334"/>
                  </a:moveTo>
                  <a:cubicBezTo>
                    <a:pt x="882" y="334"/>
                    <a:pt x="1049" y="489"/>
                    <a:pt x="1049" y="691"/>
                  </a:cubicBezTo>
                  <a:cubicBezTo>
                    <a:pt x="1049" y="882"/>
                    <a:pt x="894" y="1049"/>
                    <a:pt x="692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2" y="334"/>
                  </a:cubicBezTo>
                  <a:close/>
                  <a:moveTo>
                    <a:pt x="692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2" y="1370"/>
                  </a:cubicBezTo>
                  <a:cubicBezTo>
                    <a:pt x="1061" y="1370"/>
                    <a:pt x="1370" y="1060"/>
                    <a:pt x="1370" y="691"/>
                  </a:cubicBezTo>
                  <a:cubicBezTo>
                    <a:pt x="1370" y="310"/>
                    <a:pt x="1073" y="1"/>
                    <a:pt x="6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2"/>
            <p:cNvSpPr/>
            <p:nvPr/>
          </p:nvSpPr>
          <p:spPr>
            <a:xfrm>
              <a:off x="3940346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69" y="322"/>
                  </a:moveTo>
                  <a:cubicBezTo>
                    <a:pt x="1167" y="322"/>
                    <a:pt x="1405" y="572"/>
                    <a:pt x="1405" y="870"/>
                  </a:cubicBezTo>
                  <a:cubicBezTo>
                    <a:pt x="1405" y="1167"/>
                    <a:pt x="1167" y="1406"/>
                    <a:pt x="869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69" y="322"/>
                  </a:cubicBezTo>
                  <a:close/>
                  <a:moveTo>
                    <a:pt x="869" y="1"/>
                  </a:moveTo>
                  <a:cubicBezTo>
                    <a:pt x="393" y="1"/>
                    <a:pt x="0" y="394"/>
                    <a:pt x="0" y="870"/>
                  </a:cubicBezTo>
                  <a:cubicBezTo>
                    <a:pt x="0" y="1346"/>
                    <a:pt x="393" y="1727"/>
                    <a:pt x="869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2"/>
            <p:cNvSpPr/>
            <p:nvPr/>
          </p:nvSpPr>
          <p:spPr>
            <a:xfrm>
              <a:off x="3784952" y="2120300"/>
              <a:ext cx="54970" cy="55002"/>
            </a:xfrm>
            <a:custGeom>
              <a:avLst/>
              <a:gdLst/>
              <a:ahLst/>
              <a:cxnLst/>
              <a:rect l="l" t="t" r="r" b="b"/>
              <a:pathLst>
                <a:path w="1727" h="1728" extrusionOk="0">
                  <a:moveTo>
                    <a:pt x="870" y="322"/>
                  </a:moveTo>
                  <a:cubicBezTo>
                    <a:pt x="1167" y="322"/>
                    <a:pt x="1406" y="572"/>
                    <a:pt x="1406" y="870"/>
                  </a:cubicBezTo>
                  <a:cubicBezTo>
                    <a:pt x="1406" y="1167"/>
                    <a:pt x="1167" y="1406"/>
                    <a:pt x="870" y="1406"/>
                  </a:cubicBezTo>
                  <a:cubicBezTo>
                    <a:pt x="572" y="1406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46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2"/>
            <p:cNvSpPr/>
            <p:nvPr/>
          </p:nvSpPr>
          <p:spPr>
            <a:xfrm>
              <a:off x="3712952" y="2281360"/>
              <a:ext cx="44371" cy="43639"/>
            </a:xfrm>
            <a:custGeom>
              <a:avLst/>
              <a:gdLst/>
              <a:ahLst/>
              <a:cxnLst/>
              <a:rect l="l" t="t" r="r" b="b"/>
              <a:pathLst>
                <a:path w="1394" h="1371" extrusionOk="0">
                  <a:moveTo>
                    <a:pt x="691" y="334"/>
                  </a:moveTo>
                  <a:cubicBezTo>
                    <a:pt x="881" y="334"/>
                    <a:pt x="1048" y="489"/>
                    <a:pt x="1048" y="691"/>
                  </a:cubicBezTo>
                  <a:cubicBezTo>
                    <a:pt x="1048" y="882"/>
                    <a:pt x="893" y="1049"/>
                    <a:pt x="691" y="1049"/>
                  </a:cubicBezTo>
                  <a:cubicBezTo>
                    <a:pt x="500" y="1049"/>
                    <a:pt x="334" y="882"/>
                    <a:pt x="334" y="691"/>
                  </a:cubicBezTo>
                  <a:cubicBezTo>
                    <a:pt x="334" y="489"/>
                    <a:pt x="500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0" y="310"/>
                    <a:pt x="0" y="691"/>
                  </a:cubicBezTo>
                  <a:cubicBezTo>
                    <a:pt x="0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93" y="310"/>
                    <a:pt x="1072" y="1"/>
                    <a:pt x="6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2"/>
            <p:cNvSpPr/>
            <p:nvPr/>
          </p:nvSpPr>
          <p:spPr>
            <a:xfrm>
              <a:off x="4023708" y="2281360"/>
              <a:ext cx="43607" cy="43639"/>
            </a:xfrm>
            <a:custGeom>
              <a:avLst/>
              <a:gdLst/>
              <a:ahLst/>
              <a:cxnLst/>
              <a:rect l="l" t="t" r="r" b="b"/>
              <a:pathLst>
                <a:path w="1370" h="1371" extrusionOk="0">
                  <a:moveTo>
                    <a:pt x="691" y="334"/>
                  </a:moveTo>
                  <a:cubicBezTo>
                    <a:pt x="882" y="334"/>
                    <a:pt x="1048" y="489"/>
                    <a:pt x="1048" y="691"/>
                  </a:cubicBezTo>
                  <a:cubicBezTo>
                    <a:pt x="1048" y="882"/>
                    <a:pt x="882" y="1049"/>
                    <a:pt x="691" y="1049"/>
                  </a:cubicBezTo>
                  <a:cubicBezTo>
                    <a:pt x="501" y="1049"/>
                    <a:pt x="334" y="882"/>
                    <a:pt x="334" y="691"/>
                  </a:cubicBezTo>
                  <a:cubicBezTo>
                    <a:pt x="334" y="489"/>
                    <a:pt x="501" y="334"/>
                    <a:pt x="691" y="334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91"/>
                  </a:cubicBezTo>
                  <a:cubicBezTo>
                    <a:pt x="1" y="1060"/>
                    <a:pt x="322" y="1370"/>
                    <a:pt x="691" y="1370"/>
                  </a:cubicBezTo>
                  <a:cubicBezTo>
                    <a:pt x="1060" y="1370"/>
                    <a:pt x="1370" y="1060"/>
                    <a:pt x="1370" y="691"/>
                  </a:cubicBezTo>
                  <a:cubicBezTo>
                    <a:pt x="1370" y="310"/>
                    <a:pt x="1060" y="1"/>
                    <a:pt x="6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2"/>
            <p:cNvSpPr/>
            <p:nvPr/>
          </p:nvSpPr>
          <p:spPr>
            <a:xfrm>
              <a:off x="3852049" y="1970604"/>
              <a:ext cx="76583" cy="76965"/>
            </a:xfrm>
            <a:custGeom>
              <a:avLst/>
              <a:gdLst/>
              <a:ahLst/>
              <a:cxnLst/>
              <a:rect l="l" t="t" r="r" b="b"/>
              <a:pathLst>
                <a:path w="2406" h="2418" extrusionOk="0">
                  <a:moveTo>
                    <a:pt x="1203" y="346"/>
                  </a:moveTo>
                  <a:cubicBezTo>
                    <a:pt x="1679" y="346"/>
                    <a:pt x="2084" y="751"/>
                    <a:pt x="2084" y="1227"/>
                  </a:cubicBezTo>
                  <a:cubicBezTo>
                    <a:pt x="2084" y="1703"/>
                    <a:pt x="1691" y="2096"/>
                    <a:pt x="1203" y="2096"/>
                  </a:cubicBezTo>
                  <a:cubicBezTo>
                    <a:pt x="714" y="2096"/>
                    <a:pt x="321" y="1703"/>
                    <a:pt x="321" y="1227"/>
                  </a:cubicBezTo>
                  <a:cubicBezTo>
                    <a:pt x="321" y="727"/>
                    <a:pt x="726" y="346"/>
                    <a:pt x="1203" y="346"/>
                  </a:cubicBezTo>
                  <a:close/>
                  <a:moveTo>
                    <a:pt x="1203" y="1"/>
                  </a:moveTo>
                  <a:cubicBezTo>
                    <a:pt x="536" y="1"/>
                    <a:pt x="0" y="536"/>
                    <a:pt x="0" y="1203"/>
                  </a:cubicBezTo>
                  <a:cubicBezTo>
                    <a:pt x="0" y="1882"/>
                    <a:pt x="536" y="2418"/>
                    <a:pt x="1203" y="2418"/>
                  </a:cubicBezTo>
                  <a:cubicBezTo>
                    <a:pt x="1869" y="2418"/>
                    <a:pt x="2405" y="1882"/>
                    <a:pt x="2405" y="1203"/>
                  </a:cubicBezTo>
                  <a:cubicBezTo>
                    <a:pt x="2405" y="548"/>
                    <a:pt x="1869" y="1"/>
                    <a:pt x="12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2"/>
            <p:cNvSpPr/>
            <p:nvPr/>
          </p:nvSpPr>
          <p:spPr>
            <a:xfrm>
              <a:off x="3746310" y="2187016"/>
              <a:ext cx="132667" cy="88710"/>
            </a:xfrm>
            <a:custGeom>
              <a:avLst/>
              <a:gdLst/>
              <a:ahLst/>
              <a:cxnLst/>
              <a:rect l="l" t="t" r="r" b="b"/>
              <a:pathLst>
                <a:path w="4168" h="2787" extrusionOk="0">
                  <a:moveTo>
                    <a:pt x="2084" y="0"/>
                  </a:moveTo>
                  <a:cubicBezTo>
                    <a:pt x="1989" y="0"/>
                    <a:pt x="1917" y="84"/>
                    <a:pt x="1917" y="167"/>
                  </a:cubicBezTo>
                  <a:lnTo>
                    <a:pt x="1917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48" y="2548"/>
                  </a:lnTo>
                  <a:cubicBezTo>
                    <a:pt x="0" y="2620"/>
                    <a:pt x="24" y="2727"/>
                    <a:pt x="119" y="2774"/>
                  </a:cubicBezTo>
                  <a:cubicBezTo>
                    <a:pt x="143" y="2786"/>
                    <a:pt x="155" y="2786"/>
                    <a:pt x="191" y="2786"/>
                  </a:cubicBezTo>
                  <a:cubicBezTo>
                    <a:pt x="250" y="2786"/>
                    <a:pt x="310" y="2762"/>
                    <a:pt x="345" y="2703"/>
                  </a:cubicBezTo>
                  <a:lnTo>
                    <a:pt x="738" y="1929"/>
                  </a:lnTo>
                  <a:cubicBezTo>
                    <a:pt x="798" y="1810"/>
                    <a:pt x="917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5" y="1929"/>
                  </a:cubicBezTo>
                  <a:lnTo>
                    <a:pt x="3810" y="2703"/>
                  </a:lnTo>
                  <a:cubicBezTo>
                    <a:pt x="3846" y="2756"/>
                    <a:pt x="3902" y="2783"/>
                    <a:pt x="3968" y="2783"/>
                  </a:cubicBezTo>
                  <a:cubicBezTo>
                    <a:pt x="3989" y="2783"/>
                    <a:pt x="4013" y="2780"/>
                    <a:pt x="4036" y="2774"/>
                  </a:cubicBezTo>
                  <a:cubicBezTo>
                    <a:pt x="4132" y="2715"/>
                    <a:pt x="4167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0" y="1393"/>
                  </a:lnTo>
                  <a:lnTo>
                    <a:pt x="2250" y="167"/>
                  </a:lnTo>
                  <a:cubicBezTo>
                    <a:pt x="2250" y="84"/>
                    <a:pt x="2167" y="0"/>
                    <a:pt x="20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2"/>
            <p:cNvSpPr/>
            <p:nvPr/>
          </p:nvSpPr>
          <p:spPr>
            <a:xfrm>
              <a:off x="3831583" y="2059664"/>
              <a:ext cx="117485" cy="54748"/>
            </a:xfrm>
            <a:custGeom>
              <a:avLst/>
              <a:gdLst/>
              <a:ahLst/>
              <a:cxnLst/>
              <a:rect l="l" t="t" r="r" b="b"/>
              <a:pathLst>
                <a:path w="3691" h="1720" extrusionOk="0">
                  <a:moveTo>
                    <a:pt x="1846" y="1"/>
                  </a:moveTo>
                  <a:cubicBezTo>
                    <a:pt x="1750" y="1"/>
                    <a:pt x="1679" y="72"/>
                    <a:pt x="1679" y="167"/>
                  </a:cubicBezTo>
                  <a:lnTo>
                    <a:pt x="1679" y="703"/>
                  </a:lnTo>
                  <a:lnTo>
                    <a:pt x="750" y="703"/>
                  </a:lnTo>
                  <a:cubicBezTo>
                    <a:pt x="560" y="703"/>
                    <a:pt x="405" y="810"/>
                    <a:pt x="310" y="965"/>
                  </a:cubicBezTo>
                  <a:lnTo>
                    <a:pt x="48" y="1477"/>
                  </a:lnTo>
                  <a:cubicBezTo>
                    <a:pt x="0" y="1548"/>
                    <a:pt x="24" y="1656"/>
                    <a:pt x="119" y="1703"/>
                  </a:cubicBezTo>
                  <a:cubicBezTo>
                    <a:pt x="140" y="1714"/>
                    <a:pt x="164" y="1719"/>
                    <a:pt x="188" y="1719"/>
                  </a:cubicBezTo>
                  <a:cubicBezTo>
                    <a:pt x="248" y="1719"/>
                    <a:pt x="312" y="1687"/>
                    <a:pt x="345" y="1620"/>
                  </a:cubicBezTo>
                  <a:lnTo>
                    <a:pt x="607" y="1120"/>
                  </a:lnTo>
                  <a:cubicBezTo>
                    <a:pt x="643" y="1060"/>
                    <a:pt x="703" y="1013"/>
                    <a:pt x="774" y="1013"/>
                  </a:cubicBezTo>
                  <a:lnTo>
                    <a:pt x="2929" y="1013"/>
                  </a:lnTo>
                  <a:cubicBezTo>
                    <a:pt x="3000" y="1013"/>
                    <a:pt x="3060" y="1060"/>
                    <a:pt x="3096" y="1120"/>
                  </a:cubicBezTo>
                  <a:lnTo>
                    <a:pt x="3358" y="1620"/>
                  </a:lnTo>
                  <a:cubicBezTo>
                    <a:pt x="3393" y="1679"/>
                    <a:pt x="3453" y="1715"/>
                    <a:pt x="3512" y="1715"/>
                  </a:cubicBezTo>
                  <a:cubicBezTo>
                    <a:pt x="3536" y="1715"/>
                    <a:pt x="3548" y="1715"/>
                    <a:pt x="3584" y="1703"/>
                  </a:cubicBezTo>
                  <a:cubicBezTo>
                    <a:pt x="3655" y="1656"/>
                    <a:pt x="3691" y="1548"/>
                    <a:pt x="3643" y="1477"/>
                  </a:cubicBezTo>
                  <a:lnTo>
                    <a:pt x="3381" y="965"/>
                  </a:lnTo>
                  <a:cubicBezTo>
                    <a:pt x="3286" y="810"/>
                    <a:pt x="3108" y="703"/>
                    <a:pt x="2929" y="703"/>
                  </a:cubicBezTo>
                  <a:lnTo>
                    <a:pt x="2012" y="703"/>
                  </a:lnTo>
                  <a:lnTo>
                    <a:pt x="2012" y="167"/>
                  </a:lnTo>
                  <a:cubicBezTo>
                    <a:pt x="2012" y="72"/>
                    <a:pt x="1929" y="1"/>
                    <a:pt x="18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2"/>
            <p:cNvSpPr/>
            <p:nvPr/>
          </p:nvSpPr>
          <p:spPr>
            <a:xfrm>
              <a:off x="3901672" y="2187016"/>
              <a:ext cx="132285" cy="88997"/>
            </a:xfrm>
            <a:custGeom>
              <a:avLst/>
              <a:gdLst/>
              <a:ahLst/>
              <a:cxnLst/>
              <a:rect l="l" t="t" r="r" b="b"/>
              <a:pathLst>
                <a:path w="4156" h="2796" extrusionOk="0">
                  <a:moveTo>
                    <a:pt x="2084" y="0"/>
                  </a:moveTo>
                  <a:cubicBezTo>
                    <a:pt x="1989" y="0"/>
                    <a:pt x="1918" y="84"/>
                    <a:pt x="1918" y="167"/>
                  </a:cubicBezTo>
                  <a:lnTo>
                    <a:pt x="1918" y="1405"/>
                  </a:lnTo>
                  <a:lnTo>
                    <a:pt x="1060" y="1405"/>
                  </a:lnTo>
                  <a:cubicBezTo>
                    <a:pt x="798" y="1405"/>
                    <a:pt x="560" y="1536"/>
                    <a:pt x="441" y="1774"/>
                  </a:cubicBezTo>
                  <a:lnTo>
                    <a:pt x="36" y="2548"/>
                  </a:lnTo>
                  <a:cubicBezTo>
                    <a:pt x="1" y="2620"/>
                    <a:pt x="25" y="2727"/>
                    <a:pt x="120" y="2774"/>
                  </a:cubicBezTo>
                  <a:cubicBezTo>
                    <a:pt x="142" y="2789"/>
                    <a:pt x="167" y="2796"/>
                    <a:pt x="192" y="2796"/>
                  </a:cubicBezTo>
                  <a:cubicBezTo>
                    <a:pt x="250" y="2796"/>
                    <a:pt x="309" y="2761"/>
                    <a:pt x="334" y="2703"/>
                  </a:cubicBezTo>
                  <a:lnTo>
                    <a:pt x="739" y="1929"/>
                  </a:lnTo>
                  <a:cubicBezTo>
                    <a:pt x="798" y="1810"/>
                    <a:pt x="918" y="1727"/>
                    <a:pt x="1060" y="1727"/>
                  </a:cubicBezTo>
                  <a:lnTo>
                    <a:pt x="3096" y="1727"/>
                  </a:lnTo>
                  <a:cubicBezTo>
                    <a:pt x="3227" y="1727"/>
                    <a:pt x="3346" y="1810"/>
                    <a:pt x="3406" y="1929"/>
                  </a:cubicBezTo>
                  <a:lnTo>
                    <a:pt x="3811" y="2703"/>
                  </a:lnTo>
                  <a:cubicBezTo>
                    <a:pt x="3835" y="2762"/>
                    <a:pt x="3894" y="2786"/>
                    <a:pt x="3954" y="2786"/>
                  </a:cubicBezTo>
                  <a:cubicBezTo>
                    <a:pt x="3989" y="2786"/>
                    <a:pt x="4001" y="2786"/>
                    <a:pt x="4037" y="2774"/>
                  </a:cubicBezTo>
                  <a:cubicBezTo>
                    <a:pt x="4120" y="2715"/>
                    <a:pt x="4156" y="2608"/>
                    <a:pt x="4120" y="2536"/>
                  </a:cubicBezTo>
                  <a:lnTo>
                    <a:pt x="3715" y="1762"/>
                  </a:lnTo>
                  <a:cubicBezTo>
                    <a:pt x="3596" y="1536"/>
                    <a:pt x="3358" y="1393"/>
                    <a:pt x="3108" y="1393"/>
                  </a:cubicBezTo>
                  <a:lnTo>
                    <a:pt x="2251" y="1393"/>
                  </a:lnTo>
                  <a:lnTo>
                    <a:pt x="2251" y="167"/>
                  </a:lnTo>
                  <a:cubicBezTo>
                    <a:pt x="2251" y="84"/>
                    <a:pt x="2168" y="0"/>
                    <a:pt x="20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5" name="Google Shape;815;p32"/>
          <p:cNvGrpSpPr/>
          <p:nvPr/>
        </p:nvGrpSpPr>
        <p:grpSpPr>
          <a:xfrm>
            <a:off x="3952981" y="2284003"/>
            <a:ext cx="211892" cy="339594"/>
            <a:chOff x="3316159" y="1515085"/>
            <a:chExt cx="211892" cy="339594"/>
          </a:xfrm>
        </p:grpSpPr>
        <p:sp>
          <p:nvSpPr>
            <p:cNvPr id="816" name="Google Shape;816;p32"/>
            <p:cNvSpPr/>
            <p:nvPr/>
          </p:nvSpPr>
          <p:spPr>
            <a:xfrm>
              <a:off x="3358621" y="1823199"/>
              <a:ext cx="15183" cy="9485"/>
            </a:xfrm>
            <a:custGeom>
              <a:avLst/>
              <a:gdLst/>
              <a:ahLst/>
              <a:cxnLst/>
              <a:rect l="l" t="t" r="r" b="b"/>
              <a:pathLst>
                <a:path w="477" h="298" extrusionOk="0">
                  <a:moveTo>
                    <a:pt x="155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83" y="298"/>
                    <a:pt x="155" y="298"/>
                  </a:cubicBezTo>
                  <a:lnTo>
                    <a:pt x="322" y="298"/>
                  </a:lnTo>
                  <a:cubicBezTo>
                    <a:pt x="405" y="298"/>
                    <a:pt x="464" y="226"/>
                    <a:pt x="464" y="155"/>
                  </a:cubicBezTo>
                  <a:cubicBezTo>
                    <a:pt x="476" y="84"/>
                    <a:pt x="405" y="0"/>
                    <a:pt x="3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2"/>
            <p:cNvSpPr/>
            <p:nvPr/>
          </p:nvSpPr>
          <p:spPr>
            <a:xfrm>
              <a:off x="3427946" y="1823199"/>
              <a:ext cx="15215" cy="9485"/>
            </a:xfrm>
            <a:custGeom>
              <a:avLst/>
              <a:gdLst/>
              <a:ahLst/>
              <a:cxnLst/>
              <a:rect l="l" t="t" r="r" b="b"/>
              <a:pathLst>
                <a:path w="478" h="298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lnTo>
                    <a:pt x="310" y="298"/>
                  </a:lnTo>
                  <a:cubicBezTo>
                    <a:pt x="406" y="298"/>
                    <a:pt x="465" y="226"/>
                    <a:pt x="465" y="155"/>
                  </a:cubicBezTo>
                  <a:cubicBezTo>
                    <a:pt x="477" y="84"/>
                    <a:pt x="406" y="0"/>
                    <a:pt x="3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2"/>
            <p:cNvSpPr/>
            <p:nvPr/>
          </p:nvSpPr>
          <p:spPr>
            <a:xfrm>
              <a:off x="3385135" y="1823199"/>
              <a:ext cx="31480" cy="9485"/>
            </a:xfrm>
            <a:custGeom>
              <a:avLst/>
              <a:gdLst/>
              <a:ahLst/>
              <a:cxnLst/>
              <a:rect l="l" t="t" r="r" b="b"/>
              <a:pathLst>
                <a:path w="98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84" y="298"/>
                    <a:pt x="155" y="298"/>
                  </a:cubicBezTo>
                  <a:lnTo>
                    <a:pt x="822" y="298"/>
                  </a:lnTo>
                  <a:cubicBezTo>
                    <a:pt x="917" y="298"/>
                    <a:pt x="977" y="226"/>
                    <a:pt x="977" y="155"/>
                  </a:cubicBezTo>
                  <a:cubicBezTo>
                    <a:pt x="989" y="84"/>
                    <a:pt x="917" y="0"/>
                    <a:pt x="8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19" name="Google Shape;819;p32"/>
            <p:cNvGrpSpPr/>
            <p:nvPr/>
          </p:nvGrpSpPr>
          <p:grpSpPr>
            <a:xfrm>
              <a:off x="3316159" y="1515085"/>
              <a:ext cx="211892" cy="339594"/>
              <a:chOff x="3316159" y="1515085"/>
              <a:chExt cx="211892" cy="339594"/>
            </a:xfrm>
          </p:grpSpPr>
          <p:sp>
            <p:nvSpPr>
              <p:cNvPr id="820" name="Google Shape;820;p32"/>
              <p:cNvSpPr/>
              <p:nvPr/>
            </p:nvSpPr>
            <p:spPr>
              <a:xfrm>
                <a:off x="3316159" y="1557514"/>
                <a:ext cx="169049" cy="297165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9336" extrusionOk="0">
                    <a:moveTo>
                      <a:pt x="4656" y="310"/>
                    </a:moveTo>
                    <a:cubicBezTo>
                      <a:pt x="4846" y="310"/>
                      <a:pt x="5001" y="477"/>
                      <a:pt x="5001" y="668"/>
                    </a:cubicBezTo>
                    <a:lnTo>
                      <a:pt x="298" y="668"/>
                    </a:lnTo>
                    <a:lnTo>
                      <a:pt x="298" y="656"/>
                    </a:lnTo>
                    <a:cubicBezTo>
                      <a:pt x="298" y="465"/>
                      <a:pt x="441" y="310"/>
                      <a:pt x="632" y="310"/>
                    </a:cubicBezTo>
                    <a:close/>
                    <a:moveTo>
                      <a:pt x="5001" y="989"/>
                    </a:moveTo>
                    <a:lnTo>
                      <a:pt x="5001" y="7680"/>
                    </a:lnTo>
                    <a:lnTo>
                      <a:pt x="298" y="7680"/>
                    </a:lnTo>
                    <a:lnTo>
                      <a:pt x="298" y="989"/>
                    </a:lnTo>
                    <a:close/>
                    <a:moveTo>
                      <a:pt x="5013" y="7990"/>
                    </a:moveTo>
                    <a:lnTo>
                      <a:pt x="5013" y="8681"/>
                    </a:lnTo>
                    <a:lnTo>
                      <a:pt x="5001" y="8681"/>
                    </a:lnTo>
                    <a:cubicBezTo>
                      <a:pt x="5001" y="8871"/>
                      <a:pt x="4846" y="9026"/>
                      <a:pt x="4656" y="9026"/>
                    </a:cubicBezTo>
                    <a:lnTo>
                      <a:pt x="655" y="9026"/>
                    </a:lnTo>
                    <a:cubicBezTo>
                      <a:pt x="465" y="9026"/>
                      <a:pt x="310" y="8871"/>
                      <a:pt x="310" y="8681"/>
                    </a:cubicBezTo>
                    <a:lnTo>
                      <a:pt x="310" y="7990"/>
                    </a:lnTo>
                    <a:close/>
                    <a:moveTo>
                      <a:pt x="655" y="1"/>
                    </a:moveTo>
                    <a:cubicBezTo>
                      <a:pt x="298" y="1"/>
                      <a:pt x="1" y="299"/>
                      <a:pt x="1" y="656"/>
                    </a:cubicBezTo>
                    <a:lnTo>
                      <a:pt x="1" y="8681"/>
                    </a:lnTo>
                    <a:cubicBezTo>
                      <a:pt x="1" y="9038"/>
                      <a:pt x="298" y="9335"/>
                      <a:pt x="655" y="9335"/>
                    </a:cubicBezTo>
                    <a:lnTo>
                      <a:pt x="4656" y="9335"/>
                    </a:lnTo>
                    <a:cubicBezTo>
                      <a:pt x="5013" y="9335"/>
                      <a:pt x="5311" y="9038"/>
                      <a:pt x="5311" y="8681"/>
                    </a:cubicBezTo>
                    <a:lnTo>
                      <a:pt x="5311" y="656"/>
                    </a:lnTo>
                    <a:cubicBezTo>
                      <a:pt x="5311" y="299"/>
                      <a:pt x="5025" y="1"/>
                      <a:pt x="46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32"/>
              <p:cNvSpPr/>
              <p:nvPr/>
            </p:nvSpPr>
            <p:spPr>
              <a:xfrm>
                <a:off x="3337772" y="1610161"/>
                <a:ext cx="132667" cy="127415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003" extrusionOk="0">
                    <a:moveTo>
                      <a:pt x="2131" y="1014"/>
                    </a:moveTo>
                    <a:cubicBezTo>
                      <a:pt x="2322" y="1014"/>
                      <a:pt x="2477" y="1157"/>
                      <a:pt x="2477" y="1359"/>
                    </a:cubicBezTo>
                    <a:lnTo>
                      <a:pt x="2477" y="1681"/>
                    </a:lnTo>
                    <a:cubicBezTo>
                      <a:pt x="2477" y="1966"/>
                      <a:pt x="2251" y="2181"/>
                      <a:pt x="1965" y="2181"/>
                    </a:cubicBezTo>
                    <a:cubicBezTo>
                      <a:pt x="1958" y="2181"/>
                      <a:pt x="1952" y="2181"/>
                      <a:pt x="1945" y="2181"/>
                    </a:cubicBezTo>
                    <a:cubicBezTo>
                      <a:pt x="1691" y="2181"/>
                      <a:pt x="1465" y="1959"/>
                      <a:pt x="1465" y="1681"/>
                    </a:cubicBezTo>
                    <a:lnTo>
                      <a:pt x="1465" y="1359"/>
                    </a:lnTo>
                    <a:cubicBezTo>
                      <a:pt x="1465" y="1157"/>
                      <a:pt x="1608" y="1014"/>
                      <a:pt x="1810" y="1014"/>
                    </a:cubicBezTo>
                    <a:close/>
                    <a:moveTo>
                      <a:pt x="2143" y="2478"/>
                    </a:moveTo>
                    <a:lnTo>
                      <a:pt x="2143" y="2574"/>
                    </a:lnTo>
                    <a:cubicBezTo>
                      <a:pt x="2167" y="2633"/>
                      <a:pt x="2179" y="2693"/>
                      <a:pt x="2191" y="2740"/>
                    </a:cubicBezTo>
                    <a:lnTo>
                      <a:pt x="1989" y="2943"/>
                    </a:lnTo>
                    <a:lnTo>
                      <a:pt x="1953" y="2943"/>
                    </a:lnTo>
                    <a:lnTo>
                      <a:pt x="1750" y="2740"/>
                    </a:lnTo>
                    <a:cubicBezTo>
                      <a:pt x="1774" y="2693"/>
                      <a:pt x="1786" y="2633"/>
                      <a:pt x="1786" y="2574"/>
                    </a:cubicBezTo>
                    <a:lnTo>
                      <a:pt x="1786" y="2478"/>
                    </a:lnTo>
                    <a:cubicBezTo>
                      <a:pt x="1846" y="2502"/>
                      <a:pt x="1905" y="2502"/>
                      <a:pt x="1965" y="2502"/>
                    </a:cubicBezTo>
                    <a:cubicBezTo>
                      <a:pt x="2024" y="2502"/>
                      <a:pt x="2084" y="2502"/>
                      <a:pt x="2143" y="2478"/>
                    </a:cubicBezTo>
                    <a:close/>
                    <a:moveTo>
                      <a:pt x="2441" y="2931"/>
                    </a:moveTo>
                    <a:lnTo>
                      <a:pt x="2715" y="3062"/>
                    </a:lnTo>
                    <a:cubicBezTo>
                      <a:pt x="2774" y="3098"/>
                      <a:pt x="2822" y="3157"/>
                      <a:pt x="2822" y="3228"/>
                    </a:cubicBezTo>
                    <a:lnTo>
                      <a:pt x="2822" y="3467"/>
                    </a:lnTo>
                    <a:cubicBezTo>
                      <a:pt x="2560" y="3609"/>
                      <a:pt x="2262" y="3693"/>
                      <a:pt x="1965" y="3693"/>
                    </a:cubicBezTo>
                    <a:cubicBezTo>
                      <a:pt x="1667" y="3693"/>
                      <a:pt x="1369" y="3609"/>
                      <a:pt x="1119" y="3467"/>
                    </a:cubicBezTo>
                    <a:lnTo>
                      <a:pt x="1119" y="3228"/>
                    </a:lnTo>
                    <a:cubicBezTo>
                      <a:pt x="1119" y="3157"/>
                      <a:pt x="1167" y="3098"/>
                      <a:pt x="1227" y="3062"/>
                    </a:cubicBezTo>
                    <a:lnTo>
                      <a:pt x="1489" y="2931"/>
                    </a:lnTo>
                    <a:lnTo>
                      <a:pt x="1750" y="3181"/>
                    </a:lnTo>
                    <a:cubicBezTo>
                      <a:pt x="1810" y="3240"/>
                      <a:pt x="1893" y="3276"/>
                      <a:pt x="1965" y="3276"/>
                    </a:cubicBezTo>
                    <a:cubicBezTo>
                      <a:pt x="2048" y="3276"/>
                      <a:pt x="2131" y="3240"/>
                      <a:pt x="2191" y="3181"/>
                    </a:cubicBezTo>
                    <a:lnTo>
                      <a:pt x="2441" y="2931"/>
                    </a:lnTo>
                    <a:close/>
                    <a:moveTo>
                      <a:pt x="2009" y="0"/>
                    </a:moveTo>
                    <a:cubicBezTo>
                      <a:pt x="1492" y="0"/>
                      <a:pt x="976" y="204"/>
                      <a:pt x="584" y="597"/>
                    </a:cubicBezTo>
                    <a:cubicBezTo>
                      <a:pt x="215" y="966"/>
                      <a:pt x="0" y="1466"/>
                      <a:pt x="0" y="2002"/>
                    </a:cubicBezTo>
                    <a:cubicBezTo>
                      <a:pt x="0" y="2550"/>
                      <a:pt x="215" y="3038"/>
                      <a:pt x="584" y="3419"/>
                    </a:cubicBezTo>
                    <a:cubicBezTo>
                      <a:pt x="977" y="3812"/>
                      <a:pt x="1477" y="4002"/>
                      <a:pt x="2000" y="4002"/>
                    </a:cubicBezTo>
                    <a:cubicBezTo>
                      <a:pt x="2501" y="4002"/>
                      <a:pt x="3024" y="3812"/>
                      <a:pt x="3417" y="3419"/>
                    </a:cubicBezTo>
                    <a:cubicBezTo>
                      <a:pt x="4072" y="2740"/>
                      <a:pt x="4167" y="1681"/>
                      <a:pt x="3620" y="883"/>
                    </a:cubicBezTo>
                    <a:cubicBezTo>
                      <a:pt x="3590" y="832"/>
                      <a:pt x="3543" y="807"/>
                      <a:pt x="3492" y="807"/>
                    </a:cubicBezTo>
                    <a:cubicBezTo>
                      <a:pt x="3459" y="807"/>
                      <a:pt x="3426" y="817"/>
                      <a:pt x="3394" y="835"/>
                    </a:cubicBezTo>
                    <a:cubicBezTo>
                      <a:pt x="3322" y="883"/>
                      <a:pt x="3310" y="978"/>
                      <a:pt x="3358" y="1062"/>
                    </a:cubicBezTo>
                    <a:cubicBezTo>
                      <a:pt x="3810" y="1728"/>
                      <a:pt x="3727" y="2621"/>
                      <a:pt x="3155" y="3193"/>
                    </a:cubicBezTo>
                    <a:lnTo>
                      <a:pt x="3132" y="3228"/>
                    </a:lnTo>
                    <a:lnTo>
                      <a:pt x="3132" y="3217"/>
                    </a:lnTo>
                    <a:cubicBezTo>
                      <a:pt x="3132" y="3014"/>
                      <a:pt x="3024" y="2859"/>
                      <a:pt x="2858" y="2776"/>
                    </a:cubicBezTo>
                    <a:lnTo>
                      <a:pt x="2477" y="2586"/>
                    </a:lnTo>
                    <a:lnTo>
                      <a:pt x="2477" y="2574"/>
                    </a:lnTo>
                    <a:lnTo>
                      <a:pt x="2477" y="2336"/>
                    </a:lnTo>
                    <a:cubicBezTo>
                      <a:pt x="2679" y="2181"/>
                      <a:pt x="2798" y="1943"/>
                      <a:pt x="2798" y="1681"/>
                    </a:cubicBezTo>
                    <a:lnTo>
                      <a:pt x="2798" y="1347"/>
                    </a:lnTo>
                    <a:cubicBezTo>
                      <a:pt x="2798" y="990"/>
                      <a:pt x="2501" y="692"/>
                      <a:pt x="2143" y="692"/>
                    </a:cubicBezTo>
                    <a:lnTo>
                      <a:pt x="1822" y="692"/>
                    </a:lnTo>
                    <a:cubicBezTo>
                      <a:pt x="1465" y="692"/>
                      <a:pt x="1167" y="990"/>
                      <a:pt x="1167" y="1347"/>
                    </a:cubicBezTo>
                    <a:lnTo>
                      <a:pt x="1167" y="1681"/>
                    </a:lnTo>
                    <a:cubicBezTo>
                      <a:pt x="1167" y="1943"/>
                      <a:pt x="1298" y="2181"/>
                      <a:pt x="1489" y="2336"/>
                    </a:cubicBezTo>
                    <a:lnTo>
                      <a:pt x="1489" y="2574"/>
                    </a:lnTo>
                    <a:lnTo>
                      <a:pt x="1489" y="2586"/>
                    </a:lnTo>
                    <a:lnTo>
                      <a:pt x="1108" y="2776"/>
                    </a:lnTo>
                    <a:cubicBezTo>
                      <a:pt x="941" y="2871"/>
                      <a:pt x="834" y="3038"/>
                      <a:pt x="834" y="3217"/>
                    </a:cubicBezTo>
                    <a:lnTo>
                      <a:pt x="834" y="3228"/>
                    </a:lnTo>
                    <a:lnTo>
                      <a:pt x="810" y="3193"/>
                    </a:lnTo>
                    <a:cubicBezTo>
                      <a:pt x="500" y="2883"/>
                      <a:pt x="322" y="2455"/>
                      <a:pt x="322" y="2002"/>
                    </a:cubicBezTo>
                    <a:cubicBezTo>
                      <a:pt x="322" y="1562"/>
                      <a:pt x="500" y="1133"/>
                      <a:pt x="810" y="812"/>
                    </a:cubicBezTo>
                    <a:cubicBezTo>
                      <a:pt x="1139" y="489"/>
                      <a:pt x="1566" y="326"/>
                      <a:pt x="1996" y="326"/>
                    </a:cubicBezTo>
                    <a:cubicBezTo>
                      <a:pt x="2328" y="326"/>
                      <a:pt x="2662" y="424"/>
                      <a:pt x="2953" y="621"/>
                    </a:cubicBezTo>
                    <a:cubicBezTo>
                      <a:pt x="2980" y="639"/>
                      <a:pt x="3012" y="649"/>
                      <a:pt x="3043" y="649"/>
                    </a:cubicBezTo>
                    <a:cubicBezTo>
                      <a:pt x="3092" y="649"/>
                      <a:pt x="3143" y="625"/>
                      <a:pt x="3179" y="573"/>
                    </a:cubicBezTo>
                    <a:cubicBezTo>
                      <a:pt x="3215" y="502"/>
                      <a:pt x="3203" y="419"/>
                      <a:pt x="3132" y="359"/>
                    </a:cubicBezTo>
                    <a:cubicBezTo>
                      <a:pt x="2793" y="118"/>
                      <a:pt x="2401" y="0"/>
                      <a:pt x="20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32"/>
              <p:cNvSpPr/>
              <p:nvPr/>
            </p:nvSpPr>
            <p:spPr>
              <a:xfrm>
                <a:off x="3343056" y="1749290"/>
                <a:ext cx="41729" cy="41729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311" extrusionOk="0">
                    <a:moveTo>
                      <a:pt x="656" y="0"/>
                    </a:moveTo>
                    <a:cubicBezTo>
                      <a:pt x="299" y="0"/>
                      <a:pt x="1" y="298"/>
                      <a:pt x="1" y="655"/>
                    </a:cubicBezTo>
                    <a:cubicBezTo>
                      <a:pt x="1" y="1013"/>
                      <a:pt x="299" y="1310"/>
                      <a:pt x="656" y="1310"/>
                    </a:cubicBezTo>
                    <a:cubicBezTo>
                      <a:pt x="1013" y="1310"/>
                      <a:pt x="1311" y="1013"/>
                      <a:pt x="1311" y="655"/>
                    </a:cubicBezTo>
                    <a:cubicBezTo>
                      <a:pt x="1299" y="560"/>
                      <a:pt x="1227" y="501"/>
                      <a:pt x="1144" y="501"/>
                    </a:cubicBezTo>
                    <a:cubicBezTo>
                      <a:pt x="1061" y="501"/>
                      <a:pt x="1001" y="572"/>
                      <a:pt x="1001" y="643"/>
                    </a:cubicBezTo>
                    <a:cubicBezTo>
                      <a:pt x="1001" y="834"/>
                      <a:pt x="846" y="989"/>
                      <a:pt x="656" y="989"/>
                    </a:cubicBezTo>
                    <a:cubicBezTo>
                      <a:pt x="465" y="989"/>
                      <a:pt x="310" y="834"/>
                      <a:pt x="310" y="643"/>
                    </a:cubicBezTo>
                    <a:cubicBezTo>
                      <a:pt x="310" y="453"/>
                      <a:pt x="465" y="298"/>
                      <a:pt x="656" y="298"/>
                    </a:cubicBezTo>
                    <a:cubicBezTo>
                      <a:pt x="751" y="298"/>
                      <a:pt x="811" y="227"/>
                      <a:pt x="811" y="155"/>
                    </a:cubicBezTo>
                    <a:cubicBezTo>
                      <a:pt x="811" y="84"/>
                      <a:pt x="727" y="0"/>
                      <a:pt x="65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32"/>
              <p:cNvSpPr/>
              <p:nvPr/>
            </p:nvSpPr>
            <p:spPr>
              <a:xfrm>
                <a:off x="3417347" y="1749290"/>
                <a:ext cx="41729" cy="41729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311" extrusionOk="0">
                    <a:moveTo>
                      <a:pt x="655" y="0"/>
                    </a:moveTo>
                    <a:cubicBezTo>
                      <a:pt x="298" y="0"/>
                      <a:pt x="1" y="298"/>
                      <a:pt x="1" y="655"/>
                    </a:cubicBezTo>
                    <a:cubicBezTo>
                      <a:pt x="1" y="1013"/>
                      <a:pt x="298" y="1310"/>
                      <a:pt x="655" y="1310"/>
                    </a:cubicBezTo>
                    <a:cubicBezTo>
                      <a:pt x="1013" y="1310"/>
                      <a:pt x="1310" y="1013"/>
                      <a:pt x="1310" y="655"/>
                    </a:cubicBezTo>
                    <a:cubicBezTo>
                      <a:pt x="1298" y="560"/>
                      <a:pt x="1239" y="501"/>
                      <a:pt x="1155" y="501"/>
                    </a:cubicBezTo>
                    <a:cubicBezTo>
                      <a:pt x="1060" y="501"/>
                      <a:pt x="1001" y="572"/>
                      <a:pt x="1001" y="643"/>
                    </a:cubicBezTo>
                    <a:cubicBezTo>
                      <a:pt x="1001" y="834"/>
                      <a:pt x="858" y="989"/>
                      <a:pt x="655" y="989"/>
                    </a:cubicBezTo>
                    <a:cubicBezTo>
                      <a:pt x="465" y="989"/>
                      <a:pt x="322" y="834"/>
                      <a:pt x="322" y="643"/>
                    </a:cubicBezTo>
                    <a:cubicBezTo>
                      <a:pt x="322" y="453"/>
                      <a:pt x="465" y="298"/>
                      <a:pt x="655" y="298"/>
                    </a:cubicBezTo>
                    <a:cubicBezTo>
                      <a:pt x="751" y="298"/>
                      <a:pt x="810" y="227"/>
                      <a:pt x="810" y="155"/>
                    </a:cubicBezTo>
                    <a:cubicBezTo>
                      <a:pt x="810" y="84"/>
                      <a:pt x="739" y="0"/>
                      <a:pt x="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32"/>
              <p:cNvSpPr/>
              <p:nvPr/>
            </p:nvSpPr>
            <p:spPr>
              <a:xfrm>
                <a:off x="3464710" y="1536315"/>
                <a:ext cx="41729" cy="41315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298" extrusionOk="0">
                    <a:moveTo>
                      <a:pt x="156" y="0"/>
                    </a:moveTo>
                    <a:cubicBezTo>
                      <a:pt x="60" y="0"/>
                      <a:pt x="1" y="72"/>
                      <a:pt x="1" y="143"/>
                    </a:cubicBezTo>
                    <a:cubicBezTo>
                      <a:pt x="1" y="238"/>
                      <a:pt x="84" y="298"/>
                      <a:pt x="156" y="298"/>
                    </a:cubicBezTo>
                    <a:cubicBezTo>
                      <a:pt x="620" y="298"/>
                      <a:pt x="1001" y="667"/>
                      <a:pt x="1001" y="1143"/>
                    </a:cubicBezTo>
                    <a:cubicBezTo>
                      <a:pt x="1001" y="1238"/>
                      <a:pt x="1072" y="1298"/>
                      <a:pt x="1156" y="1298"/>
                    </a:cubicBezTo>
                    <a:cubicBezTo>
                      <a:pt x="1239" y="1298"/>
                      <a:pt x="1299" y="1215"/>
                      <a:pt x="1299" y="1143"/>
                    </a:cubicBezTo>
                    <a:cubicBezTo>
                      <a:pt x="1311" y="524"/>
                      <a:pt x="799" y="0"/>
                      <a:pt x="15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32"/>
              <p:cNvSpPr/>
              <p:nvPr/>
            </p:nvSpPr>
            <p:spPr>
              <a:xfrm>
                <a:off x="3464710" y="1515085"/>
                <a:ext cx="6334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990" h="1965" extrusionOk="0">
                    <a:moveTo>
                      <a:pt x="156" y="0"/>
                    </a:moveTo>
                    <a:cubicBezTo>
                      <a:pt x="60" y="0"/>
                      <a:pt x="1" y="72"/>
                      <a:pt x="1" y="143"/>
                    </a:cubicBezTo>
                    <a:cubicBezTo>
                      <a:pt x="1" y="239"/>
                      <a:pt x="84" y="298"/>
                      <a:pt x="156" y="298"/>
                    </a:cubicBezTo>
                    <a:cubicBezTo>
                      <a:pt x="989" y="298"/>
                      <a:pt x="1668" y="977"/>
                      <a:pt x="1668" y="1810"/>
                    </a:cubicBezTo>
                    <a:cubicBezTo>
                      <a:pt x="1668" y="1905"/>
                      <a:pt x="1751" y="1965"/>
                      <a:pt x="1822" y="1965"/>
                    </a:cubicBezTo>
                    <a:cubicBezTo>
                      <a:pt x="1894" y="1965"/>
                      <a:pt x="1965" y="1882"/>
                      <a:pt x="1965" y="1810"/>
                    </a:cubicBezTo>
                    <a:cubicBezTo>
                      <a:pt x="1989" y="810"/>
                      <a:pt x="1168" y="0"/>
                      <a:pt x="15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33" name="Google Shape;833;p32"/>
          <p:cNvSpPr txBox="1"/>
          <p:nvPr/>
        </p:nvSpPr>
        <p:spPr>
          <a:xfrm>
            <a:off x="3693228" y="1826813"/>
            <a:ext cx="73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 sz="2400" b="1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837" name="Google Shape;837;p32"/>
          <p:cNvSpPr txBox="1"/>
          <p:nvPr/>
        </p:nvSpPr>
        <p:spPr>
          <a:xfrm>
            <a:off x="3948213" y="3112144"/>
            <a:ext cx="73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 sz="2400" b="1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48" name="Google Shape;57;p15"/>
          <p:cNvSpPr txBox="1">
            <a:spLocks/>
          </p:cNvSpPr>
          <p:nvPr/>
        </p:nvSpPr>
        <p:spPr>
          <a:xfrm>
            <a:off x="139148" y="993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  <a:cs typeface="Rajdhani" panose="020B06040202020202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2" name="Google Shape;1482;p49"/>
          <p:cNvGrpSpPr/>
          <p:nvPr/>
        </p:nvGrpSpPr>
        <p:grpSpPr>
          <a:xfrm>
            <a:off x="6856317" y="1149149"/>
            <a:ext cx="1446116" cy="2863897"/>
            <a:chOff x="6529419" y="1724307"/>
            <a:chExt cx="1480463" cy="2931917"/>
          </a:xfrm>
        </p:grpSpPr>
        <p:grpSp>
          <p:nvGrpSpPr>
            <p:cNvPr id="1483" name="Google Shape;1483;p49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1484" name="Google Shape;1484;p49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1485" name="Google Shape;1485;p49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3" extrusionOk="0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6" name="Google Shape;1486;p49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3" extrusionOk="0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87" name="Google Shape;1487;p49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avLst/>
                <a:gdLst/>
                <a:ahLst/>
                <a:cxnLst/>
                <a:rect l="l" t="t" r="r" b="b"/>
                <a:pathLst>
                  <a:path w="10860" h="10872" extrusionOk="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8" name="Google Shape;1488;p49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1489" name="Google Shape;1489;p49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1490" name="Google Shape;1490;p49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1" name="Google Shape;1491;p49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92" name="Google Shape;1492;p49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1493" name="Google Shape;1493;p49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4" name="Google Shape;1494;p49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4" h="6764" extrusionOk="0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5" name="Google Shape;1495;p49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7" h="3542" extrusionOk="0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6" name="Google Shape;1496;p49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97" name="Google Shape;1497;p49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1498" name="Google Shape;1498;p49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1499" name="Google Shape;1499;p49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0" name="Google Shape;1500;p49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3" h="11955" extrusionOk="0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01" name="Google Shape;1501;p49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1502" name="Google Shape;1502;p49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3" name="Google Shape;1503;p49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3787" extrusionOk="0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4" name="Google Shape;1504;p49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" h="1728" extrusionOk="0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5" name="Google Shape;1505;p49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" h="3787" extrusionOk="0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06" name="Google Shape;1506;p49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1507" name="Google Shape;1507;p49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1508" name="Google Shape;1508;p49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9" name="Google Shape;1509;p49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10" name="Google Shape;1510;p49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1511" name="Google Shape;1511;p49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1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2" name="Google Shape;1512;p49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5835" extrusionOk="0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13" name="Google Shape;1513;p49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1514" name="Google Shape;1514;p49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1515" name="Google Shape;1515;p49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6" name="Google Shape;1516;p49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2" extrusionOk="0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17" name="Google Shape;1517;p49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1518" name="Google Shape;1518;p49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9" h="11216" extrusionOk="0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9" name="Google Shape;1519;p49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5" h="1022" extrusionOk="0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0" name="Google Shape;1520;p49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8860" extrusionOk="0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1" name="Google Shape;1521;p49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2" name="Google Shape;1522;p49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46" name="Google Shape;57;p15"/>
          <p:cNvSpPr txBox="1">
            <a:spLocks/>
          </p:cNvSpPr>
          <p:nvPr/>
        </p:nvSpPr>
        <p:spPr>
          <a:xfrm>
            <a:off x="1876741" y="1574478"/>
            <a:ext cx="5931984" cy="1639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n-US" sz="4400" dirty="0">
                <a:solidFill>
                  <a:srgbClr val="FFFF00"/>
                </a:solidFill>
              </a:rPr>
              <a:t>E’TIBORINGIZ</a:t>
            </a:r>
          </a:p>
          <a:p>
            <a:r>
              <a:rPr lang="en-US" sz="4400" dirty="0">
                <a:solidFill>
                  <a:srgbClr val="FFFF00"/>
                </a:solidFill>
              </a:rPr>
              <a:t> UCHUN RAHMAT</a:t>
            </a:r>
            <a:endParaRPr lang="ru-RU" sz="4400" dirty="0">
              <a:solidFill>
                <a:srgbClr val="FFFF00"/>
              </a:solidFill>
            </a:endParaRPr>
          </a:p>
        </p:txBody>
      </p:sp>
      <p:grpSp>
        <p:nvGrpSpPr>
          <p:cNvPr id="47" name="Google Shape;1482;p49"/>
          <p:cNvGrpSpPr/>
          <p:nvPr/>
        </p:nvGrpSpPr>
        <p:grpSpPr>
          <a:xfrm>
            <a:off x="1535170" y="1079966"/>
            <a:ext cx="1446116" cy="2863897"/>
            <a:chOff x="6529419" y="1724307"/>
            <a:chExt cx="1480463" cy="2931917"/>
          </a:xfrm>
        </p:grpSpPr>
        <p:grpSp>
          <p:nvGrpSpPr>
            <p:cNvPr id="48" name="Google Shape;1483;p49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84" name="Google Shape;1484;p49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86" name="Google Shape;1485;p49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3" extrusionOk="0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" name="Google Shape;1486;p49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3" extrusionOk="0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5" name="Google Shape;1487;p49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avLst/>
                <a:gdLst/>
                <a:ahLst/>
                <a:cxnLst/>
                <a:rect l="l" t="t" r="r" b="b"/>
                <a:pathLst>
                  <a:path w="10860" h="10872" extrusionOk="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1488;p49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76" name="Google Shape;1489;p49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82" name="Google Shape;1490;p49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" name="Google Shape;1491;p49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7" name="Google Shape;1492;p49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78" name="Google Shape;1493;p49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" name="Google Shape;1494;p49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4" h="6764" extrusionOk="0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1495;p49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7" h="3542" extrusionOk="0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1496;p49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0" name="Google Shape;1497;p49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68" name="Google Shape;1498;p49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74" name="Google Shape;1499;p49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1500;p49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3" h="11955" extrusionOk="0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9" name="Google Shape;1501;p49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70" name="Google Shape;1502;p49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" name="Google Shape;1503;p49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3787" extrusionOk="0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1504;p49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" h="1728" extrusionOk="0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1505;p49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" h="3787" extrusionOk="0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1" name="Google Shape;1506;p49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62" name="Google Shape;1507;p49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66" name="Google Shape;1508;p49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" name="Google Shape;1509;p49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" name="Google Shape;1510;p49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64" name="Google Shape;1511;p49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1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" name="Google Shape;1512;p49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5835" extrusionOk="0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" name="Google Shape;1513;p49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53" name="Google Shape;1514;p49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60" name="Google Shape;1515;p49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1516;p49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2" extrusionOk="0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4" name="Google Shape;1517;p49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55" name="Google Shape;1518;p49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9" h="11216" extrusionOk="0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" name="Google Shape;1519;p49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5" h="1022" extrusionOk="0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" name="Google Shape;1520;p49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8860" extrusionOk="0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1521;p49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1522;p49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88" name="Google Shape;57;p15"/>
          <p:cNvSpPr txBox="1">
            <a:spLocks/>
          </p:cNvSpPr>
          <p:nvPr/>
        </p:nvSpPr>
        <p:spPr>
          <a:xfrm>
            <a:off x="139148" y="99393"/>
            <a:ext cx="8895521" cy="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sv-SE" sz="2000" dirty="0">
                <a:solidFill>
                  <a:srgbClr val="FFFF00"/>
                </a:solidFill>
              </a:rPr>
              <a:t>O’ZBEKISTON RESPUBLIKASI OLIY TA’LIM, FAN VA INNOVATSIYALAR VAZIRLIGI</a:t>
            </a:r>
            <a:endParaRPr lang="ru-RU" sz="2000" dirty="0">
              <a:solidFill>
                <a:srgbClr val="FFFF00"/>
              </a:solidFill>
              <a:cs typeface="Rajdhani" panose="020B06040202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ech Agency Infographics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1348</Words>
  <Application>Microsoft Office PowerPoint</Application>
  <PresentationFormat>Экран (16:9)</PresentationFormat>
  <Paragraphs>173</Paragraphs>
  <Slides>21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21</vt:i4>
      </vt:variant>
    </vt:vector>
  </HeadingPairs>
  <TitlesOfParts>
    <vt:vector size="32" baseType="lpstr">
      <vt:lpstr>Rajdhani</vt:lpstr>
      <vt:lpstr>Times New Roman</vt:lpstr>
      <vt:lpstr>Cambria</vt:lpstr>
      <vt:lpstr>Proxima Nova Semibold</vt:lpstr>
      <vt:lpstr>Roboto</vt:lpstr>
      <vt:lpstr>Fira Sans Condensed</vt:lpstr>
      <vt:lpstr>Arial</vt:lpstr>
      <vt:lpstr>Fira Sans Condensed Light</vt:lpstr>
      <vt:lpstr>Proxima Nova</vt:lpstr>
      <vt:lpstr>AI Tech Agency Infographics by Slidesgo</vt:lpstr>
      <vt:lpstr>Slidesgo Final Pages</vt:lpstr>
      <vt:lpstr>O’ZBEKISTON RESPUBLIKASI OLIY TA’LIM, FAN VA INNOVATSIYALAR VAZIRLIGI</vt:lpstr>
      <vt:lpstr>O’ZBEKISTON RESPUBLIKASI OLIY TA’LIM, FAN VA INNOVATSIYALAR VAZIRLIGI</vt:lpstr>
      <vt:lpstr>O’ZBEKISTON RESPUBLIKASI OLIY TA’LIM, FAN VA INNOVATSIYALAR VAZIRLIGI</vt:lpstr>
      <vt:lpstr>FOYDALANILGAN ADABIYOTLAR</vt:lpstr>
      <vt:lpstr>Презентация PowerPoint</vt:lpstr>
      <vt:lpstr>O’ZBEKISTON RESPUBLIKASI OLIY TA’LIM, FAN VA INNOVATSIYALAR VAZIRLIGI</vt:lpstr>
      <vt:lpstr>O’ZBEKISTON RESPUBLIKASI OLIY TA’LIM, FAN VA INNOVATSIYALAR VAZIRLIGI</vt:lpstr>
      <vt:lpstr>O’ZBEKISTON RESPUBLIKASI OLIY TA’LIM, FAN VA INNOVATSIYALAR VAZIRLIGI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UMUMIY XULOSA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O‘ZBEKISTON RESPUBLIKASI HARBIY XAVFSIZLIK  VA MUDOFAA UNIVERSITETI </dc:title>
  <cp:lastModifiedBy>Шухрат</cp:lastModifiedBy>
  <cp:revision>14</cp:revision>
  <dcterms:modified xsi:type="dcterms:W3CDTF">2026-06-29T13:50:11Z</dcterms:modified>
</cp:coreProperties>
</file>